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2eb6157b18412d" /><Relationship Type="http://schemas.openxmlformats.org/officeDocument/2006/relationships/extended-properties" Target="/docProps/app.xml" Id="R42e8fec69a374d5d" /><Relationship Type="http://schemas.openxmlformats.org/officeDocument/2006/relationships/officeDocument" Target="/ppt/presentation.xml" Id="R5331032751604f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e1575db29e41ed"/>
  </p:sldMasterIdLst>
  <p:notesMasterIdLst>
    <p:notesMasterId xmlns:r="http://schemas.openxmlformats.org/officeDocument/2006/relationships" r:id="Ra9aaea04489c48b2"/>
  </p:notesMasterIdLst>
  <p:sldIdLst>
    <p:sldId xmlns:r="http://schemas.openxmlformats.org/officeDocument/2006/relationships" id="256" r:id="R66472ecd4dab4107"/>
    <p:sldId xmlns:r="http://schemas.openxmlformats.org/officeDocument/2006/relationships" id="257" r:id="R48bbe2e014f94061"/>
    <p:sldId xmlns:r="http://schemas.openxmlformats.org/officeDocument/2006/relationships" id="258" r:id="R3c257a9932eb46cd"/>
    <p:sldId xmlns:r="http://schemas.openxmlformats.org/officeDocument/2006/relationships" id="259" r:id="Ra7083aef6373412b"/>
    <p:sldId xmlns:r="http://schemas.openxmlformats.org/officeDocument/2006/relationships" id="260" r:id="Ra2881dd3a95249ab"/>
    <p:sldId xmlns:r="http://schemas.openxmlformats.org/officeDocument/2006/relationships" id="261" r:id="R02caaaae1c3446af"/>
    <p:sldId xmlns:r="http://schemas.openxmlformats.org/officeDocument/2006/relationships" id="262" r:id="R27a5292704f0411c"/>
    <p:sldId xmlns:r="http://schemas.openxmlformats.org/officeDocument/2006/relationships" id="263" r:id="Rc636103e7c5c45e6"/>
    <p:sldId xmlns:r="http://schemas.openxmlformats.org/officeDocument/2006/relationships" id="264" r:id="R6290cca4f1814ca7"/>
    <p:sldId xmlns:r="http://schemas.openxmlformats.org/officeDocument/2006/relationships" id="265" r:id="Rd66dfaa1c50e4770"/>
    <p:sldId xmlns:r="http://schemas.openxmlformats.org/officeDocument/2006/relationships" id="266" r:id="Ra2a0e60aa503441e"/>
    <p:sldId xmlns:r="http://schemas.openxmlformats.org/officeDocument/2006/relationships" id="267" r:id="Rb9d5aa6f28a4437f"/>
    <p:sldId xmlns:r="http://schemas.openxmlformats.org/officeDocument/2006/relationships" id="268" r:id="R719c18998af84b5d"/>
    <p:sldId xmlns:r="http://schemas.openxmlformats.org/officeDocument/2006/relationships" id="269" r:id="R50e9a0228b5f4742"/>
    <p:sldId xmlns:r="http://schemas.openxmlformats.org/officeDocument/2006/relationships" id="270" r:id="Ra6980a476c7a4f66"/>
    <p:sldId xmlns:r="http://schemas.openxmlformats.org/officeDocument/2006/relationships" id="271" r:id="R601c83a25b7a4ba5"/>
    <p:sldId xmlns:r="http://schemas.openxmlformats.org/officeDocument/2006/relationships" id="272" r:id="R5ad3181c8358411a"/>
    <p:sldId xmlns:r="http://schemas.openxmlformats.org/officeDocument/2006/relationships" id="273" r:id="R74a488d56e6d4c0d"/>
    <p:sldId xmlns:r="http://schemas.openxmlformats.org/officeDocument/2006/relationships" id="274" r:id="R4fababf0e85d45f4"/>
    <p:sldId xmlns:r="http://schemas.openxmlformats.org/officeDocument/2006/relationships" id="275" r:id="Ra9e37172fbd549dd"/>
    <p:sldId xmlns:r="http://schemas.openxmlformats.org/officeDocument/2006/relationships" id="276" r:id="R0977e2667b454a3c"/>
    <p:sldId xmlns:r="http://schemas.openxmlformats.org/officeDocument/2006/relationships" id="277" r:id="R70beeb22c55f49be"/>
    <p:sldId xmlns:r="http://schemas.openxmlformats.org/officeDocument/2006/relationships" id="278" r:id="Rdc36aa78d5a443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e43f3c2477492e" /><Relationship Type="http://schemas.openxmlformats.org/officeDocument/2006/relationships/slideMaster" Target="/ppt/slideMasters/slideMaster1.xml" Id="Ra8e1575db29e41ed" /><Relationship Type="http://schemas.openxmlformats.org/officeDocument/2006/relationships/notesMaster" Target="/ppt/notesMasters/notesMaster1.xml" Id="Ra9aaea04489c48b2" /><Relationship Type="http://schemas.openxmlformats.org/officeDocument/2006/relationships/presProps" Target="/ppt/presProps.xml" Id="R2b7ba6250e554cb8" /><Relationship Type="http://schemas.openxmlformats.org/officeDocument/2006/relationships/tableStyles" Target="/ppt/tableStyles.xml" Id="R6261222d3d604a5d" /><Relationship Type="http://schemas.openxmlformats.org/officeDocument/2006/relationships/slide" Target="/ppt/slides/slide1.xml" Id="R66472ecd4dab4107" /><Relationship Type="http://schemas.openxmlformats.org/officeDocument/2006/relationships/slide" Target="/ppt/slides/slide2.xml" Id="R48bbe2e014f94061" /><Relationship Type="http://schemas.openxmlformats.org/officeDocument/2006/relationships/slide" Target="/ppt/slides/slide3.xml" Id="R3c257a9932eb46cd" /><Relationship Type="http://schemas.openxmlformats.org/officeDocument/2006/relationships/slide" Target="/ppt/slides/slide4.xml" Id="Ra7083aef6373412b" /><Relationship Type="http://schemas.openxmlformats.org/officeDocument/2006/relationships/slide" Target="/ppt/slides/slide5.xml" Id="Ra2881dd3a95249ab" /><Relationship Type="http://schemas.openxmlformats.org/officeDocument/2006/relationships/slide" Target="/ppt/slides/slide6.xml" Id="R02caaaae1c3446af" /><Relationship Type="http://schemas.openxmlformats.org/officeDocument/2006/relationships/slide" Target="/ppt/slides/slide7.xml" Id="R27a5292704f0411c" /><Relationship Type="http://schemas.openxmlformats.org/officeDocument/2006/relationships/slide" Target="/ppt/slides/slide8.xml" Id="Rc636103e7c5c45e6" /><Relationship Type="http://schemas.openxmlformats.org/officeDocument/2006/relationships/slide" Target="/ppt/slides/slide9.xml" Id="R6290cca4f1814ca7" /><Relationship Type="http://schemas.openxmlformats.org/officeDocument/2006/relationships/slide" Target="/ppt/slides/slide10.xml" Id="Rd66dfaa1c50e4770" /><Relationship Type="http://schemas.openxmlformats.org/officeDocument/2006/relationships/slide" Target="/ppt/slides/slide11.xml" Id="Ra2a0e60aa503441e" /><Relationship Type="http://schemas.openxmlformats.org/officeDocument/2006/relationships/slide" Target="/ppt/slides/slide12.xml" Id="Rb9d5aa6f28a4437f" /><Relationship Type="http://schemas.openxmlformats.org/officeDocument/2006/relationships/slide" Target="/ppt/slides/slide13.xml" Id="R719c18998af84b5d" /><Relationship Type="http://schemas.openxmlformats.org/officeDocument/2006/relationships/slide" Target="/ppt/slides/slide14.xml" Id="R50e9a0228b5f4742" /><Relationship Type="http://schemas.openxmlformats.org/officeDocument/2006/relationships/slide" Target="/ppt/slides/slide15.xml" Id="Ra6980a476c7a4f66" /><Relationship Type="http://schemas.openxmlformats.org/officeDocument/2006/relationships/slide" Target="/ppt/slides/slide16.xml" Id="R601c83a25b7a4ba5" /><Relationship Type="http://schemas.openxmlformats.org/officeDocument/2006/relationships/slide" Target="/ppt/slides/slide17.xml" Id="R5ad3181c8358411a" /><Relationship Type="http://schemas.openxmlformats.org/officeDocument/2006/relationships/slide" Target="/ppt/slides/slide18.xml" Id="R74a488d56e6d4c0d" /><Relationship Type="http://schemas.openxmlformats.org/officeDocument/2006/relationships/slide" Target="/ppt/slides/slide19.xml" Id="R4fababf0e85d45f4" /><Relationship Type="http://schemas.openxmlformats.org/officeDocument/2006/relationships/slide" Target="/ppt/slides/slide20.xml" Id="Ra9e37172fbd549dd" /><Relationship Type="http://schemas.openxmlformats.org/officeDocument/2006/relationships/slide" Target="/ppt/slides/slide21.xml" Id="R0977e2667b454a3c" /><Relationship Type="http://schemas.openxmlformats.org/officeDocument/2006/relationships/slide" Target="/ppt/slides/slide22.xml" Id="R70beeb22c55f49be" /><Relationship Type="http://schemas.openxmlformats.org/officeDocument/2006/relationships/slide" Target="/ppt/slides/slide23.xml" Id="Rdc36aa78d5a443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94e5b16b9c43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Eco City Visual">
      <a:dk1>
        <a:srgbClr val="111111"/>
      </a:dk1>
      <a:lt1>
        <a:srgbClr val="FFFFFF"/>
      </a:lt1>
      <a:dk2>
        <a:srgbClr val="17372E"/>
      </a:dk2>
      <a:lt2>
        <a:srgbClr val="F6F2E8"/>
      </a:lt2>
      <a:accent1>
        <a:srgbClr val="16856A"/>
      </a:accent1>
      <a:accent2>
        <a:srgbClr val="C8913D"/>
      </a:accent2>
      <a:accent3>
        <a:srgbClr val="80A998"/>
      </a:accent3>
      <a:accent4>
        <a:srgbClr val="A45F38"/>
      </a:accent4>
      <a:accent5>
        <a:srgbClr val="587A8C"/>
      </a:accent5>
      <a:accent6>
        <a:srgbClr val="9A8060"/>
      </a:accent6>
      <a:hlink>
        <a:srgbClr val="16856A"/>
      </a:hlink>
      <a:folHlink>
        <a:srgbClr val="C8913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co City Visu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7ffb6346864603" /><Relationship Type="http://schemas.openxmlformats.org/officeDocument/2006/relationships/notesMaster" Target="/ppt/notesMasters/notesMaster1.xml" Id="R9aa7d3351ee943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99bdd9b94f4e27" /><Relationship Type="http://schemas.openxmlformats.org/officeDocument/2006/relationships/notesMaster" Target="/ppt/notesMasters/notesMaster1.xml" Id="R8fc1e7f67bef48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87ce5210474827" /><Relationship Type="http://schemas.openxmlformats.org/officeDocument/2006/relationships/notesMaster" Target="/ppt/notesMasters/notesMaster1.xml" Id="Rc70e2424419b4f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dc065949da499e" /><Relationship Type="http://schemas.openxmlformats.org/officeDocument/2006/relationships/notesMaster" Target="/ppt/notesMasters/notesMaster1.xml" Id="R875b0fde3f264d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64c169be054f44" /><Relationship Type="http://schemas.openxmlformats.org/officeDocument/2006/relationships/notesMaster" Target="/ppt/notesMasters/notesMaster1.xml" Id="R18cc7d54f63d4e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1618673e554343" /><Relationship Type="http://schemas.openxmlformats.org/officeDocument/2006/relationships/notesMaster" Target="/ppt/notesMasters/notesMaster1.xml" Id="R62f1b13e0f324c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74fdeec2c24c40" /><Relationship Type="http://schemas.openxmlformats.org/officeDocument/2006/relationships/notesMaster" Target="/ppt/notesMasters/notesMaster1.xml" Id="R3cfe846f763d45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440815f49c4c46" /><Relationship Type="http://schemas.openxmlformats.org/officeDocument/2006/relationships/notesMaster" Target="/ppt/notesMasters/notesMaster1.xml" Id="Rdf4436b6b1aa4d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f32561dae54946" /><Relationship Type="http://schemas.openxmlformats.org/officeDocument/2006/relationships/notesMaster" Target="/ppt/notesMasters/notesMaster1.xml" Id="Rcf4a76973f6c41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7837f164e54b7c" /><Relationship Type="http://schemas.openxmlformats.org/officeDocument/2006/relationships/notesMaster" Target="/ppt/notesMasters/notesMaster1.xml" Id="R180d86e9ac234d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ef6fd97847477f" /><Relationship Type="http://schemas.openxmlformats.org/officeDocument/2006/relationships/notesMaster" Target="/ppt/notesMasters/notesMaster1.xml" Id="Rb1548d12ee8742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9f8479039b4905" /><Relationship Type="http://schemas.openxmlformats.org/officeDocument/2006/relationships/notesMaster" Target="/ppt/notesMasters/notesMaster1.xml" Id="R4cd9264fe06243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407457154a4240" /><Relationship Type="http://schemas.openxmlformats.org/officeDocument/2006/relationships/notesMaster" Target="/ppt/notesMasters/notesMaster1.xml" Id="R9e309fd42d6346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2a29ab43b34b53" /><Relationship Type="http://schemas.openxmlformats.org/officeDocument/2006/relationships/notesMaster" Target="/ppt/notesMasters/notesMaster1.xml" Id="R7072327d7e2f4b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9c3f114e7f490a" /><Relationship Type="http://schemas.openxmlformats.org/officeDocument/2006/relationships/notesMaster" Target="/ppt/notesMasters/notesMaster1.xml" Id="Rcdb3bfc1d0c2498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0fc9b7b00c43b9" /><Relationship Type="http://schemas.openxmlformats.org/officeDocument/2006/relationships/notesMaster" Target="/ppt/notesMasters/notesMaster1.xml" Id="R96bc36e30a1b429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7e475e61fe4501" /><Relationship Type="http://schemas.openxmlformats.org/officeDocument/2006/relationships/notesMaster" Target="/ppt/notesMasters/notesMaster1.xml" Id="R67e4a7c94c9443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8ad4ed3599447a" /><Relationship Type="http://schemas.openxmlformats.org/officeDocument/2006/relationships/notesMaster" Target="/ppt/notesMasters/notesMaster1.xml" Id="R5ce7cd72ec0e4b5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d0f7a838c804b54" /><Relationship Type="http://schemas.openxmlformats.org/officeDocument/2006/relationships/notesMaster" Target="/ppt/notesMasters/notesMaster1.xml" Id="R5bb8775ab09345d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16cbefbcc314991" /><Relationship Type="http://schemas.openxmlformats.org/officeDocument/2006/relationships/notesMaster" Target="/ppt/notesMasters/notesMaster1.xml" Id="R1e5b6743b0be4ec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31bd6a869e2437c" /><Relationship Type="http://schemas.openxmlformats.org/officeDocument/2006/relationships/notesMaster" Target="/ppt/notesMasters/notesMaster1.xml" Id="Re2395e1213394e5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91e362bdfe74bfb" /><Relationship Type="http://schemas.openxmlformats.org/officeDocument/2006/relationships/notesMaster" Target="/ppt/notesMasters/notesMaster1.xml" Id="R702d1cf6284f4a5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2177cfaaa2a45b4" /><Relationship Type="http://schemas.openxmlformats.org/officeDocument/2006/relationships/notesMaster" Target="/ppt/notesMasters/notesMaster1.xml" Id="Rc738331796fd4d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各位评委好。项目面向雄安新区窄路密网条件下的区域拥堵传播问题，搭建20路口微观仿真平台，把交通预测、多路口信号控制、车辆路径和异常降级接入同一运行闭环。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项目没有把问题限定为单个路口配时。窄路密网中的上游排队会影响下游放行，因此方案从区域状态出发组织预测与控制。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  <a:p xmlns:a="http://schemas.openxmlformats.org/drawingml/2006/main">
            <a:r>
              <a:t>图片来源：雄安新区官网《飞“阅”雄安丨走近雄安新区容西片区！》https://www.xiongan.gov.cn/2022-11/06/c_1211697669.htm，摄影：赵伟彤。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先给出三项有材料支撑的结果：20路口与80条有向边、ONNX FP32动作一致率100%、热点场景后期速度恢复。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平台按Cloud、Edge、Vehicle和SUMO四层组织。云端汇聚状态，边缘侧输出控制动作，车辆侧调整路径，SUMO负责交通演化。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这一页说明仿真环境的构成与数据边界。最终节点、边数量需要与提交版本的网络文件再次核对。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STGCN用于识别未来交通趋势，MAPPO将31维观测映射为保持或推进动作。安全控制器仍负责动作合法性。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赛道C不仅看模型名称，还看训练和权重选择过程。缺少的证据必须从最终训练日志补齐，不用原理图替代训练结果。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PyTorch Actor已经转换为ONNX FP32与INT8。FP32动作一致率100%，INT8体积降到24.9KB且动作一致率约99.4%。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AI输出不直接获得信号灯控制权。控制器检查信号安全约束，推理或通信异常时依次降级到SCOOT与固定配时。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  <a:p xmlns:a="http://schemas.openxmlformats.org/drawingml/2006/main">
            <a:r>
              <a:t>图片来源：Unsplash：Altansukh E，https://unsplash.com/photos/high-rise-buildings-during-night-time-0hSCUJN86To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正式演示需要用最终版本界面连续运行，并补充启动耗时、接口状态与资源释放记录。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对照实验保持路网、车流、事件和采样规则一致。预热90秒，策略每5秒决策，指标每30秒采样。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标准车流下，MAPPO平均等待45秒，低于SCOOT的60秒，平均速度由1.71提高到1.77米每秒。固定配时在这一窗口更好，因此不宣布MAPPO全面领先。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约314辆投放时，到达车辆数由8提高到13。热点360至480秒窗口内，平均速度由约2.4至2.6提高到3.6至4.1米每秒。超饱和后受物理容量限制。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项目的贡献在于贯通控制闭环、统一算法评测接口，并把模型转换与安全降级纳入工程验证。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项目已经形成完整工程链路，并主动限定结果的场景和统计窗口。最后补充每位成员的真实职责与对应交付物。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备份页用于追问。当前材料可以确认的内容与正式答辩前仍需补齐的证据分区展示。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备份页用于追问。当前材料可以确认的内容与正式答辩前仍需补齐的证据分区展示。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备份页用于追问。当前材料可以确认的内容与正式答辩前仍需补齐的证据分区展示。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备份页用于追问。当前材料可以确认的内容与正式答辩前仍需补齐的证据分区展示。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备份页用于追问。当前材料可以确认的内容与正式答辩前仍需补齐的证据分区展示。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备份页用于追问。当前材料可以确认的内容与正式答辩前仍需补齐的证据分区展示。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备份页用于追问。当前材料可以确认的内容与正式答辩前仍需补齐的证据分区展示。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备份页用于追问。当前材料可以确认的内容与正式答辩前仍需补齐的证据分区展示。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资料口径：项目实验评估报告与完整答辩大纲。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497bb9762a4d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634b3472c2470b" /><Relationship Type="http://schemas.openxmlformats.org/officeDocument/2006/relationships/slideLayout" Target="/ppt/slideLayouts/slideLayout1.xml" Id="Re41c3bb43b7644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1c3bb43b7644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Eco City Visual">
      <a:dk1>
        <a:srgbClr val="111111"/>
      </a:dk1>
      <a:lt1>
        <a:srgbClr val="FFFFFF"/>
      </a:lt1>
      <a:dk2>
        <a:srgbClr val="17372E"/>
      </a:dk2>
      <a:lt2>
        <a:srgbClr val="F6F2E8"/>
      </a:lt2>
      <a:accent1>
        <a:srgbClr val="16856A"/>
      </a:accent1>
      <a:accent2>
        <a:srgbClr val="C8913D"/>
      </a:accent2>
      <a:accent3>
        <a:srgbClr val="80A998"/>
      </a:accent3>
      <a:accent4>
        <a:srgbClr val="A45F38"/>
      </a:accent4>
      <a:accent5>
        <a:srgbClr val="587A8C"/>
      </a:accent5>
      <a:accent6>
        <a:srgbClr val="9A8060"/>
      </a:accent6>
      <a:hlink>
        <a:srgbClr val="16856A"/>
      </a:hlink>
      <a:folHlink>
        <a:srgbClr val="C8913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co City Visu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902d0912047e4" /><Relationship Type="http://schemas.openxmlformats.org/officeDocument/2006/relationships/image" Target="/ppt/media/image.jpeg" Id="R4a9bd1de11cc4afb" /><Relationship Type="http://schemas.openxmlformats.org/officeDocument/2006/relationships/notesSlide" Target="/ppt/notesSlides/notesSlide1.xml" Id="Rbcde1f9ea1c442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32ce857284164" /><Relationship Type="http://schemas.openxmlformats.org/officeDocument/2006/relationships/image" Target="/ppt/media/image2.jpeg" Id="R78706d5e44c94ba4" /><Relationship Type="http://schemas.openxmlformats.org/officeDocument/2006/relationships/notesSlide" Target="/ppt/notesSlides/notesSlide2.xml" Id="R25377b9d3dfb46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286c1e39a4a41" /><Relationship Type="http://schemas.openxmlformats.org/officeDocument/2006/relationships/notesSlide" Target="/ppt/notesSlides/notesSlide3.xml" Id="R7218bbc3f1b34c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efa7791b049bf" /><Relationship Type="http://schemas.openxmlformats.org/officeDocument/2006/relationships/notesSlide" Target="/ppt/notesSlides/notesSlide4.xml" Id="Rd0842609b8ec40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134d72ccf4a6a" /><Relationship Type="http://schemas.openxmlformats.org/officeDocument/2006/relationships/notesSlide" Target="/ppt/notesSlides/notesSlide5.xml" Id="R759c8929749a48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933aa0b574d9c" /><Relationship Type="http://schemas.openxmlformats.org/officeDocument/2006/relationships/notesSlide" Target="/ppt/notesSlides/notesSlide6.xml" Id="R8f876deae93041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82bb3bfd5477a" /><Relationship Type="http://schemas.openxmlformats.org/officeDocument/2006/relationships/notesSlide" Target="/ppt/notesSlides/notesSlide7.xml" Id="R4074d643cae64b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832f192d24d02" /><Relationship Type="http://schemas.openxmlformats.org/officeDocument/2006/relationships/notesSlide" Target="/ppt/notesSlides/notesSlide8.xml" Id="R91a8fe568b4149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0fd1483994f9b" /><Relationship Type="http://schemas.openxmlformats.org/officeDocument/2006/relationships/image" Target="/ppt/media/image3.jpeg" Id="R8767dff91d964abb" /><Relationship Type="http://schemas.openxmlformats.org/officeDocument/2006/relationships/notesSlide" Target="/ppt/notesSlides/notesSlide9.xml" Id="R969b1297f5e54f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d2f1677b44bc6" /><Relationship Type="http://schemas.openxmlformats.org/officeDocument/2006/relationships/notesSlide" Target="/ppt/notesSlides/notesSlide10.xml" Id="Rc9a0c94fe7e04c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111003e504c71" /><Relationship Type="http://schemas.openxmlformats.org/officeDocument/2006/relationships/notesSlide" Target="/ppt/notesSlides/notesSlide11.xml" Id="Rfe177dccf4394b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42c0f5d604965" /><Relationship Type="http://schemas.openxmlformats.org/officeDocument/2006/relationships/chart" Target="/ppt/slides/charts/chart1.xml" Id="R53d79e6fd2974393" /><Relationship Type="http://schemas.openxmlformats.org/officeDocument/2006/relationships/chart" Target="/ppt/slides/charts/chart2.xml" Id="Reb5d09ca51b64cb0" /><Relationship Type="http://schemas.openxmlformats.org/officeDocument/2006/relationships/notesSlide" Target="/ppt/notesSlides/notesSlide12.xml" Id="Rcc62df13ea2249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37a966b2741c7" /><Relationship Type="http://schemas.openxmlformats.org/officeDocument/2006/relationships/image" Target="/ppt/media/image.png" Id="Rd11240445c1a4f83" /><Relationship Type="http://schemas.openxmlformats.org/officeDocument/2006/relationships/image" Target="/ppt/media/image2.png" Id="Rb7764389792a4b51" /><Relationship Type="http://schemas.openxmlformats.org/officeDocument/2006/relationships/notesSlide" Target="/ppt/notesSlides/notesSlide13.xml" Id="R698dc1d0daff40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c68e82f09444b" /><Relationship Type="http://schemas.openxmlformats.org/officeDocument/2006/relationships/notesSlide" Target="/ppt/notesSlides/notesSlide14.xml" Id="Rfded9361219e47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3e85e6c864777" /><Relationship Type="http://schemas.openxmlformats.org/officeDocument/2006/relationships/image" Target="/ppt/media/image4.jpeg" Id="R547f43a33be846ab" /><Relationship Type="http://schemas.openxmlformats.org/officeDocument/2006/relationships/notesSlide" Target="/ppt/notesSlides/notesSlide15.xml" Id="R77c98b3bc3ad4f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1d60723e14dad" /><Relationship Type="http://schemas.openxmlformats.org/officeDocument/2006/relationships/notesSlide" Target="/ppt/notesSlides/notesSlide16.xml" Id="R09296261e58d41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895ae3be941bc" /><Relationship Type="http://schemas.openxmlformats.org/officeDocument/2006/relationships/notesSlide" Target="/ppt/notesSlides/notesSlide17.xml" Id="Ra907823d4d9a49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3005e69e84229" /><Relationship Type="http://schemas.openxmlformats.org/officeDocument/2006/relationships/notesSlide" Target="/ppt/notesSlides/notesSlide18.xml" Id="R001b753ab8254a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7ad9083184fca" /><Relationship Type="http://schemas.openxmlformats.org/officeDocument/2006/relationships/notesSlide" Target="/ppt/notesSlides/notesSlide19.xml" Id="Rc675d69680644aa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b41b5e95a479d" /><Relationship Type="http://schemas.openxmlformats.org/officeDocument/2006/relationships/notesSlide" Target="/ppt/notesSlides/notesSlide20.xml" Id="R71d491e8d9d84bc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94998ffd64a01" /><Relationship Type="http://schemas.openxmlformats.org/officeDocument/2006/relationships/notesSlide" Target="/ppt/notesSlides/notesSlide21.xml" Id="R9decb6934e854ff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58d80a4db4dc0" /><Relationship Type="http://schemas.openxmlformats.org/officeDocument/2006/relationships/notesSlide" Target="/ppt/notesSlides/notesSlide22.xml" Id="R188661beda52478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c3b1cab7e4b56" /><Relationship Type="http://schemas.openxmlformats.org/officeDocument/2006/relationships/notesSlide" Target="/ppt/notesSlides/notesSlide23.xml" Id="R0a1e2ba11e8d4e3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平均速度</c:v>
          </c:tx>
          <c:spPr>
            <a:solidFill xmlns:a="http://schemas.openxmlformats.org/drawingml/2006/main">
              <a:srgbClr val="16856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80A99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8913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6856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固定配时</c:v>
                </c:pt>
                <c:pt idx="1">
                  <c:v>SCOOT</c:v>
                </c:pt>
                <c:pt idx="2">
                  <c:v>MAPPO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3.07</c:v>
                </c:pt>
                <c:pt idx="1">
                  <c:v>1.71</c:v>
                </c:pt>
                <c:pt idx="2">
                  <c:v>1.77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372E"/>
                  </a:solidFill>
                  <a:latin typeface="WenQuanYi Micro Hei"/>
                  <a:ea typeface="WenQuanYi Micro Hei"/>
                  <a:cs typeface="WenQuanYi Micro 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</a:p>
        </c:txPr>
        <c:crossAx val="48672768"/>
      </c:catAx>
      <c:valAx>
        <c:axId val="48672768"/>
        <c:scaling>
          <c:orientation val="minMax"/>
          <c:max val="3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9D9D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WenQuanYi Micro Hei"/>
                    <a:ea typeface="WenQuanYi Micro Hei"/>
                    <a:cs typeface="WenQuanYi Micro Hei"/>
                  </a:rPr>
                  <a:t>m/s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WenQuanYi Micro Hei"/>
                  <a:ea typeface="WenQuanYi Micro Hei"/>
                  <a:cs typeface="WenQuanYi Micro 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DF7"/>
        </a:solidFill>
      </c:spPr>
    </c:plotArea>
    <c:plotVisOnly val="1"/>
  </c:chart>
  <c:spPr>
    <a:solidFill xmlns:a="http://schemas.openxmlformats.org/drawingml/2006/main">
      <a:srgbClr val="FFFDF7"/>
    </a:solidFill>
    <a:ln xmlns:a="http://schemas.openxmlformats.org/drawingml/2006/main" w="9525">
      <a:solidFill>
        <a:srgbClr val="C8913D"/>
      </a:solidFill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平均等待</c:v>
          </c:tx>
          <c:spPr>
            <a:solidFill xmlns:a="http://schemas.openxmlformats.org/drawingml/2006/main">
              <a:srgbClr val="16856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80A99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8913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6856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固定配时</c:v>
                </c:pt>
                <c:pt idx="1">
                  <c:v>SCOOT</c:v>
                </c:pt>
                <c:pt idx="2">
                  <c:v>MAPPO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25</c:v>
                </c:pt>
                <c:pt idx="1">
                  <c:v>60</c:v>
                </c:pt>
                <c:pt idx="2">
                  <c:v>45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372E"/>
                  </a:solidFill>
                  <a:latin typeface="WenQuanYi Micro Hei"/>
                  <a:ea typeface="WenQuanYi Micro Hei"/>
                  <a:cs typeface="WenQuanYi Micro 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9D9D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WenQuanYi Micro Hei"/>
                    <a:ea typeface="WenQuanYi Micro Hei"/>
                    <a:cs typeface="WenQuanYi Micro Hei"/>
                  </a:rPr>
                  <a:t>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WenQuanYi Micro Hei"/>
                  <a:ea typeface="WenQuanYi Micro Hei"/>
                  <a:cs typeface="WenQuanYi Micro 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DF7"/>
        </a:solidFill>
      </c:spPr>
    </c:plotArea>
    <c:plotVisOnly val="1"/>
  </c:chart>
  <c:spPr>
    <a:solidFill xmlns:a="http://schemas.openxmlformats.org/drawingml/2006/main">
      <a:srgbClr val="FFFDF7"/>
    </a:solidFill>
    <a:ln xmlns:a="http://schemas.openxmlformats.org/drawingml/2006/main" w="9525">
      <a:solidFill>
        <a:srgbClr val="C8913D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bd1de11cc4a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F7D5B-E9A5-4B80-9F58-A1AB8053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8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>
              <a:alpha val="8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D768E-EA34-4070-8D52-62BD9414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赛道 C  /  XH 202613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DE982-1C61-45E0-A140-1EADD57B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5810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4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面向雄安新区城市大脑的</a:t>
            </a:r>
          </a:p>
          <a:p xmlns:a="http://schemas.openxmlformats.org/drawingml/2006/main">
            <a:pPr algn="l">
              <a:defRPr sz="34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4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车路云一体化协同管控平台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DCE8B-6EE5-4B91-BBAA-6C6FE2AD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89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C4AD6-9D23-481B-99ED-876A58C9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509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20 路口微观仿真与多路口协同控制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5B669-56A6-49DB-B019-0F521893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学校  ·  团队  ·  成员  ·  答辩日期</a:t>
            </a:r>
          </a:p>
        </p:txBody>
      </p:sp>
    </p:spTree>
    <p:extLst>
      <p:ext uri="{BB962C8B-B14F-4D97-AF65-F5344CB8AC3E}">
        <p14:creationId xmlns:p14="http://schemas.microsoft.com/office/powerpoint/2010/main" val="17371494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4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06d5e44c94ba4"/>
          <a:srcRect xmlns:a="http://schemas.openxmlformats.org/drawingml/2006/main" l="15278" t="0" r="152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0"/>
            <a:ext cx="7143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81513-7C3F-4DEF-ACFF-5AF6B42D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0"/>
            <a:ext cx="209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B3E">
              <a:alpha val="8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451D4-C8BA-4469-954B-FDB404FE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8962E-6B72-4D08-B270-BAA229CD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真实场景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A59F6-CAC1-4E66-B274-1C60A0D7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4095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雄安场景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与赛题任务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5CCCB-24B1-4936-813C-E17530B0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F0EC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725" b="1">
                <a:solidFill>
                  <a:srgbClr val="E8F0EC"/>
                </a:solidFill>
                <a:latin typeface="WenQuanYi Micro Hei"/>
                <a:ea typeface="WenQuanYi Micro Hei"/>
                <a:cs typeface="WenQuanYi Micro Hei"/>
              </a:rPr>
              <a:t>窄路密网下，局部排队会沿短路段向相邻路口传播。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FF544-7CE1-4FFE-B0EE-389251B2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00DA6-89F2-4F87-8F29-5A0FD983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场景特征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D7C0F-049E-479A-8585-FB8597C0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76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路口间距小，状态相互影响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1B5EF-2529-42A5-BBDD-21349FAB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BF9BF-C150-46A7-8597-9EEB728E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控制难点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702A4-CA31-4748-B5E2-29D0C1AE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624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单点定时难以处理空间不均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52241-1F32-463D-939B-CF646035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D08E8-6C0B-4DC6-BBF0-9A83061D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482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赛题任务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B9B5D-F303-4038-91D0-A93910B3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48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高保真仿真、轻量 AI、量化评估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F03B6-2892-4A7A-BB13-9243EBAF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750" b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官方场景图：容西片区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516AAC-FD0C-48A9-A394-A52FF1F7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33C43-BFF6-4492-A774-C0BCAABD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14167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B1A2B7-83EB-43FB-ACD7-DD83804C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87F65-1B1C-42E6-8954-39C8371B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项目方案与已验证结果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DB553-8B9C-498B-8F68-3FA4480F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F769E-7BA4-4930-BA8E-5882C456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DA132-0D1E-4CD8-8019-0D958176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F6F75-AB50-443F-8AC3-894C3B1B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先用三组数字建立项目可信度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50E44-6218-4A4A-B3FE-0558166C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1625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D0B02-C5DB-4031-A81B-1288684D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24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E2653-0B1F-4C8B-B27A-C3F49B61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95525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B5716-7E9A-4816-98E2-AD5AECD7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EC653-EB1A-4597-AD5F-96323A95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19425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3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73F17-539F-4037-B1D6-700372DC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298A1-D8E0-4819-821E-AA4499A5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43325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7EA7F-D74F-4589-90F0-13A524D9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ACDDA4-8662-4F7C-A639-92A95358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67225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3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C45BB-4CD0-461B-BCED-960D7E05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8DB62-D791-4840-92B5-16AA35D8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91125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DB4911-40DB-4875-9F10-64DFE60E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EBBC0-82F8-47B3-BBD7-BAA72ECF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8112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43DE7B-B829-499D-BED9-298D2E4D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8112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0EAA07-DB74-4CDB-AFD2-A74F816D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38112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5487A9-95E7-4AF7-9750-57C3D4CD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38112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81BEB1-0299-4D33-BC3B-7FE567DF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38112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BB7B4F-D699-4325-868D-A9A4C2E5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3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F8019-D702-4C9C-940D-D5502E95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F8690B-702B-4340-A0F5-432FC294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信号路口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1FF64B-D43A-4B31-AECF-78631248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80 条有向边</a:t>
            </a:r>
          </a:p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构成区域协同控制对象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A2C3A8-22E9-4D64-8529-194A9E50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478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3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100%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C65E39-AA5F-493D-A826-10069072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289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5F8008-FCB5-4147-A928-E81F21D9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432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动作一致率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DD6C22-5F45-4ABE-93BA-C8F1AE1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7182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ONNX FP32 与</a:t>
            </a:r>
          </a:p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PyTorch 基准动作一致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C94E66-D98C-47C6-A8A7-CAB14016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478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4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3.6‑4.1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96C276-B478-4D30-81E8-6E9FA8ED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289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18EBB2-745F-42FD-B779-50D2C63D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432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m/s 热点速度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30A77E-419C-4E26-8A29-C01374B3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71825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360–480 s 后期窗口</a:t>
            </a:r>
          </a:p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基线约 2.4–2.6 m/s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79E0BB-80F7-43F2-B0D1-307934BB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DA0E96-AD0F-41ED-830B-06C8C40D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结论边界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A53C91-A22D-4495-8988-B6E77A36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768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平台已形成可运行闭环；所有性能结论只对对应仿真场景和统计窗口负责。</a:t>
            </a:r>
          </a:p>
        </p:txBody>
      </p:sp>
    </p:spTree>
    <p:extLst>
      <p:ext uri="{BB962C8B-B14F-4D97-AF65-F5344CB8AC3E}">
        <p14:creationId xmlns:p14="http://schemas.microsoft.com/office/powerpoint/2010/main" val="11508038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2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E5FC3E-27E4-483F-A487-1A9819FE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24184-ACFA-4161-84D1-C9CA0D4D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车路云架构与控制闭环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77DB7-9976-4922-961E-B9130E08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474F7-411B-4ACF-A9B0-E1F4B155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3618B-28E7-4755-BBB5-8A1781D0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D68CA-7125-4830-A6D5-C07D3D24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1625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68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A3CC2-32B9-4B21-81A4-E0A63BCB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24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82C2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99C81-6F64-41B2-B169-26581B5E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95525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68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5A563-A91A-4463-9E41-53E32823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19050">
            <a:solidFill>
              <a:srgbClr val="082C2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AE556-8A04-4119-A297-2B48E02B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19425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68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4831F-7705-47D0-A3BE-1EEBB2AD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82C2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0328B-FB9E-4B39-BFDA-98EAFBE8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43325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68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938F8-895A-48DB-8A2E-CB4C5931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19050">
            <a:solidFill>
              <a:srgbClr val="082C2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132E0D-BD83-4AC8-A155-5B4C67E6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67225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68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7975F-0073-49DC-8A75-D287FC93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82C2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20579-983C-4225-81DF-355DDD1E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91125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68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B9026-E21D-4A69-A034-798197EF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19050">
            <a:solidFill>
              <a:srgbClr val="082C2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5FD7E-9025-4FCD-B984-4F9A6126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8112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68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3FB025-F7C9-482A-A584-3AA22247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8112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68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BDB77D-24A2-4F2E-9F5C-F8655E26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38112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68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C27162-A013-46E0-8EBA-2F2A221E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38112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68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75B258-957E-4B7C-891E-AFBB3DCF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38112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68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F6CD48-2D3B-45D4-82E8-0098F2DB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状态上行  /  目标下发  /  执行反馈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AF1AAB-97F0-4C90-AFB7-DF612EFD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6858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C8913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54D82B-F6FF-4FF5-92D3-2678F67C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240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CLOUD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B250EE-C113-4F58-9310-744D71F8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240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4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状态汇聚 · 趋势预测 · 区域协调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15A228-4BBC-4A0B-8B20-48DFE164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3840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91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A83912-F6D1-47F3-B8E8-F5920281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76525"/>
            <a:ext cx="62103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6856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F24DFF-F7F6-4A09-8E28-3669E955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7908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EDGE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A8F84A-26FD-418F-BBF0-8BA9BB9E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90825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4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MAPPO 决策 · 安全校验 · 异常降级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69F842-B1C9-44C3-93AA-7C213B67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051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913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84D6CE-6469-46E8-B8C1-7BF16DBB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43300"/>
            <a:ext cx="55626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A86699-A843-4990-B395-5C44330E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6576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VEHICLE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900777-C091-402B-917A-E77D6539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57600"/>
            <a:ext cx="365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4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动态路径执行 · 状态反馈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D8075A-D143-4F01-8461-A121A286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7195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913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822048-2295-4F52-A809-669983C2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10075"/>
            <a:ext cx="49149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35C0A6-955C-4E2D-A03E-AA6DE295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52437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SUMO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6D22A1-3D08-4720-8949-C4FEF5B4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24375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4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路网 · 车辆 · 信号 · 事件 · KPI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20A1C9-FF5F-43DD-976B-2077C1D8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5717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123F39"/>
          </a:solidFill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12D2C9-EAF4-4620-9728-BF6F04A2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38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通信层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1CD291-57DC-4BA1-AE25-87AA832C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9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REST API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9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WebSocket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CF5B21-91FF-4C99-BE6D-02260080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43300"/>
            <a:ext cx="25717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23F39"/>
          </a:solidFill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850467-7ADF-4063-A43F-95640FE2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71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执行边界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FE3682-7248-4897-9A9D-87BA0A2E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148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模型动作先经过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信号安全控制器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C005BA-27A8-409C-B765-D1D69929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48E16D-0E24-41A0-A3CC-509038C1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rPr>
              <a:t>平台当前默认加载 PyTorch 权重；ONNX 是已完成转换与 CPU 推理验证的可替换部署形态。</a:t>
            </a:r>
          </a:p>
        </p:txBody>
      </p:sp>
    </p:spTree>
    <p:extLst>
      <p:ext uri="{BB962C8B-B14F-4D97-AF65-F5344CB8AC3E}">
        <p14:creationId xmlns:p14="http://schemas.microsoft.com/office/powerpoint/2010/main" val="15117237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43EA1BA-1A56-4FFC-BBC7-A1427E87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B58FF-8E17-4D96-8727-B680E618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20 路口微观仿真环境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F926E-602D-4323-B35F-B96A8C58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CD501-93D1-44F6-B124-3711C30E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24136-45EB-4E17-A63C-05C2490F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76F61-9138-4CF1-AB34-4F959E43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一张固定拓扑，承载五类可复现场景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FBCB5-7F07-4DA5-A488-D8E79149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905625" cy="3905250"/>
          </a:xfrm>
          <a:prstGeom xmlns:a="http://schemas.openxmlformats.org/drawingml/2006/main" prst="roundRect">
            <a:avLst>
              <a:gd name="adj" fmla="val 5366"/>
            </a:avLst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0FA40-7749-42C3-927E-5E9A88AE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288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2C1F8-A7AE-4651-AF96-A4C5DE3F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288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1163A-8A83-419A-99C5-3AB6B95A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288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DA38B-8B47-4299-9D19-F9D6A885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288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4B632-9A89-46BD-AC06-D254A53F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288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2BDBF-AF6C-4F67-9B25-EFAC19AB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288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0DCB2-3289-4E17-BAA5-2F9241EB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288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72E1D-2FF4-494D-B2E3-454614C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288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779B4-5C27-4B4D-86AC-695365DE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288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7F0BC-983B-4039-8E1A-83FFE384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992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A607D-EB47-4EE6-A770-9A504117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992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2DEE6-546E-4318-A9CD-CEC47E8C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0992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85F7C-E60F-4301-B162-C94C73A3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0992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04634E-3F1A-4570-8EFF-67778B6E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0992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D708F9-2196-4750-B4CE-B92F0160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0992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6AA1D3-E68B-4141-8F7A-F666A3C3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0992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378A5F-42B9-4FA3-85CE-BA129E95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0992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E239C7-8BF1-426B-B113-CFA65D5E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992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782E1A-2956-4933-BB72-97BFA656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909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B6388D-AA32-44DB-A12E-50845AA6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909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1D7FCB-3BD9-4FA0-A260-534CD43E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909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28B128-61B0-4DA7-988C-8E79AC9F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909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29A625-F626-48C5-AFE4-529BEB53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909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BD5C7E-18F5-439F-9B54-B981FDAA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909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49258C-CF93-40DC-B948-FBE09769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909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84A17C-1A11-40FF-A708-A0CA39C6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909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3F480E-877D-49A9-979E-F6A489F4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81537D-5207-4112-AE2F-28F29D59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7202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31D107-78E7-42FA-89EA-A2E64FAC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7202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23B343-D0C9-4B1E-85BC-F550B2B4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7202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AA7EE8-33C1-45C5-99B5-8DCC45BB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77202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20F2DC-CD80-488B-A1ED-7308140F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43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8A4D08-D3EE-4E53-AEC1-1774AD1B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343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2831B0-4199-45E1-94FB-29EF6407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43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F408B9-8506-4B97-9512-493E6D70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343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8B7200-6ACE-4D3A-8D21-B1B4B5F6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43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43E6EC-2070-4106-B244-BE114E10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124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B3B61C-9A6C-415B-AED9-65C63672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124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4D092E-9E8A-4BFF-A240-7694F916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24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9556C0-D44C-47DE-AD46-4989FF7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24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874E8E-E86F-44E7-ACA9-2DBBA02D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124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555B58-664A-4C29-9E30-B2E3FED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905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D9EC29-3F58-4C80-9C7A-7E8B6164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905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B1375F-83A3-4E76-B41B-A73268E9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95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7400BAC-EA6F-48EF-8E48-39E4D9B4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242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HOTSPOT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4F7B2E-D861-422D-BD85-A33CBE58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905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5A9AB29-0B05-464C-A498-4F195D67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905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D0E5C0-B0BA-4814-BF87-2B2A244A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68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E23679C-7EC1-44F1-B212-650FBB03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68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734AE5-AD55-47C4-A0B2-27DBB13F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8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AFC9071-795B-45D6-8A56-CA37214A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68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4DDB9FD-0FDE-4721-8185-95DBBDDC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68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0B4B3E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41B09B-C7C8-48C2-A978-3A892ECB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0537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61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20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E9461F8-9433-4431-B08E-E31D1362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911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信号路口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5EE54B1-A74A-4A5C-9E8C-8DBA0661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05375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61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6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80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FE03F29-98E2-40DC-AFD4-E19CC4BD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91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有向边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96440BD-8B62-4857-88D4-DCF8F144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SCENARIOS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7B85375-563A-4868-86B0-EA1B7088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sparse / normal / peak / extreme / hotspot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2ABF562-2B31-472C-9B6A-13B150FB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81325"/>
            <a:ext cx="338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02E2118-13B2-4814-8622-37B4947E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908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PIPELINE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6922FA7-9288-46A6-B68F-8886CC68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425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路网清洗 → 相位配置 → 需求生成 → 事件注入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E04C87D-9D64-4D56-95CD-9A5C7113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19575"/>
            <a:ext cx="338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8D5D6AC-5D94-47BD-8908-F7D4D2DD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2912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BOUNDARY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992C7CD-5D90-4870-82CD-A5A9975D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空间结构、校准参数、合成交通流分别标注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9E40359-F4BB-4442-856F-0065F1ED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57825"/>
            <a:ext cx="338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09884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A19D5E-0894-4C4D-8F34-E3F5EB91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19726-9C47-4A7B-8BBE-E572D806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STGCN 预测与 MAPPO 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6E4D7-0E79-444B-97A8-1B8DEF87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B25F3-8D17-41FC-AA1C-06818758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EE41D-5F8F-4CBC-BE28-8FE9FDD0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9E664-FF64-412C-B81A-72162D21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6096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DC865-FAD5-4333-9CC1-CB92339F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81125"/>
            <a:ext cx="6096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5C003-1B83-471D-8054-4DA47786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  /  趋势识别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DD6C7-EFF7-4F01-B40A-A3EADF0A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3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STGCN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13BBB-64DC-496D-AC32-89C6D4B1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历史流量、速度、占有率</a:t>
            </a:r>
          </a:p>
          <a:p xmlns:a="http://schemas.openxmlformats.org/drawingml/2006/main">
            <a:pPr algn="l">
              <a:defRPr sz="18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＋ 路网邻接关系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2C9E1-AF5C-41DB-9452-BB6E90AA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8572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0A2D6-0212-46D9-B077-E1FBB81C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00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15935-0B89-4CC6-B690-17EB2077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95750"/>
            <a:ext cx="8572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470A7-5FBE-4BED-9486-6B36B977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324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7D930-03EC-4026-9B05-EAFAD6D2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95750"/>
            <a:ext cx="8572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9C216-6E7C-4F06-ACCC-FE4F3E01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00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409CD-01EA-4C41-86A7-D168A25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95750"/>
            <a:ext cx="8572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A99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820FC7-F435-4637-B130-9A3917FF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24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D1C902-A50E-414A-BA1D-3D6CDAFD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00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19050">
            <a:solidFill>
              <a:srgbClr val="FFFDF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6404F-6E7C-4093-A917-68AF9184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短时趋势 → 区域目标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69F47-60C7-4541-9147-02EF69B8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02  /  路口决策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8ADF5C-8F21-42A1-9F31-ECE06FBC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3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MAPPO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AC34A6-3BBD-40CB-A9CA-F0C5F864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90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7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31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2E50C9-45ED-4E62-81C9-BEA35C2C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95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维观测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EE47AA-8D58-4B3F-98A2-E6A8706B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003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7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11E7F3-F423-477D-A06C-0C24A90B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956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动作 logits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C8D4DE-2EFB-4A28-95D5-C2F57956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985A68-BE11-44F6-A9DA-F87A36C5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147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KEEP  保持绿灯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886C60-9466-4D28-AB6F-2860D145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286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D5F42D-1ABE-4CB6-AC69-DC36A150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ADVANCE  推进相位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F4DFD0-A688-4B36-8E35-391F9676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005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最小绿 · 最大绿 · 黄灯 · 全红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非法动作校验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D73273-81E5-4617-A1B9-69DF984B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CE4A3F-C1BA-4B3B-AFE3-E09B23CE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旧材料中的 18 维接口仅作为历史版本说明，不与最终 31 维模型混用。</a:t>
            </a:r>
          </a:p>
        </p:txBody>
      </p:sp>
    </p:spTree>
    <p:extLst>
      <p:ext uri="{BB962C8B-B14F-4D97-AF65-F5344CB8AC3E}">
        <p14:creationId xmlns:p14="http://schemas.microsoft.com/office/powerpoint/2010/main" val="2817311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982EC-485B-4FE7-9766-5152D3D1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1B1DA-C64F-4EE3-9F82-7439F983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数据处理、训练与模型选择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86764-2573-4B99-A6A8-8CC363F4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D47C0-92E7-488A-948C-E2D6C8CE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BE12A-A96A-4F97-BB15-CC849890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6E1B7-F1BA-4F97-A4CE-9288F44D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四段式证据链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013CE-5239-4FDC-B7BE-89F3777F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80A99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D533B-A58A-4A8D-9FCF-8CA23505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B9B51-7386-435E-8942-C81C0042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EDB4B-F7BF-4966-A2B5-82AF7B96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数据准备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A7EBD-8E27-47FA-A897-5E49ECC8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场景轮换</a:t>
            </a:r>
          </a:p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固定种子</a:t>
            </a:r>
          </a:p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观测归一化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2A79F-C07D-49E1-BB20-61C9C486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687C3-B556-4866-BD75-AEAB9E3C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4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D292F-7938-40F0-8E56-5F902F7E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模型训练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A28A7-0238-4285-A11E-0A5B2DC2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433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中心化训练</a:t>
            </a:r>
          </a:p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分散执行</a:t>
            </a:r>
          </a:p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共享 Actor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F2287-12C9-4A71-9299-0218BE32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EFFA8F-4100-4CC9-8167-493B2B0C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4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E2A77-6914-48A3-9172-FC9A7498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051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验证选择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ABA733-19B9-4C7D-BA7D-DE204076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433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固定配时</a:t>
            </a:r>
          </a:p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SCOOT 对照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7CB93-582F-4F9A-912E-DF919A5A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DB2CA5-5F5E-431F-AEAD-BA215026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4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CBE8C-6021-4BFD-B14E-DFAA861A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051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7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最终交付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90925B-A4CA-4E64-AF46-E2578B1A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433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配置 · 日志</a:t>
            </a:r>
          </a:p>
          <a:p xmlns:a="http://schemas.openxmlformats.org/drawingml/2006/main">
            <a:pPr algn="l">
              <a:def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曲线 · 权重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EF35C9-B037-41B2-82A3-3314158A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53A35-33CA-46E3-94C4-5175FFA8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答辩前必须补齐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BC9439-C80F-4E72-B8DB-B40779AC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数据集划分  /  主要超参数与随机种子  /  真实收敛曲线  /  最终权重选择依据</a:t>
            </a:r>
          </a:p>
        </p:txBody>
      </p:sp>
    </p:spTree>
    <p:extLst>
      <p:ext uri="{BB962C8B-B14F-4D97-AF65-F5344CB8AC3E}">
        <p14:creationId xmlns:p14="http://schemas.microsoft.com/office/powerpoint/2010/main" val="14482110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2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FA211D-7E21-4465-B027-9C3C146B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0CBBA-7BE8-43CD-9960-87910EBC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模型转换与 CPU 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50410-13DC-44E4-A2D1-B0920789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BFE4D-EF26-4034-B4BA-3E585F01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992F3-8842-4354-8EC9-5300A64D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EFE98-294C-430C-B627-2E9EFEF4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模型体积显著收缩，部署口径仍保持克制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4953000" y="1857375"/>
          <a:ext xmlns:a="http://schemas.openxmlformats.org/drawingml/2006/main" cx="6629400" cy="28956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94180"/>
                <a:gridCol w="1178560"/>
                <a:gridCol w="2283460"/>
                <a:gridCol w="1473200"/>
              </a:tblGrid>
              <a:tr h="7239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模型形态</a:t>
                      </a:r>
                    </a:p>
                  </a:txBody>
                  <a:tcPr marL="91440" marR="91440" marT="45720" marB="45720">
                    <a:solidFill>
                      <a:srgbClr val="C89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体积</a:t>
                      </a:r>
                    </a:p>
                  </a:txBody>
                  <a:tcPr marL="91440" marR="91440" marT="45720" marB="45720">
                    <a:solidFill>
                      <a:srgbClr val="C89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推理条件</a:t>
                      </a:r>
                    </a:p>
                  </a:txBody>
                  <a:tcPr marL="91440" marR="91440" marT="45720" marB="45720">
                    <a:solidFill>
                      <a:srgbClr val="C89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动作一致率</a:t>
                      </a:r>
                    </a:p>
                  </a:txBody>
                  <a:tcPr marL="91440" marR="91440" marT="45720" marB="45720">
                    <a:solidFill>
                      <a:srgbClr val="C8913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PyTorch FP32</a:t>
                      </a:r>
                    </a:p>
                  </a:txBody>
                  <a:tcPr marL="91440" marR="91440" marT="45720" marB="45720">
                    <a:solidFill>
                      <a:srgbClr val="123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84.7 KB</a:t>
                      </a:r>
                    </a:p>
                  </a:txBody>
                  <a:tcPr marL="91440" marR="91440" marT="45720" marB="45720">
                    <a:solidFill>
                      <a:srgbClr val="123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平台默认加载</a:t>
                      </a:r>
                    </a:p>
                  </a:txBody>
                  <a:tcPr marL="91440" marR="91440" marT="45720" marB="45720">
                    <a:solidFill>
                      <a:srgbClr val="123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基准</a:t>
                      </a:r>
                    </a:p>
                  </a:txBody>
                  <a:tcPr marL="91440" marR="91440" marT="45720" marB="45720">
                    <a:solidFill>
                      <a:srgbClr val="123F39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ONNX FP32</a:t>
                      </a:r>
                    </a:p>
                  </a:txBody>
                  <a:tcPr marL="91440" marR="91440" marT="45720" marB="45720">
                    <a:solidFill>
                      <a:srgbClr val="0F37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82.5 KB</a:t>
                      </a:r>
                    </a:p>
                  </a:txBody>
                  <a:tcPr marL="91440" marR="91440" marT="45720" marB="45720">
                    <a:solidFill>
                      <a:srgbClr val="0F37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单次约 0.0074 ms</a:t>
                      </a:r>
                    </a:p>
                  </a:txBody>
                  <a:tcPr marL="91440" marR="91440" marT="45720" marB="45720">
                    <a:solidFill>
                      <a:srgbClr val="0F37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0F372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ONNX INT8</a:t>
                      </a:r>
                    </a:p>
                  </a:txBody>
                  <a:tcPr marL="91440" marR="91440" marT="45720" marB="45720">
                    <a:solidFill>
                      <a:srgbClr val="123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24.9 KB</a:t>
                      </a:r>
                    </a:p>
                  </a:txBody>
                  <a:tcPr marL="91440" marR="91440" marT="45720" marB="45720">
                    <a:solidFill>
                      <a:srgbClr val="123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批量 64 约 0.028 ms</a:t>
                      </a:r>
                    </a:p>
                  </a:txBody>
                  <a:tcPr marL="91440" marR="91440" marT="45720" marB="45720">
                    <a:solidFill>
                      <a:srgbClr val="123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约 99.4%</a:t>
                      </a:r>
                    </a:p>
                  </a:txBody>
                  <a:tcPr marL="91440" marR="91440" marT="45720" marB="45720">
                    <a:solidFill>
                      <a:srgbClr val="123F39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518D8-FEE0-473A-AE8D-4C6CF1EA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45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84.7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83695-F300-4D6F-A27F-8F9E2A0D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4312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KB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48FF1-1563-42F4-89AA-E7250B73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339EC-6A8A-465E-AA5B-1012ED02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PyTorch FP32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94745-C3A0-4BAE-B82B-508D383E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45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24.9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536D4-571E-4C23-96F1-400B62FA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4812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KB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D5E5F-3157-4658-9D7B-24B1CAF0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33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08E9D-6E59-40B9-A6DB-2354B530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ONNX INT8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9CB60F-E064-41F2-B306-24116158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03FCC-F135-470F-A0BB-013019E0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rPr>
              <a:t>FP32 单次延迟与 INT8 批量延迟来自不同测试条件，不能直接比较速度；目标 RSU 仍需实测。</a:t>
            </a:r>
          </a:p>
        </p:txBody>
      </p:sp>
    </p:spTree>
    <p:extLst>
      <p:ext uri="{BB962C8B-B14F-4D97-AF65-F5344CB8AC3E}">
        <p14:creationId xmlns:p14="http://schemas.microsoft.com/office/powerpoint/2010/main" val="9155775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7dff91d964a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20210-778B-4968-A0DB-833E67BF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C2B">
              <a:alpha val="66667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32CEF-96E2-4337-932E-7403E9C8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0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安全控制与异常降级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C7FB2-85C2-4368-9804-C09B7601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AI 动作不直接获得信号灯控制权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AD1BB-FC57-483D-AB0E-D422A963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90850"/>
            <a:ext cx="790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DE9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1A69E-2202-47BF-A72F-C666EA4D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571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6856A">
              <a:alpha val="86667"/>
            </a:srgbClr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91F68-F258-486C-9273-04F7E466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MAPPO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D335D-4C28-40D3-A709-0181A579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7657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正常推理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7DE42-646F-441C-940B-E4539321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2571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C8913D">
              <a:alpha val="86667"/>
            </a:srgbClr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967DE-0120-4C16-A216-1CEC518E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SCOOT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F9A1C-F8B0-4F2A-8E7E-64763FAF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7657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一级降级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F113F-B480-4434-B10D-CAA8DD79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2571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385D5B">
              <a:alpha val="86667"/>
            </a:srgbClr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0EB0C-73C2-473E-9198-B6183EB3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FIXED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BC26F4-0427-48D8-B308-D87EEB1B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7657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050" b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固定配时兜底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6D1E6-0D06-4580-9520-6FB1E445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7">
              <a:alpha val="90980"/>
            </a:srgbClr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31B87-B0DF-4CED-B63E-A6935585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45F38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A45F38"/>
                </a:solidFill>
                <a:latin typeface="WenQuanYi Micro Hei"/>
                <a:ea typeface="WenQuanYi Micro Hei"/>
                <a:cs typeface="WenQuanYi Micro Hei"/>
              </a:rPr>
              <a:t>触发条件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680BF-247E-4F29-91BE-3E15A247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00525"/>
            <a:ext cx="866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权重缺失  ·  推理超时  ·  通信异常  ·  非法动作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FF546E-FBFB-4C9B-90C1-F2BCB8BD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现场证据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7815D-495B-4941-95CD-4565CDB5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24400"/>
            <a:ext cx="866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当前算法、触发原因、降级时间与恢复状态同时显示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20B622-BBE8-4DA4-905F-C1AA222D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D516F-9658-46F3-A519-1C99219A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rPr>
              <a:t>安全网补充实验未触发防溢出条件，不能表述为已经产生安全增益。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B82FD6-D923-49B9-A46A-C12F4F4B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7653A5-B065-4A9D-9C82-EA2200B8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320706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E9FAE9-B21F-4C64-AFB2-EBF2BBC8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2004D-7BCC-444A-A934-87A9924B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系统实现与现场运行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2E5EA-EEF2-4168-BC14-D57EFB39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22580-CAD2-47FC-930C-9B4E7F85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B3FEE-4702-4004-B259-A344363E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6208A-16B7-4492-BDDA-A15CA482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一条连续演示链路，把工程完成度讲清楚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9A0D1-2275-4EA7-9C46-DB41C5AA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000875" cy="3600450"/>
          </a:xfrm>
          <a:prstGeom xmlns:a="http://schemas.openxmlformats.org/drawingml/2006/main" prst="roundRect">
            <a:avLst>
              <a:gd name="adj" fmla="val 5820"/>
            </a:avLst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37C2E-3929-4257-8C5F-106343E3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LIVE CONTROL CANVAS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D7215-1671-46D0-9669-03A0BF76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952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23F39"/>
          </a:solidFill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F7360-79AD-4BBB-A747-1AC59652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FCF05-56C5-4320-A283-0BD25869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97C6C-3C3B-411C-88D9-35461F06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123F3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4D94E-F5DC-4B97-972E-401D1294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575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25919-2F61-4C2E-B9A7-86F2987C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5750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727AB-6DA5-407B-B491-5D7A2E7F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123F3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4F2F29-42B3-4D37-AC7E-0761F496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5750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908A4-8589-4A3B-A6C6-0332649E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123F3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849354-2E19-4D05-9A39-71254AB4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242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BBC57E-46EA-42F3-83A8-45725FCA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242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2C49BA-E7AF-4EED-8208-950C7335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467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123F3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F5BC3C-F7B5-451B-8AA2-388F3690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5242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7617C3-5BD6-44D2-A3C4-C522EA8A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5242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CE5EF5-C763-4969-8C19-994F3354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67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19050">
            <a:solidFill>
              <a:srgbClr val="123F3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B45800-05DB-45CC-BA4E-1FB48634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5242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FE2E1-CCAA-4239-99DB-5A9AB2A6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67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123F3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B0DBA3-7DDF-43BA-87AB-6994CD9B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910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D9756A-AC2F-479E-9C45-3CD6B895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123F3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1E7665-9D96-407C-A779-165ECF48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1910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A99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CB6BAE-E000-4A67-8636-1B4F21CB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123F3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F3FDC0-D373-4BB0-ADDC-676A6DC2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123F3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74C918-9C38-4772-AF82-622AAE55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3219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72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948B6C-8FD1-4536-B16E-254849C6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仿真时间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616F39-443F-449B-B27D-0AE32F0A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24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00:06:30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1B0792-04B5-4BEC-8AB5-B7685248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76600"/>
            <a:ext cx="3219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72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EDAD52-1510-49A8-82AC-25E67805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909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当前方案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542F4D-B06E-4825-A777-620452F5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432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8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MAPPO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181894-E3DF-4223-BAB4-EF13C66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33850"/>
            <a:ext cx="3219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72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4EA899-34E8-465C-8131-8D81C06F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481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运行状态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1CCEF4-A976-47C2-847E-C6074C54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48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56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2C273A-5494-42ED-9C7A-36EDD1A9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481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CONNECTED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E3719D-E7B3-4D33-9858-58B64B45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5116EE-4026-4192-86AF-A4396D64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前端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0102EC-DD19-42A1-BC08-2ACEA4C1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Vue 3 · Canvas · ECharts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348996-8EA5-461B-96AF-EBD96A2D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908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9FEEB0-6F0B-417D-A5E2-D1EF67A9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后端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DE3A8C-CF99-4FEA-9ECC-3C580AF6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FastAPI · WebSocket · TraCI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35CCD2-9A7E-4EA8-9AD6-3FF5FB66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290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7103C6-302C-43FE-9466-D5E001E7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814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运行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8228EC-9170-404B-9CF6-99BA4151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243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Docker Compose · Windows 脚本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BF6BF1-EBD7-4DCD-9D8B-BD2616BC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672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E4CCD6-7A6F-4215-81C7-237B64DC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196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输出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2FF5B4-7CC9-44E3-BA82-A1218448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实时 KPI · 事件状态 · 评估报告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4845F08-4C92-483D-8B50-7073FB14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启动 → 载入路网 → 注入事件 → 算法切换 → 导出报告</a:t>
            </a:r>
          </a:p>
        </p:txBody>
      </p:sp>
    </p:spTree>
    <p:extLst>
      <p:ext uri="{BB962C8B-B14F-4D97-AF65-F5344CB8AC3E}">
        <p14:creationId xmlns:p14="http://schemas.microsoft.com/office/powerpoint/2010/main" val="18078624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D48256-8A23-4798-BA64-9766F1EE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E378B-161E-48E2-8DED-72B621A5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实验设计与复现条件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3EA4B-20F0-4AC4-B4FB-3D92D312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8BBE4-D69F-4F2A-BE43-26A912CA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8C8F6-6E51-4C34-9D7A-C171B5D3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7522A-72FA-42CE-808C-9E697FCC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先固定条件，再比较算法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DC304-FCB8-4059-87F7-32A0E04C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3333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02F59-EFE9-46EA-9342-88772AEB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3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90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96539B-F269-498F-A076-192E4331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预热后控制接管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F1F71-004D-4FE5-A34F-DBF8F58F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57375"/>
            <a:ext cx="3333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A2311-7108-4191-A101-19943001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002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3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5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D3405-36D4-46C2-A56A-D525385A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策略决策周期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8E868-98A3-4724-A2C5-A1E88070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57375"/>
            <a:ext cx="3333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C938E-0113-4D20-BDF8-A232B611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3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30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23FCB-2DCD-4BA0-B978-4158B26A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指标采样周期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F4E6DF-4C5E-450D-8491-0968A096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80A9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BBBE4F-E397-4014-8DAA-930EFAB7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DCC34A-4F20-46EB-84DD-C34F4A90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672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开始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067D78-2F9C-41E5-9172-DE86DE35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05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13D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C5CFA6-AC01-443C-BCC7-5FE80358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控制接管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51CE5E-0108-46B9-817F-5C0A36FC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05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C1BED9-9834-43B3-A12D-36C310A7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672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循环决策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1B138A-FB3A-42BB-8BBF-833F3035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767A0D-61C0-4ECF-BE62-4F955CC9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672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循环采样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EBDA13-4BB5-47D3-B6C4-09852C63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905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A"/>
          </a:solidFill>
          <a:ln xmlns:a="http://schemas.openxmlformats.org/drawingml/2006/main" w="19050">
            <a:solidFill>
              <a:srgbClr val="F6F2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4A9781-7761-4C1C-8CD3-2ECAC1D6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2672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保存原始数据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1137FF-D630-4678-85EF-996F0B0A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ADA808-90D7-43A4-B0A7-130FF99F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同一网络文件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8EFAB2-32AA-4FBF-AFBC-9ABEA03B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482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178897-08BB-4B79-B503-78EC1BC7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482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同一需求文件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A75B8D-C13D-4914-9004-97EB4A57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834786-0001-4D79-8B02-C30B381B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482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同一扰动配置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A50AFB-93BF-4912-BB4E-7D946706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482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1DC47C-BD86-4D71-8886-62DB0735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482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代码与模型可追溯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2E2207-E0B2-401E-8303-C2B86AE2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5F0C76-C0FD-4431-B9D4-B67958DB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定稿页补充实际代码 commit、模型文件哈希、SUMO 与 Python 版本。</a:t>
            </a:r>
          </a:p>
        </p:txBody>
      </p:sp>
    </p:spTree>
    <p:extLst>
      <p:ext uri="{BB962C8B-B14F-4D97-AF65-F5344CB8AC3E}">
        <p14:creationId xmlns:p14="http://schemas.microsoft.com/office/powerpoint/2010/main" val="11448203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2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D9179-973F-450F-AE6A-7CE5BD46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4FE23-580E-49FF-8DFF-6BCA4594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标准车流横向对比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4D483-8609-4307-8FAD-9A0C9306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FB39E-B4AF-4223-B4A0-6F9029ED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3ACB8-442C-47CE-880D-9311A643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E2A45-D7E9-4B4A-B9DF-B350C6F4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MAPPO 改善 SCOOT，但固定配时在该窗口仍更优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521970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d79e6fd2974393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362700" y="1952625"/>
          <a:ext xmlns:a="http://schemas.openxmlformats.org/drawingml/2006/main" cx="521970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5d09ca51b64cb0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4DCD3-1134-449A-9F4C-F5C20752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21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平均速度 / m·s⁻¹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55D84-E63C-4B1B-BF1B-934DDBE0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57350"/>
            <a:ext cx="521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平均等待 /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81CD7-AC3F-4771-BF4B-738A22F1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60607-4E6F-4FF9-9666-7DA8CF71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rPr>
              <a:t>在网车辆数不等于吞吐；最终排序仍需完成量与 P95 等尾部指标支持。</a:t>
            </a:r>
          </a:p>
        </p:txBody>
      </p:sp>
    </p:spTree>
    <p:extLst>
      <p:ext uri="{BB962C8B-B14F-4D97-AF65-F5344CB8AC3E}">
        <p14:creationId xmlns:p14="http://schemas.microsoft.com/office/powerpoint/2010/main" val="13164036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7A11C-B799-4B74-9747-23A1B37D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FB657-AA19-4EC4-9924-7DCDB9C6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热点场景与算法边界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6DBDF-7AB9-4E42-8220-872279B7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F18A9-74E1-44B4-A921-5BACED66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8353B-6DB6-4348-B485-BFF01F0F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F8619-A3A0-4881-B05D-38C32AD4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把最有区分度的实验结果放到画面中心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E9542-2278-488D-BFB2-61B2EF05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3028950"/>
          </a:xfrm>
          <a:prstGeom xmlns:a="http://schemas.openxmlformats.org/drawingml/2006/main" prst="roundRect">
            <a:avLst>
              <a:gd name="adj" fmla="val 44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240445c1a4f83"/>
          <a:stretch xmlns:a="http://schemas.openxmlformats.org/drawingml/2006/main"/>
        </p:blipFill>
        <p:spPr>
          <a:xfrm xmlns:a="http://schemas.openxmlformats.org/drawingml/2006/main">
            <a:off x="723900" y="2543537"/>
            <a:ext cx="3771900" cy="15613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B0E2C-9E8B-44B8-A511-81C6D587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19250"/>
            <a:ext cx="6772275" cy="3562350"/>
          </a:xfrm>
          <a:prstGeom xmlns:a="http://schemas.openxmlformats.org/drawingml/2006/main" prst="roundRect">
            <a:avLst>
              <a:gd name="adj" fmla="val 37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64389792a4b51"/>
          <a:stretch xmlns:a="http://schemas.openxmlformats.org/drawingml/2006/main"/>
        </p:blipFill>
        <p:spPr>
          <a:xfrm xmlns:a="http://schemas.openxmlformats.org/drawingml/2006/main">
            <a:off x="4953000" y="1993921"/>
            <a:ext cx="6486525" cy="283205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B566A-FD12-40DA-8D64-AFF59877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40005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A2335-EC06-40ED-A15C-0AEAC14F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9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1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62.5%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9B687-B333-4B5F-B94B-D3964BC3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720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约 314 辆投放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到达数 8 → 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FB3C5-BFF8-4C62-8AF7-0211A362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14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55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3.6–4.1 m/s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D1509-1143-45F0-A277-4E31AD60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625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热点后期平均速度  /  360–480 s</a:t>
            </a:r>
          </a:p>
        </p:txBody>
      </p:sp>
    </p:spTree>
    <p:extLst>
      <p:ext uri="{BB962C8B-B14F-4D97-AF65-F5344CB8AC3E}">
        <p14:creationId xmlns:p14="http://schemas.microsoft.com/office/powerpoint/2010/main" val="698017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2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E4CFCC-C406-4B7B-993E-A85B8A0F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主讲内容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7B697-3424-4ED1-B52F-370E4AFB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创新、标准化与推广价值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F39DF-EC50-4351-9DDB-5C6DD9A7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A5877-5297-4826-BE8C-2D228E09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575AD-B980-426C-9D52-1E59841C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CBD51-E2B6-42E3-9B4F-9C894AA4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贡献不在“模型名”，而在工程闭环与可验证性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8CFB8-774A-4C07-A780-C079551D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864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80A998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4050" b="1">
                <a:solidFill>
                  <a:srgbClr val="80A998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B3471-A96D-4799-A223-22B866DA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9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控制闭环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A9CD3-5EB4-4846-8498-DDD8AEA9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EBE51-AD36-4297-A5D6-8BE3FF92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9D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0">
                <a:solidFill>
                  <a:srgbClr val="DDE9DF"/>
                </a:solidFill>
                <a:latin typeface="WenQuanYi Micro Hei"/>
                <a:ea typeface="WenQuanYi Micro Hei"/>
                <a:cs typeface="WenQuanYi Micro Hei"/>
              </a:rPr>
              <a:t>预测进入区域协调，路口动作与车辆路径共同反馈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D21DE-8F36-479C-8214-AC4E57E4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CA98F-5168-4865-AD58-8D6771D5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系统架构 · 运行日志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6DB30-9F7A-4CFF-84EC-CB5BEA51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864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405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5F03C-01AE-401B-85DD-101E1409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384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9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工程接口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9123C-06A7-48E7-B39F-36F9A2E5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D5C26-C96F-40A5-9CCA-98F2FF06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147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9D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0">
                <a:solidFill>
                  <a:srgbClr val="DDE9DF"/>
                </a:solidFill>
                <a:latin typeface="WenQuanYi Micro Hei"/>
                <a:ea typeface="WenQuanYi Micro Hei"/>
                <a:cs typeface="WenQuanYi Micro Hei"/>
              </a:rPr>
              <a:t>固定配时、SCOOT 与 MAPPO 使用统一接入方式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BAF17-B493-41D3-8F0A-823B6742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00550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8E5E3-7F02-462C-AD54-F0365E1D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005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接口 · 降级 · 一致性测试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5200C-C0CE-4F04-8C16-11C928E5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240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864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80A998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4050" b="1">
                <a:solidFill>
                  <a:srgbClr val="80A998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A59D0-899D-49D2-9843-B6959171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384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9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评测规程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69BAE-63DC-42DB-B573-41F1FA62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F0D628-2A60-4CF9-B105-52CCB056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147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9D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350" b="0">
                <a:solidFill>
                  <a:srgbClr val="DDE9DF"/>
                </a:solidFill>
                <a:latin typeface="WenQuanYi Micro Hei"/>
                <a:ea typeface="WenQuanYi Micro Hei"/>
                <a:cs typeface="WenQuanYi Micro Hei"/>
              </a:rPr>
              <a:t>同路网、同车流、同事件、同种子完成复现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9ADF28-D56C-4DD5-BAC7-C7008410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00550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1BA846-F5F1-417D-A138-AD868F07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005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场景配置 · 原始数据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F4E2EF-8A43-43CF-92EF-F47F3817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87EAA0-9347-4611-AC6B-1B556640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4B3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0B4B3E"/>
                </a:solidFill>
                <a:latin typeface="WenQuanYi Micro Hei"/>
                <a:ea typeface="WenQuanYi Micro Hei"/>
                <a:cs typeface="WenQuanYi Micro Hei"/>
              </a:rPr>
              <a:t>定位：城市交通 AI 验证平台与测试规程参考，不表述为真实道路生产部署。</a:t>
            </a:r>
          </a:p>
        </p:txBody>
      </p:sp>
    </p:spTree>
    <p:extLst>
      <p:ext uri="{BB962C8B-B14F-4D97-AF65-F5344CB8AC3E}">
        <p14:creationId xmlns:p14="http://schemas.microsoft.com/office/powerpoint/2010/main" val="118653596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f43a33be846ab"/>
          <a:srcRect xmlns:a="http://schemas.openxmlformats.org/drawingml/2006/main" l="26953" t="0" r="269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F2068-1846-44F6-9681-21742590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209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>
              <a:alpha val="8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51D03-955B-4F97-9ADD-66BC0BB0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5A8BE-F92B-4F4E-8BFC-215BD7A8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3F3F1-37CC-4971-AED2-7804748A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5476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1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从仿真到安全运行，</a:t>
            </a:r>
          </a:p>
          <a:p xmlns:a="http://schemas.openxmlformats.org/drawingml/2006/main">
            <a:pPr algn="l">
              <a:defRPr sz="31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31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形成一条可复现闭环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D4A02-A8DF-40EF-9F89-787600EA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323BD-5CEF-4EDB-BFE8-63B4301B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20 路口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7C2D1-FF12-4302-8CE9-45B220C9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微观仿真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C2C7A-72C1-4132-8313-8050BC2E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86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8CC8E-5768-4F82-95DC-305A52C7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67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STGCN + MAPPO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A3240-432B-40D9-9E27-A7C7EB6B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48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预测与控制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7801B-BC26-4DD3-93A2-644C70EE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89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6EF77-7114-47AB-9F0E-D6C36352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ONNX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9FC7F-3590-4E8F-8CCA-3CC6CD21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转换验证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8F8E7-5ED6-46EE-81B5-7EAB4153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528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80F3D-AE46-4FF2-8636-BA001706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33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对照实验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D08B6-D904-4624-8D2F-13CA6503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14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1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异常降级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51809-BD91-4A88-916D-8A9D840E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45F38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275" b="0">
                <a:solidFill>
                  <a:srgbClr val="A45F38"/>
                </a:solidFill>
                <a:latin typeface="WenQuanYi Micro Hei"/>
                <a:ea typeface="WenQuanYi Micro Hei"/>
                <a:cs typeface="WenQuanYi Micro Hei"/>
              </a:rPr>
              <a:t>团队分工与成员姓名待最终核实后填写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2C25A-F065-42B3-ABB4-BF42DB30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1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谢谢各位评委，欢迎提问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7AED7-E1F3-4096-BB3B-EA071285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BD965-E8AC-4692-8A04-47C10969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420818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1B17B-A61C-4231-940A-386D75CB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C2253-1074-4E39-88A2-9E59095B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MAPPO 观测与动作接口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89E1A-A682-4BA5-8E33-8D01DADE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BCFAE-ECF4-47B2-87FC-DB0B2F12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5BD30-83B1-4382-B1F0-3E343C05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C188F-598F-47F0-A99C-149775E4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89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45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5D739-3F84-4EE4-B8B6-AC45B48C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当前可确认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56F8B-60CE-4A46-93B5-75C46951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479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最终接口：31 维观测输入、2 个动作 logits 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A6CAB-8491-496E-88A9-7742AD33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KEEP 保持当前绿灯；ADVANCE 推进相位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9B1E8-F994-4BC9-9329-5A2C3003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5391150" cy="3381375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3E3D6-B970-4B7E-A457-9BA75422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答辩前补齐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398A7-DE50-41A6-B58C-40CD2DBD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导出 31 个字段名称、范围与归一化方式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2B403-7D02-4E0E-9409-0FBA49EE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B15A4-015B-43AD-A5A3-191D642D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18 维模型标记为历史版本并说明停用原因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C08B3-DF84-4348-A8CD-6D11F950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40FCAE-DF84-4C9F-8CEE-4DDE5CA7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本页只在评委追问对应技术细节、证据来源或复现方法时展开。</a:t>
            </a:r>
          </a:p>
        </p:txBody>
      </p:sp>
    </p:spTree>
    <p:extLst>
      <p:ext uri="{BB962C8B-B14F-4D97-AF65-F5344CB8AC3E}">
        <p14:creationId xmlns:p14="http://schemas.microsoft.com/office/powerpoint/2010/main" val="7983408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2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1711A-C45B-49BF-A53B-406D42D3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866BE-F998-4392-B5E2-DDFF6B6B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MAPPO 奖励函数与训练参数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9FEAB-5536-4117-903B-EC4638DA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11AAD-30AA-4FC6-87EB-CAB691AC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645CF-527C-4AA1-8978-B6D0DE18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CA794-1E8C-4E34-A271-A2B62B30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0A998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80A998"/>
                </a:solidFill>
                <a:latin typeface="WenQuanYi Micro Hei"/>
                <a:ea typeface="WenQuanYi Micro Hei"/>
                <a:cs typeface="WenQuanYi Micro Hei"/>
              </a:rPr>
              <a:t>CURRENT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FBB9C-AB64-45E9-8090-B0B9F6E1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中心化训练、分散执行、Actor 参数共享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FB39B-FF4E-432B-AB60-5CF27076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对照策略：固定配时与 SCOOT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203E9-48AA-42B5-81FB-FB6D3E46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F6C96-6F62-44BB-9907-974C3625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TO 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805C3-ACFE-424B-8224-D2C6863E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奖励项、权重、主要超参数与随机种子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E5E7B-4BE3-4542-89F6-94EB9320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训练曲线、验证指标与最终权重选择依据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8CC59-0822-42CE-A3FB-47C1B811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95750"/>
            <a:ext cx="123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606"/>
          </a:bodyPr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285A50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6600" b="1">
                <a:solidFill>
                  <a:srgbClr val="285A50"/>
                </a:solidFill>
                <a:latin typeface="WenQuanYi Micro Hei"/>
                <a:ea typeface="WenQuanYi Micro Hei"/>
                <a:cs typeface="WenQuanYi Micro Hei"/>
              </a:rPr>
              <a:t>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7B00C-8FC6-446C-833E-7DFE46A1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3B68B-4D43-41C7-9908-A3DE0621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rPr>
              <a:t>本页只在评委追问对应技术细节、证据来源或复现方法时展开。</a:t>
            </a:r>
          </a:p>
        </p:txBody>
      </p:sp>
    </p:spTree>
    <p:extLst>
      <p:ext uri="{BB962C8B-B14F-4D97-AF65-F5344CB8AC3E}">
        <p14:creationId xmlns:p14="http://schemas.microsoft.com/office/powerpoint/2010/main" val="14793052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BC94BE-C426-4EA3-9DAE-80E318BA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F0AE8-CA39-4C8C-856A-3AE19155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STGCN 输入输出与链路证据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163E8-6B69-46B2-80F4-E60CCF59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1B882-567A-419E-BC71-FDAC9DBB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3C30E-5F33-413E-9244-B314986B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3C5D4-73E7-40CA-9C44-C62D7964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当前可确认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3FF34-4037-49A4-8AF1-30A8F932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答辩前补齐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682AB-8107-4516-AE9A-49974B87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1054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1C837-549A-4511-8FB9-6169508F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8F2CB-93E8-4DF5-8BCF-D55E04A9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955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输入：历史流量、速度、占有率与邻接关系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27BF6-0648-4CB9-B1F3-AED0082D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1054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FFDF0-C542-40B6-B57B-04E86C5C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240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5DCA6-8602-464D-990F-36943BC7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955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职责：识别短时交通趋势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10B90-99C0-4CFC-A110-A88B4430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1054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204F4-9EF0-4A98-9EDB-6EBAA6D5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04BF6-B51D-4C29-9192-4B350033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3862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历史窗口、预测步长和验证指标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B44F8-3F9D-46B3-894A-A94DA475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51054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29DDB-B54D-48EC-B189-3BDCF500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EADFB3-B0B1-48B3-9762-C93BAD4F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3862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进入区域协调的真实调用日志或消融结果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86CB0-9E82-48BC-B617-CEEDCFAD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4FCD6D-ECD0-4575-AE25-BEB136F1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本页只在评委追问对应技术细节、证据来源或复现方法时展开。</a:t>
            </a:r>
          </a:p>
        </p:txBody>
      </p:sp>
    </p:spTree>
    <p:extLst>
      <p:ext uri="{BB962C8B-B14F-4D97-AF65-F5344CB8AC3E}">
        <p14:creationId xmlns:p14="http://schemas.microsoft.com/office/powerpoint/2010/main" val="20130780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6BD49D-4934-4F48-938C-CE1FEA83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E6F2C-2F39-40E3-B73A-84BA7BA8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ONNX 转换误差与推理环境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49E49-A137-4173-A538-CAF74CA4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50910-B0C5-4975-9C15-954E9749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9659B-2829-4078-8FDF-1D6C66EA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8F5F2-E8DA-4C63-8FED-A89F7890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89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45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E9F61-EC87-4AF4-8813-CCD8334A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当前可确认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4A621-C089-4480-B99B-DA69A6C6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479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FP32：82.5 KB，约 0.0074 ms，一致率 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94588-D587-4EF9-AA73-B27A5088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INT8：24.9 KB，batch 64 约 0.028 ms，一致率约 99.4%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01F69-4E98-4D69-B50B-3D232AF9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5391150" cy="3381375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BBE71-2200-40D3-B232-27789D1F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答辩前补齐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7DAD6-8451-4D46-AEF8-2276E072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CPU 型号、运行库版本与完整复现命令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93F55-42BC-4705-91F8-A3F0744C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C03F38-4866-4FB2-9362-25C2A930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逐输出误差统计及目标 RSU 实测结果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F04E3-63D0-4517-8041-430C9C27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38BF1-5AF9-4015-B9C6-E13D06F0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本页只在评委追问对应技术细节、证据来源或复现方法时展开。</a:t>
            </a:r>
          </a:p>
        </p:txBody>
      </p:sp>
    </p:spTree>
    <p:extLst>
      <p:ext uri="{BB962C8B-B14F-4D97-AF65-F5344CB8AC3E}">
        <p14:creationId xmlns:p14="http://schemas.microsoft.com/office/powerpoint/2010/main" val="15512841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82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FD32D-8479-4718-B451-E17D6B20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86253-6DB6-4D2D-A48E-457797DD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安全降级故障日志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71BEB-DED8-4A4F-95F3-4109B178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B36AE-7CA4-434F-9E66-0D9FE8A1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3F951-2127-41F8-9DBC-1316E939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A61A5-5F97-4F7E-A04D-B39D856F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0A998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80A998"/>
                </a:solidFill>
                <a:latin typeface="WenQuanYi Micro Hei"/>
                <a:ea typeface="WenQuanYi Micro Hei"/>
                <a:cs typeface="WenQuanYi Micro Hei"/>
              </a:rPr>
              <a:t>CURRENT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90545-8FC1-4A4D-B2AF-EEAF6B29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顺序：MAPPO → SCOOT → Fixed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C4F92-42D4-498F-B303-B4F4FB8A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触发：权重缺失、推理超时、通信异常、非法动作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FF4FA-9819-4715-AEEF-57608139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0CF00-012A-426F-ABCF-40005A9F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TO 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BFD8A-4C1E-4BE8-B98D-5E45DA8B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每类故障的触发时间、原算法与恢复结果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3C706-285D-4695-861F-B3122ABC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完整故障注入录屏及同时间戳日志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370EC-6568-429D-9EE4-7EE5DBC8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95750"/>
            <a:ext cx="123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606"/>
          </a:bodyPr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285A50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6600" b="1">
                <a:solidFill>
                  <a:srgbClr val="285A50"/>
                </a:solidFill>
                <a:latin typeface="WenQuanYi Micro Hei"/>
                <a:ea typeface="WenQuanYi Micro Hei"/>
                <a:cs typeface="WenQuanYi Micro Hei"/>
              </a:rPr>
              <a:t>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B9511-A35C-408F-B69D-36B05E8E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13AD6-96CE-446B-BAFA-C6ADED15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rPr>
              <a:t>本页只在评委追问对应技术细节、证据来源或复现方法时展开。</a:t>
            </a:r>
          </a:p>
        </p:txBody>
      </p:sp>
    </p:spTree>
    <p:extLst>
      <p:ext uri="{BB962C8B-B14F-4D97-AF65-F5344CB8AC3E}">
        <p14:creationId xmlns:p14="http://schemas.microsoft.com/office/powerpoint/2010/main" val="19335963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BCAEA0-FF9F-49C3-8382-66CB7A6E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EE28C-A1D2-43BE-9FA4-FEF1257B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完整实验参数与原始数据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3E210-F786-4951-BAF8-2A5B0358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00B47-5A55-4A93-8EBE-116875A1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608B1-A4F3-4595-AA4A-090F7FB8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2C36D-F39B-4291-B862-521E6F5A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当前可确认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CA13D-2911-4116-9CE6-3E04D771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答辩前补齐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34AAE-60B4-46FD-AFAE-46EC5DA2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1054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5ED0B-B33C-4929-AB63-F264769C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500F3-EE34-4B5E-8026-42BFA678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955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预热 90 s，决策 5 s，采样 30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07D26-F145-4962-B2BE-8A1CD004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1054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DBD9A-FDC3-4B9D-B5F2-645A9A27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240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6D69D-3211-4641-B4EF-E63527B5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955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路网、车流、事件和采样规则保持一致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853A7-65BA-47C0-8B79-5BB21530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1054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DD760-D706-42F9-8578-4AFCD213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A1506-66C1-447E-B17F-AF8AA653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3862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代码 commit、模型哈希、SUMO 与 Python 版本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9D634-05FA-409F-8128-127869D1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51054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90641-5171-4FFF-90CA-B913C0ED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D7AD0C-F33E-4688-B09D-4112B8ED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3862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0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原始数据位置、场景配置与作图命令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D572A7-E88C-43CD-BA50-29DE6B95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04EB76-441D-4898-AC0C-8339DF5E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本页只在评委追问对应技术细节、证据来源或复现方法时展开。</a:t>
            </a:r>
          </a:p>
        </p:txBody>
      </p:sp>
    </p:spTree>
    <p:extLst>
      <p:ext uri="{BB962C8B-B14F-4D97-AF65-F5344CB8AC3E}">
        <p14:creationId xmlns:p14="http://schemas.microsoft.com/office/powerpoint/2010/main" val="11279372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C1610-F866-4DAF-8701-C46FB849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86BA0-04A7-4791-A23A-FF5C7C36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接口字段与系统状态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B7B38-A685-4A02-B116-C8D9E7F1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013C8-B26E-4B53-AC65-5B54C880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F9EA2-BCF1-4B9A-A479-8EF972FB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65756D"/>
                </a:solidFill>
                <a:latin typeface="WenQuanYi Micro Hei"/>
                <a:ea typeface="WenQuanYi Micro Hei"/>
                <a:cs typeface="WenQuanYi Micro 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38BC2-6525-4A3C-83C6-10C51989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89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4500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680B5-1CA4-4BA1-80E3-A797D933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16856A"/>
                </a:solidFill>
                <a:latin typeface="WenQuanYi Micro Hei"/>
                <a:ea typeface="WenQuanYi Micro Hei"/>
                <a:cs typeface="WenQuanYi Micro Hei"/>
              </a:rPr>
              <a:t>当前可确认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906F8-AA5C-46D0-A7DE-3632F7EE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479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REST API 负责配置与查询，WebSocket 传输实时状态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10CD6-D9AD-42C0-B974-246CCF6F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17372E"/>
                </a:solidFill>
                <a:latin typeface="WenQuanYi Micro Hei"/>
                <a:ea typeface="WenQuanYi Micro Hei"/>
                <a:cs typeface="WenQuanYi Micro Hei"/>
              </a:rPr>
              <a:t>前端显示仿真时间、方案、动作与降级状态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44F93-E61E-4D61-BEDA-86B293F1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5391150" cy="3381375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4B3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272B5-1F32-43B7-AD98-24CC449D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答辩前补齐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87E80-920F-4C8D-9D9B-C0189E66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最终接口字段字典与示例响应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B81FB-4621-4B26-B37C-67491C4B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7D8E2-438D-4950-BE35-C32F9354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575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带标注的真实系统界面截图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E0504-41C0-4231-B752-543BA030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E0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BA1B6-35EB-42C1-8C2A-29DD59A3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76552E"/>
                </a:solidFill>
                <a:latin typeface="WenQuanYi Micro Hei"/>
                <a:ea typeface="WenQuanYi Micro Hei"/>
                <a:cs typeface="WenQuanYi Micro Hei"/>
              </a:rPr>
              <a:t>本页只在评委追问对应技术细节、证据来源或复现方法时展开。</a:t>
            </a:r>
          </a:p>
        </p:txBody>
      </p:sp>
    </p:spTree>
    <p:extLst>
      <p:ext uri="{BB962C8B-B14F-4D97-AF65-F5344CB8AC3E}">
        <p14:creationId xmlns:p14="http://schemas.microsoft.com/office/powerpoint/2010/main" val="44461294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82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91C24-2BDC-44D1-BCB5-0ACBC983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备份材料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8EE49-9E01-484A-8882-82B5AA95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28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Webster 与跨拓扑验证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A32C5-9492-4B3A-979F-3F706BFA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0142D-6516-4361-9CC9-5EE6DEB6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0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XH 202613  雄安车路云协同管控平台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FF0ED-8BF6-4979-AE2D-C8B09D1A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825" b="1">
                <a:solidFill>
                  <a:srgbClr val="C9D9D2"/>
                </a:solidFill>
                <a:latin typeface="WenQuanYi Micro Hei"/>
                <a:ea typeface="WenQuanYi Micro Hei"/>
                <a:cs typeface="WenQuanYi Micro 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573F2-2121-467F-984D-E6A51A5F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0A998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80A998"/>
                </a:solidFill>
                <a:latin typeface="WenQuanYi Micro Hei"/>
                <a:ea typeface="WenQuanYi Micro Hei"/>
                <a:cs typeface="WenQuanYi Micro Hei"/>
              </a:rPr>
              <a:t>CURRENT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EC76E-06E9-4363-9D20-5D1A29C1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主材料覆盖四个典型路口 Webster 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61EB0-DE6E-4136-9C4E-15E3B8FA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计划验证 grid 9、grid 25 与 spider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C6B50-8C42-427F-99CE-F9C0146F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7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5F7FB-B31C-400B-9123-CAEF4EC4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75" b="1">
                <a:solidFill>
                  <a:srgbClr val="C8913D"/>
                </a:solidFill>
                <a:latin typeface="WenQuanYi Micro Hei"/>
                <a:ea typeface="WenQuanYi Micro Hei"/>
                <a:cs typeface="WenQuanYi Micro Hei"/>
              </a:rPr>
              <a:t>TO 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9C0C1-BD7A-44C5-BD6F-0E4AF434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补齐跨拓扑实验原始数据与对比图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1992E-56D3-49D4-B5C1-2351D276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165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明确主路网模型与路网无关模型的适用范围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E607D-50E8-41D2-A9F6-B1932F00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95750"/>
            <a:ext cx="123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606"/>
          </a:bodyPr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285A50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6600" b="1">
                <a:solidFill>
                  <a:srgbClr val="285A50"/>
                </a:solidFill>
                <a:latin typeface="WenQuanYi Micro Hei"/>
                <a:ea typeface="WenQuanYi Micro Hei"/>
                <a:cs typeface="WenQuanYi Micro Hei"/>
              </a:rPr>
              <a:t>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E34B2-A00F-4335-9389-FD5B4529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85A5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726C8-7D36-4758-8F42-062AF3BF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defRPr>
            </a:pPr>
            <a:r>
              <a:rPr sz="900" b="0">
                <a:solidFill>
                  <a:srgbClr val="F6E6CA"/>
                </a:solidFill>
                <a:latin typeface="WenQuanYi Micro Hei"/>
                <a:ea typeface="WenQuanYi Micro Hei"/>
                <a:cs typeface="WenQuanYi Micro Hei"/>
              </a:rPr>
              <a:t>本页只在评委追问对应技术细节、证据来源或复现方法时展开。</a:t>
            </a:r>
          </a:p>
        </p:txBody>
      </p:sp>
    </p:spTree>
    <p:extLst>
      <p:ext uri="{BB962C8B-B14F-4D97-AF65-F5344CB8AC3E}">
        <p14:creationId xmlns:p14="http://schemas.microsoft.com/office/powerpoint/2010/main" val="730676708"/>
      </p:ext>
    </p:extLst>
  </p:cSld>
</p:sld>
</file>

<file path=ppt/theme/theme1.xml><?xml version="1.0" encoding="utf-8"?>
<a:theme xmlns:a="http://schemas.openxmlformats.org/drawingml/2006/main" name="ChatGPT">
  <a:themeElements>
    <a:clrScheme name="Eco City Visual">
      <a:dk1>
        <a:srgbClr val="111111"/>
      </a:dk1>
      <a:lt1>
        <a:srgbClr val="FFFFFF"/>
      </a:lt1>
      <a:dk2>
        <a:srgbClr val="17372E"/>
      </a:dk2>
      <a:lt2>
        <a:srgbClr val="F6F2E8"/>
      </a:lt2>
      <a:accent1>
        <a:srgbClr val="16856A"/>
      </a:accent1>
      <a:accent2>
        <a:srgbClr val="C8913D"/>
      </a:accent2>
      <a:accent3>
        <a:srgbClr val="80A998"/>
      </a:accent3>
      <a:accent4>
        <a:srgbClr val="A45F38"/>
      </a:accent4>
      <a:accent5>
        <a:srgbClr val="587A8C"/>
      </a:accent5>
      <a:accent6>
        <a:srgbClr val="9A8060"/>
      </a:accent6>
      <a:hlink>
        <a:srgbClr val="16856A"/>
      </a:hlink>
      <a:folHlink>
        <a:srgbClr val="C8913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co City Visu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2026-09-11T02:01:25.4100000Z</dcterms:created>
  <dcterms:modified xsi:type="dcterms:W3CDTF">2026-09-11T02:01:25.4100000Z</dcterms:modified>
</coreProperties>
</file>
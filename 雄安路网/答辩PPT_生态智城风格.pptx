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f7bb6505d84843" /><Relationship Type="http://schemas.openxmlformats.org/officeDocument/2006/relationships/extended-properties" Target="/docProps/app.xml" Id="Rc814a22bea3741e9" /><Relationship Type="http://schemas.openxmlformats.org/officeDocument/2006/relationships/officeDocument" Target="/ppt/presentation.xml" Id="R8606373357bf4a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05bd8ade8e4381"/>
  </p:sldMasterIdLst>
  <p:notesMasterIdLst>
    <p:notesMasterId xmlns:r="http://schemas.openxmlformats.org/officeDocument/2006/relationships" r:id="R22bb283d16844803"/>
  </p:notesMasterIdLst>
  <p:sldIdLst>
    <p:sldId xmlns:r="http://schemas.openxmlformats.org/officeDocument/2006/relationships" id="256" r:id="R09238c72e3f64b2d"/>
    <p:sldId xmlns:r="http://schemas.openxmlformats.org/officeDocument/2006/relationships" id="257" r:id="R47d25203ab214f09"/>
    <p:sldId xmlns:r="http://schemas.openxmlformats.org/officeDocument/2006/relationships" id="258" r:id="R8e33d6f1da194fc7"/>
    <p:sldId xmlns:r="http://schemas.openxmlformats.org/officeDocument/2006/relationships" id="259" r:id="R5c320a8114d44726"/>
    <p:sldId xmlns:r="http://schemas.openxmlformats.org/officeDocument/2006/relationships" id="260" r:id="Rcc838d1479074fc2"/>
    <p:sldId xmlns:r="http://schemas.openxmlformats.org/officeDocument/2006/relationships" id="261" r:id="R9622a5e4317a446e"/>
    <p:sldId xmlns:r="http://schemas.openxmlformats.org/officeDocument/2006/relationships" id="262" r:id="R0b70e4c6554849c3"/>
    <p:sldId xmlns:r="http://schemas.openxmlformats.org/officeDocument/2006/relationships" id="263" r:id="R8a6ce37858e24a55"/>
    <p:sldId xmlns:r="http://schemas.openxmlformats.org/officeDocument/2006/relationships" id="264" r:id="R9cf354934d254b8d"/>
    <p:sldId xmlns:r="http://schemas.openxmlformats.org/officeDocument/2006/relationships" id="265" r:id="R17451e0a4bfc4e91"/>
    <p:sldId xmlns:r="http://schemas.openxmlformats.org/officeDocument/2006/relationships" id="266" r:id="R287998ebfaa742c3"/>
    <p:sldId xmlns:r="http://schemas.openxmlformats.org/officeDocument/2006/relationships" id="267" r:id="R47db9005b1e148d3"/>
    <p:sldId xmlns:r="http://schemas.openxmlformats.org/officeDocument/2006/relationships" id="268" r:id="R25a521cdc1204c59"/>
    <p:sldId xmlns:r="http://schemas.openxmlformats.org/officeDocument/2006/relationships" id="269" r:id="R770149c85bc24ea6"/>
    <p:sldId xmlns:r="http://schemas.openxmlformats.org/officeDocument/2006/relationships" id="270" r:id="Rb2cfc5d332984c4f"/>
    <p:sldId xmlns:r="http://schemas.openxmlformats.org/officeDocument/2006/relationships" id="271" r:id="R8c5da126fb254e35"/>
    <p:sldId xmlns:r="http://schemas.openxmlformats.org/officeDocument/2006/relationships" id="272" r:id="R13a8ec9334bd45c1"/>
    <p:sldId xmlns:r="http://schemas.openxmlformats.org/officeDocument/2006/relationships" id="273" r:id="R36b1ec508bdf4818"/>
    <p:sldId xmlns:r="http://schemas.openxmlformats.org/officeDocument/2006/relationships" id="274" r:id="R2c8fbcbd12824a16"/>
    <p:sldId xmlns:r="http://schemas.openxmlformats.org/officeDocument/2006/relationships" id="275" r:id="Rd490cf0b2f7643b4"/>
    <p:sldId xmlns:r="http://schemas.openxmlformats.org/officeDocument/2006/relationships" id="276" r:id="R73b137e0c17f4881"/>
    <p:sldId xmlns:r="http://schemas.openxmlformats.org/officeDocument/2006/relationships" id="277" r:id="R5fe197ef089443e3"/>
    <p:sldId xmlns:r="http://schemas.openxmlformats.org/officeDocument/2006/relationships" id="278" r:id="R6b400c087c604f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9d6b8e46b24580" /><Relationship Type="http://schemas.openxmlformats.org/officeDocument/2006/relationships/slideMaster" Target="/ppt/slideMasters/slideMaster1.xml" Id="Rf805bd8ade8e4381" /><Relationship Type="http://schemas.openxmlformats.org/officeDocument/2006/relationships/notesMaster" Target="/ppt/notesMasters/notesMaster1.xml" Id="R22bb283d16844803" /><Relationship Type="http://schemas.openxmlformats.org/officeDocument/2006/relationships/presProps" Target="/ppt/presProps.xml" Id="R12ae2742f1a54610" /><Relationship Type="http://schemas.openxmlformats.org/officeDocument/2006/relationships/tableStyles" Target="/ppt/tableStyles.xml" Id="R9992e51393e64919" /><Relationship Type="http://schemas.openxmlformats.org/officeDocument/2006/relationships/slide" Target="/ppt/slides/slide1.xml" Id="R09238c72e3f64b2d" /><Relationship Type="http://schemas.openxmlformats.org/officeDocument/2006/relationships/slide" Target="/ppt/slides/slide2.xml" Id="R47d25203ab214f09" /><Relationship Type="http://schemas.openxmlformats.org/officeDocument/2006/relationships/slide" Target="/ppt/slides/slide3.xml" Id="R8e33d6f1da194fc7" /><Relationship Type="http://schemas.openxmlformats.org/officeDocument/2006/relationships/slide" Target="/ppt/slides/slide4.xml" Id="R5c320a8114d44726" /><Relationship Type="http://schemas.openxmlformats.org/officeDocument/2006/relationships/slide" Target="/ppt/slides/slide5.xml" Id="Rcc838d1479074fc2" /><Relationship Type="http://schemas.openxmlformats.org/officeDocument/2006/relationships/slide" Target="/ppt/slides/slide6.xml" Id="R9622a5e4317a446e" /><Relationship Type="http://schemas.openxmlformats.org/officeDocument/2006/relationships/slide" Target="/ppt/slides/slide7.xml" Id="R0b70e4c6554849c3" /><Relationship Type="http://schemas.openxmlformats.org/officeDocument/2006/relationships/slide" Target="/ppt/slides/slide8.xml" Id="R8a6ce37858e24a55" /><Relationship Type="http://schemas.openxmlformats.org/officeDocument/2006/relationships/slide" Target="/ppt/slides/slide9.xml" Id="R9cf354934d254b8d" /><Relationship Type="http://schemas.openxmlformats.org/officeDocument/2006/relationships/slide" Target="/ppt/slides/slide10.xml" Id="R17451e0a4bfc4e91" /><Relationship Type="http://schemas.openxmlformats.org/officeDocument/2006/relationships/slide" Target="/ppt/slides/slide11.xml" Id="R287998ebfaa742c3" /><Relationship Type="http://schemas.openxmlformats.org/officeDocument/2006/relationships/slide" Target="/ppt/slides/slide12.xml" Id="R47db9005b1e148d3" /><Relationship Type="http://schemas.openxmlformats.org/officeDocument/2006/relationships/slide" Target="/ppt/slides/slide13.xml" Id="R25a521cdc1204c59" /><Relationship Type="http://schemas.openxmlformats.org/officeDocument/2006/relationships/slide" Target="/ppt/slides/slide14.xml" Id="R770149c85bc24ea6" /><Relationship Type="http://schemas.openxmlformats.org/officeDocument/2006/relationships/slide" Target="/ppt/slides/slide15.xml" Id="Rb2cfc5d332984c4f" /><Relationship Type="http://schemas.openxmlformats.org/officeDocument/2006/relationships/slide" Target="/ppt/slides/slide16.xml" Id="R8c5da126fb254e35" /><Relationship Type="http://schemas.openxmlformats.org/officeDocument/2006/relationships/slide" Target="/ppt/slides/slide17.xml" Id="R13a8ec9334bd45c1" /><Relationship Type="http://schemas.openxmlformats.org/officeDocument/2006/relationships/slide" Target="/ppt/slides/slide18.xml" Id="R36b1ec508bdf4818" /><Relationship Type="http://schemas.openxmlformats.org/officeDocument/2006/relationships/slide" Target="/ppt/slides/slide19.xml" Id="R2c8fbcbd12824a16" /><Relationship Type="http://schemas.openxmlformats.org/officeDocument/2006/relationships/slide" Target="/ppt/slides/slide20.xml" Id="Rd490cf0b2f7643b4" /><Relationship Type="http://schemas.openxmlformats.org/officeDocument/2006/relationships/slide" Target="/ppt/slides/slide21.xml" Id="R73b137e0c17f4881" /><Relationship Type="http://schemas.openxmlformats.org/officeDocument/2006/relationships/slide" Target="/ppt/slides/slide22.xml" Id="R5fe197ef089443e3" /><Relationship Type="http://schemas.openxmlformats.org/officeDocument/2006/relationships/slide" Target="/ppt/slides/slide23.xml" Id="R6b400c087c604f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afca5b169e49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Eco City">
      <a:dk1>
        <a:srgbClr val="111111"/>
      </a:dk1>
      <a:lt1>
        <a:srgbClr val="FFFFFF"/>
      </a:lt1>
      <a:dk2>
        <a:srgbClr val="17372E"/>
      </a:dk2>
      <a:lt2>
        <a:srgbClr val="F6F2E8"/>
      </a:lt2>
      <a:accent1>
        <a:srgbClr val="16856A"/>
      </a:accent1>
      <a:accent2>
        <a:srgbClr val="C8913D"/>
      </a:accent2>
      <a:accent3>
        <a:srgbClr val="80A998"/>
      </a:accent3>
      <a:accent4>
        <a:srgbClr val="A45F38"/>
      </a:accent4>
      <a:accent5>
        <a:srgbClr val="587A8C"/>
      </a:accent5>
      <a:accent6>
        <a:srgbClr val="9A8060"/>
      </a:accent6>
      <a:hlink>
        <a:srgbClr val="16856A"/>
      </a:hlink>
      <a:folHlink>
        <a:srgbClr val="C8913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 Cit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7e765709f14ef1" /><Relationship Type="http://schemas.openxmlformats.org/officeDocument/2006/relationships/notesMaster" Target="/ppt/notesMasters/notesMaster1.xml" Id="R1b2479f80caf44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a9547f76b646c9" /><Relationship Type="http://schemas.openxmlformats.org/officeDocument/2006/relationships/notesMaster" Target="/ppt/notesMasters/notesMaster1.xml" Id="Rfa3977c2fbc746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fb37bba8604b9b" /><Relationship Type="http://schemas.openxmlformats.org/officeDocument/2006/relationships/notesMaster" Target="/ppt/notesMasters/notesMaster1.xml" Id="Rc8bc17f5693c41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cabf0ae7d4d29" /><Relationship Type="http://schemas.openxmlformats.org/officeDocument/2006/relationships/notesMaster" Target="/ppt/notesMasters/notesMaster1.xml" Id="Rc5e16f02cf8146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a861c85ae74efe" /><Relationship Type="http://schemas.openxmlformats.org/officeDocument/2006/relationships/notesMaster" Target="/ppt/notesMasters/notesMaster1.xml" Id="R091a9bb4696a4f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e80634d31a46f9" /><Relationship Type="http://schemas.openxmlformats.org/officeDocument/2006/relationships/notesMaster" Target="/ppt/notesMasters/notesMaster1.xml" Id="R0a2003aac92644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f84b2f557548a4" /><Relationship Type="http://schemas.openxmlformats.org/officeDocument/2006/relationships/notesMaster" Target="/ppt/notesMasters/notesMaster1.xml" Id="Rc70db3ffd4204b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d2c96329894610" /><Relationship Type="http://schemas.openxmlformats.org/officeDocument/2006/relationships/notesMaster" Target="/ppt/notesMasters/notesMaster1.xml" Id="Rf41958c906814e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5024775d4f4853" /><Relationship Type="http://schemas.openxmlformats.org/officeDocument/2006/relationships/notesMaster" Target="/ppt/notesMasters/notesMaster1.xml" Id="R73df94da7b6243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4c2570d12f42b2" /><Relationship Type="http://schemas.openxmlformats.org/officeDocument/2006/relationships/notesMaster" Target="/ppt/notesMasters/notesMaster1.xml" Id="R43dbb9e543524c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a57c00791e48b1" /><Relationship Type="http://schemas.openxmlformats.org/officeDocument/2006/relationships/notesMaster" Target="/ppt/notesMasters/notesMaster1.xml" Id="R980d1286f2e845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6208a568f343db" /><Relationship Type="http://schemas.openxmlformats.org/officeDocument/2006/relationships/notesMaster" Target="/ppt/notesMasters/notesMaster1.xml" Id="R2913740da4a646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b1ecd1f7f041f7" /><Relationship Type="http://schemas.openxmlformats.org/officeDocument/2006/relationships/notesMaster" Target="/ppt/notesMasters/notesMaster1.xml" Id="R5434bbdfb7334d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0329185ad1451d" /><Relationship Type="http://schemas.openxmlformats.org/officeDocument/2006/relationships/notesMaster" Target="/ppt/notesMasters/notesMaster1.xml" Id="R717ef17418a749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68c56369644345" /><Relationship Type="http://schemas.openxmlformats.org/officeDocument/2006/relationships/notesMaster" Target="/ppt/notesMasters/notesMaster1.xml" Id="Rf782d32b760546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102f91e405349c9" /><Relationship Type="http://schemas.openxmlformats.org/officeDocument/2006/relationships/notesMaster" Target="/ppt/notesMasters/notesMaster1.xml" Id="R33fcf0c5e5914ef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cf38cdd2d74e91" /><Relationship Type="http://schemas.openxmlformats.org/officeDocument/2006/relationships/notesMaster" Target="/ppt/notesMasters/notesMaster1.xml" Id="Rca2243fdc91846a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6aab18de8e4a43" /><Relationship Type="http://schemas.openxmlformats.org/officeDocument/2006/relationships/notesMaster" Target="/ppt/notesMasters/notesMaster1.xml" Id="Rf5b4800f18b445e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418d499acc4384" /><Relationship Type="http://schemas.openxmlformats.org/officeDocument/2006/relationships/notesMaster" Target="/ppt/notesMasters/notesMaster1.xml" Id="Rad9fe930f9dc400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b7a918c6fc34a5b" /><Relationship Type="http://schemas.openxmlformats.org/officeDocument/2006/relationships/notesMaster" Target="/ppt/notesMasters/notesMaster1.xml" Id="R16fb51ff04eb4d4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655169c0ec447a8" /><Relationship Type="http://schemas.openxmlformats.org/officeDocument/2006/relationships/notesMaster" Target="/ppt/notesMasters/notesMaster1.xml" Id="Rb15122c03778479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df59e1792d74f00" /><Relationship Type="http://schemas.openxmlformats.org/officeDocument/2006/relationships/notesMaster" Target="/ppt/notesMasters/notesMaster1.xml" Id="Rbdc16135098a4c4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308d372707c451f" /><Relationship Type="http://schemas.openxmlformats.org/officeDocument/2006/relationships/notesMaster" Target="/ppt/notesMasters/notesMaster1.xml" Id="Rdf5641c4becd4a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各位评委好。项目面向雄安新区窄路密网条件下的区域拥堵传播问题，搭建20路口微观仿真平台，把交通预测、多路口信号控制、车辆路径和异常降级接入同一运行闭环。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项目没有把问题限定为单个路口配时。窄路密网中的上游排队会影响下游放行，局部热点还会沿相邻道路扩散，因此方案从区域状态出发组织预测与控制。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先给出三项有材料支撑的结果：20路口与80条有向边、ONNX FP32动作一致率100%、热点场景后期速度恢复。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平台按Cloud、Edge、Vehicle和SUMO四层组织。云端汇聚状态，边缘侧输出控制动作，车辆侧调整路径，SUMO负责交通演化，状态继续进入下一轮控制。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这一页说明仿真环境的构成与数据边界。最终路网节点、边数量需要与提交版本的网络文件再次核对。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STGCN用于识别未来交通趋势，MAPPO将31维观测映射为保持或推进动作。安全控制器仍负责动作合法性。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赛道C不仅看模型名称，还看训练和权重选择过程。缺少的证据必须从最终训练日志补齐，不用原理图替代训练结果。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PyTorch Actor已经转换为ONNX FP32与INT8。FP32动作一致率100%，INT8体积降到24.9KB且动作一致率约99.4%。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AI输出不直接获得信号灯控制权。控制器检查信号安全约束，推理或通信异常时依次降级到SCOOT与固定配时。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正式演示需要用最终版本界面连续运行，并补充启动耗时、接口状态与资源释放记录。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对照实验保持路网、车流、事件和采样规则一致，车流生成使用固定种子。预热90秒，策略每5秒决策，指标每30秒采样。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标准车流下，MAPPO平均等待45秒，低于SCOOT的60秒，平均速度由1.71提高到1.77米每秒。固定配时在这一窗口更好，因此不宣布MAPPO全面领先。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约314辆投放时，到达车辆数由8提高到13。热点360至480秒窗口内，平均速度由约2.4至2.6提高到3.6至4.1米每秒。超饱和后受物理容量限制。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项目的贡献在于贯通控制闭环、统一算法评测接口，并把模型转换与安全降级纳入工程验证。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项目已经形成完整工程链路，并主动限定结果的场景和统计窗口。最后补充每位成员的真实职责与对应交付物。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备份页用于追问。左侧为当前材料可以确认的内容，右侧列出正式答辩前仍需补齐的证据。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备份页用于追问。左侧为当前材料可以确认的内容，右侧列出正式答辩前仍需补齐的证据。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备份页用于追问。左侧为当前材料可以确认的内容，右侧列出正式答辩前仍需补齐的证据。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备份页用于追问。左侧为当前材料可以确认的内容，右侧列出正式答辩前仍需补齐的证据。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备份页用于追问。左侧为当前材料可以确认的内容，右侧列出正式答辩前仍需补齐的证据。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备份页用于追问。左侧为当前材料可以确认的内容，右侧列出正式答辩前仍需补齐的证据。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备份页用于追问。左侧为当前材料可以确认的内容，右侧列出正式答辩前仍需补齐的证据。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备份页用于追问。左侧为当前材料可以确认的内容，右侧列出正式答辩前仍需补齐的证据。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b0934e17a4a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49c950596142d8" /><Relationship Type="http://schemas.openxmlformats.org/officeDocument/2006/relationships/slideLayout" Target="/ppt/slideLayouts/slideLayout1.xml" Id="Ref4e4e392bef42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4e4e392bef42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Eco City">
      <a:dk1>
        <a:srgbClr val="111111"/>
      </a:dk1>
      <a:lt1>
        <a:srgbClr val="FFFFFF"/>
      </a:lt1>
      <a:dk2>
        <a:srgbClr val="17372E"/>
      </a:dk2>
      <a:lt2>
        <a:srgbClr val="F6F2E8"/>
      </a:lt2>
      <a:accent1>
        <a:srgbClr val="16856A"/>
      </a:accent1>
      <a:accent2>
        <a:srgbClr val="C8913D"/>
      </a:accent2>
      <a:accent3>
        <a:srgbClr val="80A998"/>
      </a:accent3>
      <a:accent4>
        <a:srgbClr val="A45F38"/>
      </a:accent4>
      <a:accent5>
        <a:srgbClr val="587A8C"/>
      </a:accent5>
      <a:accent6>
        <a:srgbClr val="9A8060"/>
      </a:accent6>
      <a:hlink>
        <a:srgbClr val="16856A"/>
      </a:hlink>
      <a:folHlink>
        <a:srgbClr val="C8913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 Cit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fea7564b74a32" /><Relationship Type="http://schemas.openxmlformats.org/officeDocument/2006/relationships/image" Target="/ppt/media/image.jpeg" Id="R100089118feb414f" /><Relationship Type="http://schemas.openxmlformats.org/officeDocument/2006/relationships/notesSlide" Target="/ppt/notesSlides/notesSlide1.xml" Id="R73c02965b35743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bccd00b9249b1" /><Relationship Type="http://schemas.openxmlformats.org/officeDocument/2006/relationships/notesSlide" Target="/ppt/notesSlides/notesSlide2.xml" Id="R432cd38c3b8546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59ca76d6d4df9" /><Relationship Type="http://schemas.openxmlformats.org/officeDocument/2006/relationships/notesSlide" Target="/ppt/notesSlides/notesSlide3.xml" Id="R318267e7d81c4b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181f4e5f94742" /><Relationship Type="http://schemas.openxmlformats.org/officeDocument/2006/relationships/notesSlide" Target="/ppt/notesSlides/notesSlide4.xml" Id="R9c0c350dc1b445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2a137fc1c40ba" /><Relationship Type="http://schemas.openxmlformats.org/officeDocument/2006/relationships/notesSlide" Target="/ppt/notesSlides/notesSlide5.xml" Id="Rc4f12014639540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5a2d70f9c4b73" /><Relationship Type="http://schemas.openxmlformats.org/officeDocument/2006/relationships/notesSlide" Target="/ppt/notesSlides/notesSlide6.xml" Id="R484b49a495b242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2ac1e625d413b" /><Relationship Type="http://schemas.openxmlformats.org/officeDocument/2006/relationships/notesSlide" Target="/ppt/notesSlides/notesSlide7.xml" Id="R04888895e2db4c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df1804d374de6" /><Relationship Type="http://schemas.openxmlformats.org/officeDocument/2006/relationships/notesSlide" Target="/ppt/notesSlides/notesSlide8.xml" Id="R17005861923a43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b3198df8f4871" /><Relationship Type="http://schemas.openxmlformats.org/officeDocument/2006/relationships/notesSlide" Target="/ppt/notesSlides/notesSlide9.xml" Id="Ra5562e89b1384c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ac15294624d78" /><Relationship Type="http://schemas.openxmlformats.org/officeDocument/2006/relationships/notesSlide" Target="/ppt/notesSlides/notesSlide10.xml" Id="R78a1b99c4b6845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c4dc1d7544cb8" /><Relationship Type="http://schemas.openxmlformats.org/officeDocument/2006/relationships/notesSlide" Target="/ppt/notesSlides/notesSlide11.xml" Id="Re1e323b0419b43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c4bb00cef4662" /><Relationship Type="http://schemas.openxmlformats.org/officeDocument/2006/relationships/chart" Target="/ppt/slides/charts/chart1.xml" Id="Rfad74febff1741dd" /><Relationship Type="http://schemas.openxmlformats.org/officeDocument/2006/relationships/chart" Target="/ppt/slides/charts/chart2.xml" Id="R7263774bac9443de" /><Relationship Type="http://schemas.openxmlformats.org/officeDocument/2006/relationships/notesSlide" Target="/ppt/notesSlides/notesSlide12.xml" Id="R9ede6be59a764b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ec515834e45b4" /><Relationship Type="http://schemas.openxmlformats.org/officeDocument/2006/relationships/image" Target="/ppt/media/image.png" Id="R04f02e7e8a904f83" /><Relationship Type="http://schemas.openxmlformats.org/officeDocument/2006/relationships/image" Target="/ppt/media/image2.png" Id="Ree508415c357494f" /><Relationship Type="http://schemas.openxmlformats.org/officeDocument/2006/relationships/notesSlide" Target="/ppt/notesSlides/notesSlide13.xml" Id="R20d4ce91289b41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f120fd45644f8" /><Relationship Type="http://schemas.openxmlformats.org/officeDocument/2006/relationships/notesSlide" Target="/ppt/notesSlides/notesSlide14.xml" Id="R18aca12ce4754d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1a43f877341d9" /><Relationship Type="http://schemas.openxmlformats.org/officeDocument/2006/relationships/notesSlide" Target="/ppt/notesSlides/notesSlide15.xml" Id="R7db9ca3a45a146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1c10d68f14da6" /><Relationship Type="http://schemas.openxmlformats.org/officeDocument/2006/relationships/notesSlide" Target="/ppt/notesSlides/notesSlide16.xml" Id="R61aaace4e165414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dc66752f6451b" /><Relationship Type="http://schemas.openxmlformats.org/officeDocument/2006/relationships/notesSlide" Target="/ppt/notesSlides/notesSlide17.xml" Id="R6aa2f6eda7da42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810cb0f554b1f" /><Relationship Type="http://schemas.openxmlformats.org/officeDocument/2006/relationships/notesSlide" Target="/ppt/notesSlides/notesSlide18.xml" Id="R98e09debdbab42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e87c41d8842fa" /><Relationship Type="http://schemas.openxmlformats.org/officeDocument/2006/relationships/notesSlide" Target="/ppt/notesSlides/notesSlide19.xml" Id="R9e5add8693f5477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7a76e3c8d4557" /><Relationship Type="http://schemas.openxmlformats.org/officeDocument/2006/relationships/notesSlide" Target="/ppt/notesSlides/notesSlide20.xml" Id="Rd88d0e6945124a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14f46673c4150" /><Relationship Type="http://schemas.openxmlformats.org/officeDocument/2006/relationships/notesSlide" Target="/ppt/notesSlides/notesSlide21.xml" Id="Ra182f827aaad478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021696cb248bb" /><Relationship Type="http://schemas.openxmlformats.org/officeDocument/2006/relationships/notesSlide" Target="/ppt/notesSlides/notesSlide22.xml" Id="R9dde75e0941e4b0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d6223d0fa4ee6" /><Relationship Type="http://schemas.openxmlformats.org/officeDocument/2006/relationships/notesSlide" Target="/ppt/notesSlides/notesSlide23.xml" Id="Rcef27398a0584ab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平均速度</c:v>
          </c:tx>
          <c:spPr>
            <a:solidFill xmlns:a="http://schemas.openxmlformats.org/drawingml/2006/main">
              <a:srgbClr val="16856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0A99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8913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6856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固定配时</c:v>
                </c:pt>
                <c:pt idx="1">
                  <c:v>SCOOT</c:v>
                </c:pt>
                <c:pt idx="2">
                  <c:v>MAPPO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3.07</c:v>
                </c:pt>
                <c:pt idx="1">
                  <c:v>1.71</c:v>
                </c:pt>
                <c:pt idx="2">
                  <c:v>1.77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372E"/>
                  </a:solidFill>
                  <a:latin typeface="WenQuanYi Micro Hei"/>
                  <a:ea typeface="WenQuanYi Micro Hei"/>
                  <a:cs typeface="WenQuanYi Micro 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</a:p>
        </c:txPr>
        <c:crossAx val="48672768"/>
      </c:catAx>
      <c:valAx>
        <c:axId val="48672768"/>
        <c:scaling>
          <c:orientation val="minMax"/>
          <c:max val="3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3C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WenQuanYi Micro Hei"/>
                    <a:ea typeface="WenQuanYi Micro Hei"/>
                    <a:cs typeface="WenQuanYi Micro Hei"/>
                  </a:rPr>
                  <a:t>m/s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WenQuanYi Micro Hei"/>
                  <a:ea typeface="WenQuanYi Micro Hei"/>
                  <a:cs typeface="WenQuanYi Micro 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DF7"/>
        </a:solidFill>
      </c:spPr>
    </c:plotArea>
    <c:plotVisOnly val="1"/>
  </c:chart>
  <c:spPr>
    <a:solidFill xmlns:a="http://schemas.openxmlformats.org/drawingml/2006/main">
      <a:srgbClr val="FFFDF7"/>
    </a:solidFill>
    <a:ln xmlns:a="http://schemas.openxmlformats.org/drawingml/2006/main" w="9525">
      <a:solidFill>
        <a:srgbClr val="D4D3C8"/>
      </a:solidFill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平均等待</c:v>
          </c:tx>
          <c:spPr>
            <a:solidFill xmlns:a="http://schemas.openxmlformats.org/drawingml/2006/main">
              <a:srgbClr val="16856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0A99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8913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6856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固定配时</c:v>
                </c:pt>
                <c:pt idx="1">
                  <c:v>SCOOT</c:v>
                </c:pt>
                <c:pt idx="2">
                  <c:v>MAPPO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25</c:v>
                </c:pt>
                <c:pt idx="1">
                  <c:v>60</c:v>
                </c:pt>
                <c:pt idx="2">
                  <c:v>45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372E"/>
                  </a:solidFill>
                  <a:latin typeface="WenQuanYi Micro Hei"/>
                  <a:ea typeface="WenQuanYi Micro Hei"/>
                  <a:cs typeface="WenQuanYi Micro 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3C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WenQuanYi Micro Hei"/>
                    <a:ea typeface="WenQuanYi Micro Hei"/>
                    <a:cs typeface="WenQuanYi Micro Hei"/>
                  </a:rPr>
                  <a:t>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WenQuanYi Micro Hei"/>
                  <a:ea typeface="WenQuanYi Micro Hei"/>
                  <a:cs typeface="WenQuanYi Micro 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DF7"/>
        </a:solidFill>
      </c:spPr>
    </c:plotArea>
    <c:plotVisOnly val="1"/>
  </c:chart>
  <c:spPr>
    <a:solidFill xmlns:a="http://schemas.openxmlformats.org/drawingml/2006/main">
      <a:srgbClr val="FFFDF7"/>
    </a:solidFill>
    <a:ln xmlns:a="http://schemas.openxmlformats.org/drawingml/2006/main" w="9525">
      <a:solidFill>
        <a:srgbClr val="D4D3C8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089118feb414f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BA81F-D279-42D6-BBA1-BB95F897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26897-4DED-49F3-88D7-765634E8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赛道 C  /  XH 202613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BBE11-6748-4AD2-AEFE-3B57C30B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810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4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面向雄安新区城市大脑的</a:t>
            </a:r>
          </a:p>
          <a:p xmlns:a="http://schemas.openxmlformats.org/drawingml/2006/main">
            <a:pPr algn="l">
              <a:defRPr sz="34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4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车路云一体化协同管控平台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22859-66C0-41A5-949F-3326D6C3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89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77312-C67B-472F-B806-16790A94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20 路口微观仿真与多路口协同控制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84467-0B79-4DD5-9DC9-BBDCD261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学校  ·  团队  ·  成员  ·  答辩日期</a:t>
            </a:r>
          </a:p>
        </p:txBody>
      </p:sp>
    </p:spTree>
    <p:extLst>
      <p:ext uri="{BB962C8B-B14F-4D97-AF65-F5344CB8AC3E}">
        <p14:creationId xmlns:p14="http://schemas.microsoft.com/office/powerpoint/2010/main" val="1692147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7AAEBB-450C-4B82-8824-AD807628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76A16-98D1-4E44-A678-83EE4A83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雄安场景与赛题任务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CC114-0220-4DCC-9098-D9B6F53B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A73C4-ADB1-43A5-8FF2-64D1FF52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4F804-D22D-4B46-B10E-DB508C6D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24474-FA8B-4059-BDE1-8B6E8BCA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局部排队会沿短路段快速传递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7DEDC-615F-4E67-95DC-8F3F23C1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5AE70-003C-409B-AC3E-7FFCFC62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54F87-A28B-43ED-BBC5-E7E28CEB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860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BDF1F-F1F9-48F8-BA15-1F13122E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860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3D1A6-3D82-428B-AC86-EDF16704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0ADC8-4700-4694-85A9-1BFE774A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4C296-E47B-4A02-9E99-EE302215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37BD5-5D3E-48CD-829E-D08F9654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7970D-B8B6-4116-B14B-480696E6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90A33-A0B0-4905-A903-0880AC61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D580E-2D6F-42E0-BEE3-6B197B82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DA01A-676A-4C9B-AD33-DC6EF54D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0B1AB8-3162-4B92-A619-18EE2145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2E616-5CAC-4FCB-9951-A883CCD2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BA37EB-461F-4B8D-BE9D-E0621E4D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170D6-707A-4B6C-8E7F-36716F56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005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6AD54-1F76-4751-ACF6-7154E073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03D3A9-717E-40C5-B198-97953DAF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745F39-B31E-467B-AF91-299D7029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06CDF8-3806-4468-BA3F-7B5C178B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D891BE-60A0-489B-89BB-F8C27AD0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1102D9-3758-49A3-B8E0-28FA2A99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A60CB8-5BB2-4483-9096-9FCF635A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58CC7F-5771-4559-85BF-225A4549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71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5F38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2F6C5F-2CA0-467E-BC6D-FE870C2B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EE6278-73E0-4EAC-9733-D96C80EE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57E34D-54D7-4729-84D9-0CD00DB0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05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F7C656-B44B-42A9-A082-14C0D0B3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05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07847A-5F5A-4C42-B124-510E4BE2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05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48DC2E-4AAE-4E60-9A6B-7009E716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05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45F38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A45F38"/>
                </a:solidFill>
                <a:latin typeface="WenQuanYi Micro Hei"/>
                <a:ea typeface="WenQuanYi Micro Hei"/>
                <a:cs typeface="WenQuanYi Micro Hei"/>
              </a:rPr>
              <a:t>热点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9C2A59-A909-4CB3-88CD-A501583D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B8FEA5-FD08-4586-8FA2-80ECE54B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场景特征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955F68-47A7-411E-8D55-AF4B19C2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路口间距小，交通状态相互影响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76A380-220A-4555-8D49-C8151B0B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71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控制难点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112EA5-4E9A-4C73-A440-FC3FDCF6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7660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单点定时方案难以处理空间不均与拥堵传播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2BE5AA-9BE7-45EB-A07E-CD08323B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赛题任务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781B50-5609-4B8E-8274-6E1EC898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1485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高保真仿真、轻量化 AI 与量化评估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B43856-85FE-46AC-BE3A-4C25F4CB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B254BA-2618-4BE1-A857-B15DA05D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主讲页不使用未经核实的雄安路网密度数字；场景描述以赛题原文和项目路网为准。</a:t>
            </a:r>
          </a:p>
        </p:txBody>
      </p:sp>
    </p:spTree>
    <p:extLst>
      <p:ext uri="{BB962C8B-B14F-4D97-AF65-F5344CB8AC3E}">
        <p14:creationId xmlns:p14="http://schemas.microsoft.com/office/powerpoint/2010/main" val="1094552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11403-D2C3-4942-B5A5-CAD28E7C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25A13-213A-4A81-A25D-4403E84B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项目方案与已验证结果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D0D8D-B2DC-47D9-98E8-234C2CFA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29165-CC72-4FE8-8B73-90F76CAB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BA78F-B3F8-45F0-8995-6E316EA3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6EADD-F726-4E05-8D8E-F4CEB2D7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00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平台已形成可运行闭环，并完成三类关键验证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DB9CC-8B37-4663-9353-C192F8E9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6511C-D894-45A4-A68F-4C2B5709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6B480-76E3-4AFA-A6DD-7162C002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信号路口，80 条有向边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1663F-FAF1-4FCB-85FF-9165E6CF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70D41-E8A3-4256-B94E-52298973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431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4C61E-7F7E-487B-9F56-C9D4FBB3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765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ONNX FP32 动作一致率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59C9A-775A-4DEA-9293-FDD5E24C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891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B0585-78BB-49B7-BFAD-28A8FF14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3.6–4.1 m/s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80B68-1748-487C-AC9C-4FC01911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765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热点后期平均速度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21F6FD-FC93-493F-A6C7-ACB04F6B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50BA5-95E4-43D9-9874-3D05B335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热点基线约 2.4–2.6 m/s，统计窗口为 360–480 s。所有结果均限定在对应仿真条件内。</a:t>
            </a:r>
          </a:p>
        </p:txBody>
      </p:sp>
    </p:spTree>
    <p:extLst>
      <p:ext uri="{BB962C8B-B14F-4D97-AF65-F5344CB8AC3E}">
        <p14:creationId xmlns:p14="http://schemas.microsoft.com/office/powerpoint/2010/main" val="1567822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B01DE5-C47F-4604-8CDB-700A3FA6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7C7EC-1F59-485E-8243-D1826CD5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车路云架构与控制闭环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BF6A0-B9E7-40D1-9EC7-6B4B1568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99BBD-79BD-49E8-A9A6-57284F91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392B4-FF70-4DBB-BA96-0762B002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90890-2E3D-4239-9484-2F99E6E5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状态上行与目标下发形成闭环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AE4B7-A213-44E5-95A0-F7A65278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28800"/>
            <a:ext cx="68580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7E69E-B4C4-4B6C-AE1D-28B91081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431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Cloud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04F6D-276E-4DA6-ACFA-EF25D58D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431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状态汇聚、趋势预测、区域协调、报告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8C4E3-1835-4A7F-8AF2-08F7B2E6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574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C1F1B-0044-4BFE-9B12-826CA9E5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68580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DE9DF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F44C7-9231-4CB8-BD96-F7A9D12A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003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Edge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34D3C-3EF0-4BB7-A7A6-196A09B1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03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MAPPO 决策、安全校验、异常降级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AD216-43AB-4166-88AF-BEC5E44E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1470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D82BA-E56F-4ECD-B1B7-90607579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43300"/>
            <a:ext cx="68580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BF41C2-4709-4947-9BE1-CA5D6E9A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576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Vehicle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9D685-F2AC-41A2-93D2-151F1C12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动态路径执行与状态反馈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A5AB6E-47BC-4275-9292-7C958881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719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EA327-3A9B-4BA0-8EBE-43A329EA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00550"/>
            <a:ext cx="68580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DE9DF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4E703F-3B88-44CD-95CB-3DD50AB7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148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SUMO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79373-BF42-4685-BA56-9F4102CF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148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路网、车辆、信号、事件与 KPI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51930-DD05-4376-B6E3-FCC06354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57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通信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1D23C-D30F-4F7C-8DF8-20D0CF53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REST API</a:t>
            </a:r>
          </a:p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WebSocket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42F7B-3452-44D4-8462-3045E520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14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执行边界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0E6C35-BDE8-44A7-B123-DB243FF7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模型动作先通过</a:t>
            </a:r>
          </a:p>
          <a:p xmlns:a="http://schemas.openxmlformats.org/drawingml/2006/main">
            <a:pPr algn="l">
              <a:defRPr sz="14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信号安全控制器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33B4C3-0C05-4752-AD42-C0ECAD90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5A5DD9-6732-4309-8E77-AAC26722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平台当前默认加载 PyTorch 权重；ONNX 是已经完成转换与 CPU 推理验证的可替换部署形态。</a:t>
            </a:r>
          </a:p>
        </p:txBody>
      </p:sp>
    </p:spTree>
    <p:extLst>
      <p:ext uri="{BB962C8B-B14F-4D97-AF65-F5344CB8AC3E}">
        <p14:creationId xmlns:p14="http://schemas.microsoft.com/office/powerpoint/2010/main" val="11197690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041F0E6-57BC-472A-BE7A-D9426597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94FAD-4F2F-4E23-92A9-408B4EF0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20 路口微观仿真环境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8EDDA-6066-45BD-8D23-E2D5AD97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93D82-8E39-4624-8030-C7399570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574E7-5CAC-490C-810B-631317D3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F6546-43EE-485F-8F8B-92CC25F4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固定拓扑与可复现扰动共同构成实验底座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01739-FFA9-471E-9505-4BAF8B25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44D74-F87C-449F-837E-8468CC11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8C925-6439-4C0B-B92F-A113E992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478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126F7-19C8-49E0-98A9-B0CB77BE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478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7D505-5AC6-4D13-9102-FCF9D797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478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FEC99-A62D-4FAE-8D1C-DBC2CF6D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478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0F1FF-78FB-49A8-8608-108758A6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478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B23D3-8B20-4123-86D0-3A77E1F1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478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974E1-E455-4209-B03D-B1095454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478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0CE139-F843-4F2C-8C98-F3B1E425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479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9F6D6-4536-4416-BDF5-DBEC5E45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479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FFD83E-08C2-4611-81C3-7A3E8D38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479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0FB07-851C-44B8-B795-74C64819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479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C8956-0945-40AB-85E5-217E0BF8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479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F25C0-92A9-45C5-AFAE-D1B0CE1C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479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7F302C-3D8B-4949-9A62-D2495F48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479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404D2-11EC-43D1-8F36-1CA9DDEA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479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915DCA-AE09-484E-9C53-2D2D3E7E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479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F8613D-E8BD-406A-AC31-FCC98071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480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7C8EF-8443-4D81-BD93-5A0FE0C4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480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B6CA65-6AB2-4678-8F89-055A8B92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480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C9A999-520A-462D-A638-599D2682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480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28BBFE-18AE-41A9-8681-8C010708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480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9DE414-8530-4A4F-ABAE-F515EC3A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480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BFEA6E-102D-4690-8BAA-051B2204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480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F3AEB0-0761-48B5-A516-0ED13D57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480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A85D8E-56BE-4A07-82E3-8D554B3A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480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F24A7C-982E-4064-BE7C-9AE4D560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481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0E18BE-8388-4CF4-ADB0-8446FD34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481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B26734-52EB-4F9D-A195-EBA4ABF3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481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5B7C30-7BC9-4A49-B71D-F1373CAD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481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677F30-5CBF-4F3E-B8AE-C27C82F4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71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0B807A-EA26-4690-95B2-D41BF9B1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971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CBD103-5923-4B7A-913B-23184D2A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71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6E9977-0D7C-4E2E-AB57-71235883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71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18AE10-A9B2-4D91-8FCF-C3D82616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71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4A5E45-0C62-4756-86EE-F4D3065C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BEA008-FAE0-4B19-86EF-AFB266C6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BDBBE4-4323-4AD4-849F-D1BAA43A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984158-AA0D-4409-B29C-6390BA30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EBB52E-AAF1-4C96-9749-A56724BF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97E2B3-7584-490A-84A0-16DF2AB9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71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E51636-BC69-474E-ACD4-79143961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39F5C2-C400-4D92-B38C-7E9C7D6A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05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5F38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55CA82-0E03-4E60-9304-CBC8FBCA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71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011F24-88CE-462D-A576-95AE6CB2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71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37C920-9EB5-4303-A239-F054FCF2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71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57D31B-85B4-4EAB-A3F3-F43797DB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71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988728-9913-46E9-A30B-DB8BEAFF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71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D42453-6BA3-4B1E-9BDC-C9A7E7F7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71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DA9F9D-68CF-4C58-925F-61C07A8F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71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0F09FD7-E39B-42EC-8C00-4D05BC99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20 个信号路口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D979B50-6FEB-41B5-A3CF-5C581F2C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573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841E1F-094A-4AB2-9B25-37357E92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规模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5F06B3-F1A8-4551-BE0E-B7788280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80 条有向边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420AE6E-5673-49C9-A61E-12643B4D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4315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6206DE-56BA-4E79-A5CE-58CBACAC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47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场景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BAEA56C-EABE-47DB-A1DC-63875050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908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sparse / normal / peak / extreme / hotspot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5CFEBB-9ACC-4684-9156-AAED8FF7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12C5F2-56E3-4818-A2FF-B561D290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构建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DDEE803-09E4-413C-BAD3-29AE5E03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路网清洗、相位配置、需求生成与事件注入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0E2DF9-7E7F-4F73-8D18-8605F8EA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3385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8538378-14F5-4136-9ACA-38BF7A2E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386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边界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50C7626-AA11-42BF-9FAB-DC619B22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815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空间结构、校准参数与合成交通流分别标注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CBBD04D-B289-493D-B7B6-12F6352A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2920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55568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976733-E8AC-40B2-8348-5AF88542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F73C4-5961-4BAB-877D-F1546573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STGCN 预测与 MAPPO 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135AF-4403-4833-A293-46C76F29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9FD00-7885-45EC-9712-397E103F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793AE-2152-4D60-8C7F-7430386F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C3A79-E0BD-4E24-8F17-D6215CBA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两个模型承担不同职责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C746C-0D16-4F14-9D66-7BE79F1D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0482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2F39B-F7ED-4BCB-BE6E-F2BF9ECE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STGCN  /  趋势识别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80FBC-29EF-40D9-8894-6FF2ECF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历史流量、速度、占有率</a:t>
            </a:r>
          </a:p>
          <a:p xmlns:a="http://schemas.openxmlformats.org/drawingml/2006/main">
            <a:pPr algn="l">
              <a:defRPr sz="18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结合路网邻接关系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9094D-1AED-458B-96AC-5438A57F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BED0A-9BF1-4825-A7C4-A7266418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输出短时交通趋势</a:t>
            </a:r>
          </a:p>
          <a:p xmlns:a="http://schemas.openxmlformats.org/drawingml/2006/main">
            <a:pPr algn="l">
              <a:defRPr sz="15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进入区域目标与策略选择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C2F42-F7C7-4611-9E8C-5A97A9C9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3911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B8EBC-D181-444B-B59F-AAAD4C0B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MAPPO  /  路口决策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065DC-538E-4939-8AC9-9C1E58BB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2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31 维观测输入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892F9-8617-41D0-9BAC-2B918E18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2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2 个动作 logits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36560-CB72-4FA7-B2E6-927C296F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574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KEEP 保持当前绿灯</a:t>
            </a:r>
          </a:p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ADVANCE 推进相位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3E6C6-1BD1-4B7B-86A3-555F3820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FC349-35D0-4942-8860-2225A36B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最小绿、最大绿、黄灯、全红与非法动作校验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4BE9F-E65A-4421-A0F1-1005AC19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E1C06-0F4A-4BE7-9976-706DAF3C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旧材料中的 18 维接口仅作为历史版本说明，不与最终 31 维模型混用。</a:t>
            </a:r>
          </a:p>
        </p:txBody>
      </p:sp>
    </p:spTree>
    <p:extLst>
      <p:ext uri="{BB962C8B-B14F-4D97-AF65-F5344CB8AC3E}">
        <p14:creationId xmlns:p14="http://schemas.microsoft.com/office/powerpoint/2010/main" val="14053894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B972FE-13D7-4192-A9F8-59654479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59401-90CE-4ADE-AFA0-6B27B2C3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数据处理、训练与模型选择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583C3-249E-4C22-B355-00069545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73080-35D8-49FE-BC10-1DF6A84F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DC1A8-500C-420E-89FC-9AFA7E9C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256AE-604B-47E4-A4B6-CCEAB85F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763" y="2524125"/>
            <a:ext cx="8372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24FFF-188F-4482-BA39-5DF6E46E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600325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A1F23-6062-4A7A-A068-451402B6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B3B3D-1B40-4843-8CF3-FD392A4D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229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数据准备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3E99C-80F9-4565-A45D-BB2164A3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295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场景轮换、固定种子、观测归一化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CBAB7-BBAD-43AF-B20A-0D0C74C3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14500"/>
            <a:ext cx="2600325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2A127-F251-4DD8-8CF8-834E4A61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383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65EA6-9B0A-4FA7-93BF-58BD0361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24075"/>
            <a:ext cx="229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模型训练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74733-CD54-4BFA-AEF5-50C1ADCB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2295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中心化训练、分散执行、共享 Actor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707C5-189D-41DB-8D55-AD2992BD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600325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694A1-EE4A-4D00-B486-6FC384FC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383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BF1D2-0535-4982-B595-B095513F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24075"/>
            <a:ext cx="229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验证选择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DA9A1-49EB-46BC-9F82-7BD3385C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2295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固定配时和 SCOOT 对照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C1C400-36B3-4E51-AC0D-6695DE59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714500"/>
            <a:ext cx="2600325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4362B-49BB-456E-BF8F-5889AC07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8383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1ADE8-B785-424A-8960-46D51BA1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24075"/>
            <a:ext cx="229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最终交付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6D398-6662-4270-95F6-8970ABB4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76500"/>
            <a:ext cx="2295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配置、日志、曲线、权重与命令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4AFE8-5B5E-4E8F-9D01-8DE6D4E9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模型选择证据链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69406F-F147-45C9-8DD5-235B0C6E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F45791-447C-477B-B9D0-271CECCD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正式答辩需补齐训练集、验证集和测试集划分，记录主要超参数与随机种子，并用真实收敛曲线说明最终权重选择。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80FAD4-BA46-466D-BAD9-E6B719C1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3200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C59BB0-9783-4DDC-B1EF-00B2A216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6750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00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真实训练曲线</a:t>
            </a:r>
          </a:p>
          <a:p xmlns:a="http://schemas.openxmlformats.org/drawingml/2006/main">
            <a:pPr algn="ctr">
              <a:defRPr sz="1800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00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核验后替换</a:t>
            </a:r>
          </a:p>
        </p:txBody>
      </p:sp>
    </p:spTree>
    <p:extLst>
      <p:ext uri="{BB962C8B-B14F-4D97-AF65-F5344CB8AC3E}">
        <p14:creationId xmlns:p14="http://schemas.microsoft.com/office/powerpoint/2010/main" val="227025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DEF80-F72A-4728-A95A-5099BA61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3F635-B95A-4739-82E7-41A95804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模型转换与 CPU 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9F620-2B4B-4166-BD41-5CFC122B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B4C2F-082A-4C02-9783-F8CD1C01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E8A9B-DA77-413C-9DB7-AFC023FF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0C59D-D722-484F-9B0B-9F7AB830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ONNX 完成转换与一致性验证，平台默认仍运行 PyTorch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914400" y="1952625"/>
          <a:ext xmlns:a="http://schemas.openxmlformats.org/drawingml/2006/main" cx="103632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98750"/>
                <a:gridCol w="2159000"/>
                <a:gridCol w="3346450"/>
                <a:gridCol w="2159000"/>
              </a:tblGrid>
              <a:tr h="59531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模型形态</a:t>
                      </a:r>
                    </a:p>
                  </a:txBody>
                  <a:tcPr marL="91440" marR="91440" marT="45720" marB="45720">
                    <a:solidFill>
                      <a:srgbClr val="1685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体积</a:t>
                      </a:r>
                    </a:p>
                  </a:txBody>
                  <a:tcPr marL="91440" marR="91440" marT="45720" marB="45720">
                    <a:solidFill>
                      <a:srgbClr val="1685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推理条件</a:t>
                      </a:r>
                    </a:p>
                  </a:txBody>
                  <a:tcPr marL="91440" marR="91440" marT="45720" marB="45720">
                    <a:solidFill>
                      <a:srgbClr val="1685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动作一致率</a:t>
                      </a:r>
                    </a:p>
                  </a:txBody>
                  <a:tcPr marL="91440" marR="91440" marT="45720" marB="45720">
                    <a:solidFill>
                      <a:srgbClr val="16856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72E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PyTorch FP32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72E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84.7 KB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72E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平台默认加载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72E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基准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72E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ONNX FP32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72E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82.5 KB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72E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单次约 0.0074 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72E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100%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72E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ONNX INT8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72E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24.9 KB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72E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批量 64 约 0.028 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72E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约 99.4%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6F8CF-19F0-40D8-951D-2BE61E17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E0370-2E72-49A5-AE7A-0F9FCFFC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FP32 单次延迟与 INT8 批量延迟来自不同测试条件，不能直接比较速度。目标 RSU 硬件仍需实测。</a:t>
            </a:r>
          </a:p>
        </p:txBody>
      </p:sp>
    </p:spTree>
    <p:extLst>
      <p:ext uri="{BB962C8B-B14F-4D97-AF65-F5344CB8AC3E}">
        <p14:creationId xmlns:p14="http://schemas.microsoft.com/office/powerpoint/2010/main" val="4872659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B7D6C7-983E-4F2A-803E-D38CB05C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6051E-0F13-4669-A676-D98CC37E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安全控制与异常降级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778C5-A67B-4699-A99F-B8B45CE9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53E25-681D-46CE-8F36-C3AB381B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C8285-0A1A-478F-806E-4B901E10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9C3E9-B361-4ED6-9A28-F6F49EA3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模型动作必须通过交通安全约束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588A5-55E8-4F3C-B866-4229A58A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7175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4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DBA14-D22B-42E3-B8A6-F351D45C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05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4E2F8-3916-4FF7-BA58-2F868AFE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1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MAPPO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109DA-3339-40FE-96B5-66EA4755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正常推理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6E1A3-152A-46C6-921D-634F7CC1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05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014FF-5DE6-46A7-90D4-846F692C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0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1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SCOOT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A21A0-F773-4ED5-858A-09C97257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0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一级降级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07C4A-44A2-49D1-9F56-C7ED82CB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858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4DC2E-31A2-4B9A-9F33-1700921E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0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0858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100" b="1">
                <a:solidFill>
                  <a:srgbClr val="70858A"/>
                </a:solidFill>
                <a:latin typeface="WenQuanYi Micro Hei"/>
                <a:ea typeface="WenQuanYi Micro Hei"/>
                <a:cs typeface="WenQuanYi Micro Hei"/>
              </a:rPr>
              <a:t>Fixed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BC927-05E2-479B-A262-5D0CA640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90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固定配时兜底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DACC5-E4D7-4366-90EC-D6D76ACD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2AB5E-07C7-4004-BF24-1ED8846A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触发条件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088AC7-519C-4CF3-A747-95270FE0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权重缺失   推理超时   通信异常   非法动作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5C08D-F5D5-4A55-9A0D-22345FFF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现场证据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812FC0-FE77-4E89-9708-D84790DD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86325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当前算法、触发原因、降级时间与恢复状态同时显示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C8270-3BE4-43ED-BAC1-0D0C195B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5B34B5-2649-4E20-BC5F-60F4A701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安全网补充实验未触发防溢出条件，不能表述为已经产生安全增益。</a:t>
            </a:r>
          </a:p>
        </p:txBody>
      </p:sp>
    </p:spTree>
    <p:extLst>
      <p:ext uri="{BB962C8B-B14F-4D97-AF65-F5344CB8AC3E}">
        <p14:creationId xmlns:p14="http://schemas.microsoft.com/office/powerpoint/2010/main" val="17906134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91FB91-5C0C-4458-B9D0-59BA6F85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50CEB-ED02-4E74-904E-A4F12A86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系统实现与现场运行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8B86B-0819-4550-9E61-64AD2F37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C7DFD-E91E-438A-83B1-2DFBD1EF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1DEBF-0D46-46B6-A319-84F94E6D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F262F-3C5C-4977-8CC6-AE8EFA0A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从启动到报告导出的连续演示链路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C9AEC-BC54-4DA0-842B-3909A297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前端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00990-DBF4-4805-B42C-B7D68980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809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Vue 3、Canvas、ECharts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F88BA-F798-409F-A6E9-04376AE2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路网、车辆、指标与算法状态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26C1E-13BA-436D-A226-5FDEF4FD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7A6B9-C75E-473C-8A58-74676797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后端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4499B-3813-40DC-A088-5A55A9F6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860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FastAPI、WebSocket、TraCI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0B58F-D827-456F-9890-23E60EE4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仿真控制与实时通信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D5E3A-6C2C-44B8-8076-7D09684A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E75BD-F84A-4A22-823E-2439494B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CB6A5-3AD0-44F8-9AF2-D5BC6D61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623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3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Docker Compose、Windows 启动脚本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1F099-AA8F-4D46-9248-190ABE40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降低复现门槛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D35EF-6D5A-4F85-B5EB-5EDA0B0E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23E26-66CE-4E88-ABC0-92C3736C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F3DD05-3CE6-40D4-9B71-79F17E1C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386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实时 KPI、事件状态、评估报告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33947-0609-48ED-9D79-D3C9C773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保存实验结果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8DC1C-6B60-4DE5-A032-EA4EECF8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506DA-3A86-4537-8A99-6BD228C5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演示顺序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208D11-AFF0-4D84-9F4D-3E40A724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81625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启动  →  载入路网  →  注入事件  →  算法切换  →  导出报告</a:t>
            </a:r>
          </a:p>
        </p:txBody>
      </p:sp>
    </p:spTree>
    <p:extLst>
      <p:ext uri="{BB962C8B-B14F-4D97-AF65-F5344CB8AC3E}">
        <p14:creationId xmlns:p14="http://schemas.microsoft.com/office/powerpoint/2010/main" val="8578249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B2F33E-9696-4CFC-961E-CAF78519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71854-0517-41A7-9619-0368C9F1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实验设计与复现条件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84097-62BD-41D7-884B-DB18DCD2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E6DB6-8233-4E7F-9291-1A9492FE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86492-0264-4FAD-B6EF-D35778A8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53356-89FB-4337-B0AE-186FAC41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先固定条件，再比较算法结果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2F5B5-D8EA-4625-BA4D-A6E258CC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路网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DC28D-776F-4856-8D55-94DCF598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同一网络文件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581A5-0937-4DE1-9AA4-87C33FBB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90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车流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1142C-9FD4-4D55-B3E2-8F4C0E34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同一需求文件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05995-2C0D-4D76-854E-45D3D910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56090-2DE9-481E-845F-546C7DCA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同一扰动配置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91934-812B-4AF0-BE6E-E431CC71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A5629-EB6A-4C70-8790-A1DC5703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代码与模型可追溯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340CB-F248-49EC-BF4A-CC91A449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4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30E31-3387-4218-BE72-69E50BE3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33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1BB88-0253-4ECF-BE21-DD2D5CDF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0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0D1121-2AB9-4DAE-94F5-9AFF9572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仿真开始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545AE-EFAA-4281-8D9F-943EDE06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733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2D293-64D2-471F-ABE6-FFB5F071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0957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90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5E3EA-D3DE-4E0C-BCE6-63233A23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624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控制接管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5445B-E68D-42FC-982A-A36F15BE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33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594B3-8749-4C60-924D-6FACB11C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0957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每 5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D1241-05BF-4391-A65C-F566A624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3624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策略决策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5AB00-E0A1-4952-B274-80FCF2D3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733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6F10CD-D6F5-4E12-BC5C-75F9E08D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957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每 30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971019-1840-40FC-AA31-33C5DD01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624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指标采样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C202B-1662-40E1-9035-7C6D228A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733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E84FE2-5A7E-43B3-AF96-1A5FF0F2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0957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结束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74F4B5-C1F9-45FA-919D-E0C91378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3624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保存原始数据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FEFE2-3123-4ACA-8DA1-3E420A58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9EFB55-2D24-4FCB-B2F1-91177A08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定稿页补充实际代码 commit、模型文件哈希、SUMO 与 Python 版本。</a:t>
            </a:r>
          </a:p>
        </p:txBody>
      </p:sp>
    </p:spTree>
    <p:extLst>
      <p:ext uri="{BB962C8B-B14F-4D97-AF65-F5344CB8AC3E}">
        <p14:creationId xmlns:p14="http://schemas.microsoft.com/office/powerpoint/2010/main" val="3088088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3CBF7-6BBC-4995-B0EA-7BBDAEF2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36702-9938-43C6-BF16-E06F45E4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标准车流横向对比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F4E68-1B8A-4E09-A462-67FDCC66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7DBFC-46EE-49C7-9F60-3CAB62AF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3C33A-644B-4F07-A0C5-FF7C3812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5F287-B0A8-4167-A6CB-223C0650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MAPPO 相比 SCOOT 改善等待与速度，固定配时在该窗口仍更优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5048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d74febff1741dd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905500" y="1952625"/>
          <a:ext xmlns:a="http://schemas.openxmlformats.org/drawingml/2006/main" cx="5048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63774bac9443d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21119-2379-4667-8CE1-8E36F574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平均速度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EEF66-95F0-4605-B354-F3116898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平均等待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DCFCF-5682-4679-8F78-6932566C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6D3A2-BA01-4DCD-990D-9D139AD3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在网车辆数只表示某一时刻仍在路网中的车辆，不等于吞吐。最终排序仍需完成量与 P95 等尾部指标支持。</a:t>
            </a:r>
          </a:p>
        </p:txBody>
      </p:sp>
    </p:spTree>
    <p:extLst>
      <p:ext uri="{BB962C8B-B14F-4D97-AF65-F5344CB8AC3E}">
        <p14:creationId xmlns:p14="http://schemas.microsoft.com/office/powerpoint/2010/main" val="16432172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360C4-5338-484D-B492-E9EC0A93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357B4-B91F-4C65-A300-99930DCD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热点场景与算法边界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48B9C-FDFE-4610-931E-B84C80B4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3754A-7E60-4C07-8CF2-A1691B63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DFB7F-35C0-4D28-9B31-66D34983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7ADAE-6EBA-41A8-B670-89090249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可区分增益集中在临界负荷与空间热点窗口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0A209-9F95-49ED-8FB2-D9C84784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2197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02e7e8a904f83"/>
          <a:stretch xmlns:a="http://schemas.openxmlformats.org/drawingml/2006/main"/>
        </p:blipFill>
        <p:spPr>
          <a:xfrm xmlns:a="http://schemas.openxmlformats.org/drawingml/2006/main">
            <a:off x="742950" y="2337180"/>
            <a:ext cx="4953000" cy="205029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63176-C250-4410-A599-D1D56DDC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55245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08415c357494f"/>
          <a:stretch xmlns:a="http://schemas.openxmlformats.org/drawingml/2006/main"/>
        </p:blipFill>
        <p:spPr>
          <a:xfrm xmlns:a="http://schemas.openxmlformats.org/drawingml/2006/main">
            <a:off x="6191250" y="2214531"/>
            <a:ext cx="5257800" cy="229558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4E7FF-34B2-4D2C-A6B5-45170D05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891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B041A-1854-4CA7-9ECD-3A7E10EF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62.5%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E822F-649C-4FCC-8E1E-12B3A5DB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86425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约 314 辆投放时，到达数 8 → 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9FDEA-8F57-4015-86A2-C650298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681F8-47AC-463E-9D4D-02E746BC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53025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3.6–4.1 m/s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96F9A-CDEB-4B8F-84C1-3DC2E9E0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686425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360–480 s 后期平均速度</a:t>
            </a:r>
          </a:p>
        </p:txBody>
      </p:sp>
    </p:spTree>
    <p:extLst>
      <p:ext uri="{BB962C8B-B14F-4D97-AF65-F5344CB8AC3E}">
        <p14:creationId xmlns:p14="http://schemas.microsoft.com/office/powerpoint/2010/main" val="11847430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655B98-5B76-4595-BAD7-D4C2EB31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FD83C-DE3E-4E9E-B6B2-2F9325BF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创新、标准化与推广价值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1BAEE-EB55-4072-8B0C-0CBFEF47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740CD-F99C-4A3B-A31E-8B66DCC4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4D100-F2D2-4117-8F21-89745C05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DFCB9-1BA5-408F-85A2-E1D25B9B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贡献来自工程闭环与可验证性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718D5-02FA-4937-BCD4-6ADF9708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5C5E7-B922-4F74-B47E-96E64701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1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控制闭环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5B5FC-FDBC-4A18-8746-66E85A6F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预测结果进入区域协调，路口动作与车辆路径共同反馈至仿真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674B1-F153-45E0-84AE-ACDD5A61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对应证据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772DA-0537-4898-B3D0-6A0FD066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系统架构与运行日志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7741F-8A07-4951-AD8F-F7E0F99F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57375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89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F5278-BF9A-4FAB-B325-82B0CC51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1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工程接口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4CB0C-8016-4B6F-90EC-AC647920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固定配时、SCOOT 与 MAPPO 使用统一接入方式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3D8D1-45DB-4C60-ACDC-53321C30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62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对应证据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2F446-935D-42F6-996E-3F109C73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576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接口、降级与一致性测试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EAD5B-B576-4AA3-80A0-E2D2C608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57375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81600-183B-4D71-ACAB-BDCFFDED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1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评测规程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CC260-0842-4F41-B760-3A58E785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同路网、同车流、同事件与同种子完成复现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AB470A-1E44-46E1-8A4F-DCC14455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62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对应证据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0F6F6-5FF8-4F3D-8D7D-AD20D9BC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576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场景配置与原始数据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D964FF-FB20-43CC-A510-E2A38F2D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9B362-7B2C-46FD-9712-FC3C3C7E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当前成果定位为城市交通 AI 验证平台与测试规程参考，不表述为真实道路生产部署。</a:t>
            </a:r>
          </a:p>
        </p:txBody>
      </p:sp>
    </p:spTree>
    <p:extLst>
      <p:ext uri="{BB962C8B-B14F-4D97-AF65-F5344CB8AC3E}">
        <p14:creationId xmlns:p14="http://schemas.microsoft.com/office/powerpoint/2010/main" val="8961231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11761E-81B6-44D3-9999-168D8F79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9FB25-3230-4A30-ABE0-C8741C67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总结与团队分工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6A989-A2A0-4CBC-883D-F05D6697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D85B4-A5AF-4954-B4AB-C9FF44CB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FFEFB-D1D4-473D-B089-3471212F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7A3FB-7C24-4B3B-B045-C2195F60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9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项目形成了从仿真、模型到安全运行与评估的完整链路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A6E2C-3F51-434C-AA7D-5EDE1C19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763" y="2738438"/>
            <a:ext cx="8372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60918-F428-436A-BC5C-E5C8A85E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600325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F4F67-4601-45B6-B07B-949FFED3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DFD20-5C4A-40EE-8ACC-F830D4D9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29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仿真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321BB-5970-4472-9596-B7BC5BCF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2955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20 路口与实时状态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5C271-0507-4726-B9AA-1D455242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47875"/>
            <a:ext cx="2600325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720AA-BA12-4445-9418-A4135843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717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BECC5-24C3-42C5-8609-16B04C13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57450"/>
            <a:ext cx="229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算法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56DC4-BE7E-4019-A200-554786D6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09875"/>
            <a:ext cx="22955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STGCN 与 MAPPO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AA1F0-1021-43CC-8F67-951066ED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2600325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12040-CC06-4F0A-8881-6900F0ED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DB5D6-8E36-42DC-A568-85E1E707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29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部署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F56A49-B409-4F1F-B7EB-960FD398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9875"/>
            <a:ext cx="22955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ONNX 转换验证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DE441-EB61-45DF-8E2A-F2A3C8BC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047875"/>
            <a:ext cx="2600325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6859B-9CD9-43FE-A7D4-3FE25AFA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717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93C31-1A61-4E20-AE3A-1C1B880A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57450"/>
            <a:ext cx="229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评估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466A9-1C49-436B-8974-C6D2927C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09875"/>
            <a:ext cx="22955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对照实验与异常降级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9399A-17D4-4971-885F-61FEB35F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团队分工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1A2F0E-3B8B-4738-9DA9-7F07ED77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场景与仿真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67C52A-1155-41B2-B3DE-C72C0C72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成员姓名待填写</a:t>
            </a:r>
          </a:p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对应交付物待核实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DBD244-A50C-4639-87B4-2787650A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86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算法与模型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633EED-B085-412B-8807-5C816339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672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成员姓名待填写</a:t>
            </a:r>
          </a:p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对应交付物待核实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511B26-783D-4695-8916-DF2665D1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平台与接口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C73E59-ADB1-4226-B19C-8A544AEF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成员姓名待填写</a:t>
            </a:r>
          </a:p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对应交付物待核实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E5FF73-01C9-4E47-9EC7-44EA801D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86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实验与材料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A60CAC-22B5-4F96-9073-D9887DB0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672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成员姓名待填写</a:t>
            </a:r>
          </a:p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对应交付物待核实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2AC8C6-F052-491A-95E2-C1986A70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1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谢谢各位评委，欢迎提问</a:t>
            </a:r>
          </a:p>
        </p:txBody>
      </p:sp>
    </p:spTree>
    <p:extLst>
      <p:ext uri="{BB962C8B-B14F-4D97-AF65-F5344CB8AC3E}">
        <p14:creationId xmlns:p14="http://schemas.microsoft.com/office/powerpoint/2010/main" val="19152463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B6D4DB-699A-425C-B5BA-315DCBEB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D5522-A1C7-4754-9D31-4DE14F88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MAPPO 观测与动作接口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33C96-3A91-4058-AFB0-67664082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EEB53-B7B3-4BE6-A6CC-278C9284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D4B92-DDD5-4994-B0B6-C17F88F1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89CCB-9DBA-444B-BF9F-00F22C6F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当前可确认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C24ED-5213-4089-AD68-21406711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答辩前补齐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BDDC5-2960-48D6-A43E-80A9FCB6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56578-83E1-4950-9BB0-E8A8160E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9CDA9-79D2-4146-8BEA-8A591FC7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已确认：最终接口为 31 维观测输入、2 个动作 logits 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662FF-3C86-4271-97A0-369CC3DC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0C763-6E76-4C6D-A921-6C219254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动作语义：KEEP 保持当前绿灯，ADVANCE 推进相位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FBAA9-F8D4-45CD-9D2A-96187CE7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E58FD-5FCB-43F4-909E-6EB62C93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从模型接口自动导出 31 个字段名称、范围与归一化方式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C2EB3-25DF-4F1D-AA39-A5368B35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4623E-070B-4CF6-B5C5-A86D1B97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051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将 18 维模型标为历史版本，并说明对应权重与停用原因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9E132-6EF6-4A1D-8AC2-421F2DD2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29482-9DCD-46C8-BB3F-6C4202E6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本页只在评委追问对应技术细节、证据来源或复现方法时展开。</a:t>
            </a:r>
          </a:p>
        </p:txBody>
      </p:sp>
    </p:spTree>
    <p:extLst>
      <p:ext uri="{BB962C8B-B14F-4D97-AF65-F5344CB8AC3E}">
        <p14:creationId xmlns:p14="http://schemas.microsoft.com/office/powerpoint/2010/main" val="8408179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AC807-204A-4B2C-9C8E-0E856B77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312DB-1CBB-4AE0-8E37-64521B04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MAPPO 奖励函数与训练参数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3B817-156F-4B2D-8E03-52FBC2F1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5CD8E-5AB0-468F-867F-76FD6205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6F3A1-F915-4853-BA9E-7EC28ED8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4A819-C91C-4DA7-8D94-E1C48BE0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当前可确认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8E0C0-DFB3-4BFE-955D-7A33B17F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答辩前补齐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7AC34-11C2-4DAA-9DDA-27B1D5FA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3C863-3D5B-4074-8D20-167C5E40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387AC-C142-47FF-ABF8-41954272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训练方式：中心化训练、分散执行、Actor 参数共享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46CA1-96CB-40B8-B8E5-87449E92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9E4DA-CE13-46DC-8659-21203804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对照策略：固定配时与 SCOOT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98B51-08B5-4E4E-80F2-D4A8DA87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3DCA3-0572-4504-A69A-1B4C1A0A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奖励项、权重、主要超参数与随机种子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3E7AA-2925-496B-BC87-15841E99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AE0A4-FE8A-4460-AE5C-5B49F81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051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训练曲线、验证指标与最终权重选择依据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1A64A-773F-48FC-8D3C-D8ECE66D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B249D-43D9-4BAC-8BD9-1859033D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本页只在评委追问对应技术细节、证据来源或复现方法时展开。</a:t>
            </a:r>
          </a:p>
        </p:txBody>
      </p:sp>
    </p:spTree>
    <p:extLst>
      <p:ext uri="{BB962C8B-B14F-4D97-AF65-F5344CB8AC3E}">
        <p14:creationId xmlns:p14="http://schemas.microsoft.com/office/powerpoint/2010/main" val="1410005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6D17D-AD9B-48F5-A2FA-52387877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A213E-9955-4131-BE34-655F7641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STGCN 输入输出与链路证据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98756-3B52-4E6C-ACAE-B9D749B9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9C4E0-485C-44D0-BBB1-A1775E47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FBA84-F3CD-4AA9-BCEC-BBDDC45B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BF58C-F17B-474D-883E-86785DF2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当前可确认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29F6E-50C4-4B99-AB9A-5196F3AB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答辩前补齐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9141F-BEBF-4F60-BBC0-414E81B6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A6B10-3657-401D-9182-073704C0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5DE24-ABC3-4C82-9C34-9B09B0EE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输入包括历史流量、速度、占有率与邻接关系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76E88-6832-479E-9189-E4733FCE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5F30A-3E2C-441E-A757-B7C2D9E0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模型职责为识别短时交通趋势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A810C-ACFF-4ECD-8BA5-4F414527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4017C-B61E-4104-B55D-66144456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历史窗口、预测步长和验证指标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C393B-E555-46E6-9D29-E5BA2DEA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04CE2-A5CD-4630-94F7-69E0796E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051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预测结果进入区域协调的真实调用日志或消融结果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5DA61-437E-4901-A6D9-5D891C88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EBEE8-5C71-4174-AED5-0168B6E8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本页只在评委追问对应技术细节、证据来源或复现方法时展开。</a:t>
            </a:r>
          </a:p>
        </p:txBody>
      </p:sp>
    </p:spTree>
    <p:extLst>
      <p:ext uri="{BB962C8B-B14F-4D97-AF65-F5344CB8AC3E}">
        <p14:creationId xmlns:p14="http://schemas.microsoft.com/office/powerpoint/2010/main" val="2296039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2F41E-9603-4F11-A299-0FCB27A6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1DD0C-CCFC-4E88-A19A-3E4D70CB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ONNX 转换误差与推理环境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C6199-4A46-4214-B591-A183DA24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E5C6F-0653-4E11-B91C-DDDDF422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FD754-180A-4E54-96BF-00AAF4C6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5E1B0-CDCB-4870-900C-7422B43C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当前可确认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2E170-700A-4B94-9061-FF627ABB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答辩前补齐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A56D7-A197-406F-B94D-2C1FCA59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2AF58-FE53-4DB1-A580-522AE53A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40FDB-61F6-4E0A-A2FF-C5513B40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FP32：82.5 KB，单次约 0.0074 ms，动作一致率 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88954-5632-467A-8580-015107C6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22F6F-42E4-4263-B70D-C7C4C793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INT8：24.9 KB，批量 64 约 0.028 ms，动作一致率约 99.4%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E265E-1C45-45CD-B216-CD517D18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116C4-00D9-452A-9CFA-8D21BEA9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CPU 型号、运行库版本与完整复现命令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093D2-EA07-42FC-8F5A-CC6F80B7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B3D70-8641-49EF-8132-BF35E8F9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051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逐输出误差统计及目标 RSU 实测结果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96331-0587-4E50-9440-A5C087E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E5F07-14DB-41A7-B477-4C6A5AB2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本页只在评委追问对应技术细节、证据来源或复现方法时展开。</a:t>
            </a:r>
          </a:p>
        </p:txBody>
      </p:sp>
    </p:spTree>
    <p:extLst>
      <p:ext uri="{BB962C8B-B14F-4D97-AF65-F5344CB8AC3E}">
        <p14:creationId xmlns:p14="http://schemas.microsoft.com/office/powerpoint/2010/main" val="482910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01F61-D3B1-427F-928F-97D2581E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D2E9B-D02A-47EF-B1B8-03B55157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安全降级故障日志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E4EC9-911A-4B9B-B8A6-7BA1158D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0BF64-106A-445C-8DE4-DA6BE26C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90636-153C-45C8-AE36-1172B0A2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6946C-5142-4ED5-AF97-972CB805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当前可确认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A282F-C501-4A57-BAA1-2295D9B4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答辩前补齐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E9050-77C6-4462-BD9F-B3860BCA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31BBD-D3F8-4DE4-AD22-35EA6641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65EC5-5015-4B02-8BBD-3A330B99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降级顺序：MAPPO、SCOOT、Fixed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41C27-E11E-4992-AF46-D33BF43E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3A7B9-27BE-4A8F-9135-A9833571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触发条件：权重缺失、推理超时、通信异常与非法动作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16115-2E70-4FE9-922D-13B77828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EEEF9-21F9-4939-A1DD-FD8AEDFB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每类故障的触发时间、原算法与恢复结果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5E9D6-6F12-4DE6-B0AD-4EA49149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BD931-91DA-4877-9B24-29A7D7AC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051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一段完整故障注入录屏及同时间戳日志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08D43-DBA4-48FE-BA4E-AB0E3A97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956B2-A12C-4DE8-BDCF-5BA15859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本页只在评委追问对应技术细节、证据来源或复现方法时展开。</a:t>
            </a:r>
          </a:p>
        </p:txBody>
      </p:sp>
    </p:spTree>
    <p:extLst>
      <p:ext uri="{BB962C8B-B14F-4D97-AF65-F5344CB8AC3E}">
        <p14:creationId xmlns:p14="http://schemas.microsoft.com/office/powerpoint/2010/main" val="20739739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93737-1E7C-40C8-8423-1FA8696B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49176-6A5B-4EA2-A3E7-6CA515CD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完整实验参数与原始数据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B8208-B5E6-43DE-838B-9E37F368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3701B-5EEB-484E-A45D-344C36CE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BADA2-46FA-47E5-A0AA-6FCF2B1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DE0F6-EFA9-46B5-96B2-89CC128E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当前可确认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13BC8-ACC5-447C-8679-7D007CAA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答辩前补齐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4A5BF-0E15-4B9E-AC5F-55F75DB7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CFCD8-1402-4646-BC73-BD14ADF8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37BBD-13C0-4F8D-BAD0-09C0C4E7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预热 90 s，决策周期 5 s，采样周期 30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556B8-8927-4D6C-B79D-0C9F8FEB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DD716-A0E8-4612-8102-57590D9D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对照实验固定路网、车流、事件与采样规则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1B5A1-43EF-4967-8B7E-4EE999D4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34424-7B8F-4E0A-B9AE-592B157A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代码 commit、模型哈希、SUMO 与 Python 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E4BE3-DC6E-448C-93B9-2C56E718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BFE63-247D-4E6E-AE2C-05AC43DA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051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原始 CSV 或 JSON 位置、场景配置与作图命令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6DBAC-56AB-4AEF-B1C0-8AC00604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C3BD7-F267-424D-8231-DEBF64CC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本页只在评委追问对应技术细节、证据来源或复现方法时展开。</a:t>
            </a:r>
          </a:p>
        </p:txBody>
      </p:sp>
    </p:spTree>
    <p:extLst>
      <p:ext uri="{BB962C8B-B14F-4D97-AF65-F5344CB8AC3E}">
        <p14:creationId xmlns:p14="http://schemas.microsoft.com/office/powerpoint/2010/main" val="10854319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E9D6F-2755-476C-ADA8-8B79CCBF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C8363-2272-45B1-A5C1-3560B913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接口字段与系统状态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2F1B7-58F8-40D4-A918-C7BC031D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F3D56-BE03-4B5F-ACD1-3B1F7F5E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FE52D-F21E-4094-AD76-870836A2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CB8D2-B36D-49B5-AD4D-F56DF740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当前可确认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C118A-064B-4A20-9AB2-32A2C88B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答辩前补齐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9F218-BF7C-421B-AD89-04E56A3A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55206-7033-468A-9CA6-EA1D42D6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C0943-B803-4DAF-BB88-FA1075B8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REST API 负责配置与查询，WebSocket 传输实时状态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11807-92E4-4F9A-95F3-9301128B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2212D-FD11-41B0-A421-AD642027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前端需要显示仿真时间、当前方案、最新动作与降级状态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969BC-C7AF-412D-A804-D91CB3D5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66340-33C8-415B-891F-D2765619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最终接口字段字典与示例响应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5F523-7489-4113-8159-18CCDF3D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AB31D-51D7-4772-BB4D-F0B02ECD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051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带标注的真实系统界面截图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8B00A-C2E1-463A-8443-ADCCD8B8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5EA93C-63B8-4CF9-9DB6-7804FB3C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本页只在评委追问对应技术细节、证据来源或复现方法时展开。</a:t>
            </a:r>
          </a:p>
        </p:txBody>
      </p:sp>
    </p:spTree>
    <p:extLst>
      <p:ext uri="{BB962C8B-B14F-4D97-AF65-F5344CB8AC3E}">
        <p14:creationId xmlns:p14="http://schemas.microsoft.com/office/powerpoint/2010/main" val="105995546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D6735-DBD7-4889-851C-8B32EB97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0833B-869C-4D88-AEED-4C013518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Webster 与跨拓扑验证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D07DC-1315-4802-99C6-37BE8F69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CEEF9-BB84-40D6-BA21-4AACDA89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C3F83-DECA-474B-A606-04DCD171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A0B71-ADD0-4B32-ACF8-91D04B5E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当前可确认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BC52D-C19A-4596-84DD-D819B46E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答辩前补齐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76D2B-B4F8-4906-9A98-B6E3FB64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2541C-27E9-4E1B-A8A8-31781ADD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65957-1437-494E-B3E9-8BE109E0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主材料覆盖四个典型路口 Webster 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E3293-D193-4AC4-872F-02C0D983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A355A-7F05-462F-9BE0-6A02CC4F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计划验证 grid 9、grid 25 与 spider 13 等未见拓扑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4869B-0A0A-448A-9DD9-786AFDDC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4D5B8-539F-4103-A941-E9C9032E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补齐跨拓扑实验原始数据与对比图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D95D9-7C58-4C40-9930-A37F2E0D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D1A6A-B53F-433D-B9F4-CB9662E6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051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明确主路网模型和路网无关模型的适用范围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CDA367-06D9-4814-B6BB-D44DE3E8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DAB03-12F3-4EFF-9D87-E20D63CC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本页只在评委追问对应技术细节、证据来源或复现方法时展开。</a:t>
            </a:r>
          </a:p>
        </p:txBody>
      </p:sp>
    </p:spTree>
    <p:extLst>
      <p:ext uri="{BB962C8B-B14F-4D97-AF65-F5344CB8AC3E}">
        <p14:creationId xmlns:p14="http://schemas.microsoft.com/office/powerpoint/2010/main" val="2010298639"/>
      </p:ext>
    </p:extLst>
  </p:cSld>
</p:sld>
</file>

<file path=ppt/theme/theme1.xml><?xml version="1.0" encoding="utf-8"?>
<a:theme xmlns:a="http://schemas.openxmlformats.org/drawingml/2006/main" name="ChatGPT">
  <a:themeElements>
    <a:clrScheme name="Eco City">
      <a:dk1>
        <a:srgbClr val="111111"/>
      </a:dk1>
      <a:lt1>
        <a:srgbClr val="FFFFFF"/>
      </a:lt1>
      <a:dk2>
        <a:srgbClr val="17372E"/>
      </a:dk2>
      <a:lt2>
        <a:srgbClr val="F6F2E8"/>
      </a:lt2>
      <a:accent1>
        <a:srgbClr val="16856A"/>
      </a:accent1>
      <a:accent2>
        <a:srgbClr val="C8913D"/>
      </a:accent2>
      <a:accent3>
        <a:srgbClr val="80A998"/>
      </a:accent3>
      <a:accent4>
        <a:srgbClr val="A45F38"/>
      </a:accent4>
      <a:accent5>
        <a:srgbClr val="587A8C"/>
      </a:accent5>
      <a:accent6>
        <a:srgbClr val="9A8060"/>
      </a:accent6>
      <a:hlink>
        <a:srgbClr val="16856A"/>
      </a:hlink>
      <a:folHlink>
        <a:srgbClr val="C8913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 Cit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2026-09-11T01:29:35.8980000Z</dcterms:created>
  <dcterms:modified xsi:type="dcterms:W3CDTF">2026-09-11T01:29:35.8980000Z</dcterms:modified>
</coreProperties>
</file>
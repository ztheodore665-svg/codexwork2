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ae2c486364d3d" /><Relationship Type="http://schemas.openxmlformats.org/officeDocument/2006/relationships/extended-properties" Target="/docProps/app.xml" Id="R4a7eb3effffd4095" /><Relationship Type="http://schemas.openxmlformats.org/officeDocument/2006/relationships/officeDocument" Target="/ppt/presentation.xml" Id="Rfed3ac9d18c4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02624356344b6"/>
  </p:sldMasterIdLst>
  <p:notesMasterIdLst>
    <p:notesMasterId xmlns:r="http://schemas.openxmlformats.org/officeDocument/2006/relationships" r:id="R27bde35e4a8b40e4"/>
  </p:notesMasterIdLst>
  <p:sldIdLst>
    <p:sldId xmlns:r="http://schemas.openxmlformats.org/officeDocument/2006/relationships" id="256" r:id="R8ce67d0b821b4049"/>
    <p:sldId xmlns:r="http://schemas.openxmlformats.org/officeDocument/2006/relationships" id="257" r:id="Rdc7f83da0f484121"/>
    <p:sldId xmlns:r="http://schemas.openxmlformats.org/officeDocument/2006/relationships" id="258" r:id="Rce075df8efaa4b7c"/>
    <p:sldId xmlns:r="http://schemas.openxmlformats.org/officeDocument/2006/relationships" id="259" r:id="Rd2163ba2dd1243f4"/>
    <p:sldId xmlns:r="http://schemas.openxmlformats.org/officeDocument/2006/relationships" id="260" r:id="R1997cc1c23d24a17"/>
    <p:sldId xmlns:r="http://schemas.openxmlformats.org/officeDocument/2006/relationships" id="261" r:id="R576b685be608432d"/>
    <p:sldId xmlns:r="http://schemas.openxmlformats.org/officeDocument/2006/relationships" id="262" r:id="Rd5f78c11e98f44e2"/>
    <p:sldId xmlns:r="http://schemas.openxmlformats.org/officeDocument/2006/relationships" id="263" r:id="R2698653145674263"/>
    <p:sldId xmlns:r="http://schemas.openxmlformats.org/officeDocument/2006/relationships" id="264" r:id="Rf1050f4b25fe4d6a"/>
    <p:sldId xmlns:r="http://schemas.openxmlformats.org/officeDocument/2006/relationships" id="265" r:id="Rd7eb9edfffd04fe7"/>
    <p:sldId xmlns:r="http://schemas.openxmlformats.org/officeDocument/2006/relationships" id="266" r:id="Rb747a99a81ea49e0"/>
    <p:sldId xmlns:r="http://schemas.openxmlformats.org/officeDocument/2006/relationships" id="267" r:id="R12b1c38c28d640e0"/>
    <p:sldId xmlns:r="http://schemas.openxmlformats.org/officeDocument/2006/relationships" id="268" r:id="R5d0e79ec61ec4015"/>
    <p:sldId xmlns:r="http://schemas.openxmlformats.org/officeDocument/2006/relationships" id="269" r:id="R52edf21c1ab243a1"/>
    <p:sldId xmlns:r="http://schemas.openxmlformats.org/officeDocument/2006/relationships" id="270" r:id="Re3a1a9fce59c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4bee4e3a24406" /><Relationship Type="http://schemas.openxmlformats.org/officeDocument/2006/relationships/slideMaster" Target="/ppt/slideMasters/slideMaster1.xml" Id="R4a602624356344b6" /><Relationship Type="http://schemas.openxmlformats.org/officeDocument/2006/relationships/notesMaster" Target="/ppt/notesMasters/notesMaster1.xml" Id="R27bde35e4a8b40e4" /><Relationship Type="http://schemas.openxmlformats.org/officeDocument/2006/relationships/presProps" Target="/ppt/presProps.xml" Id="Re1d32b28d5c84ba7" /><Relationship Type="http://schemas.openxmlformats.org/officeDocument/2006/relationships/tableStyles" Target="/ppt/tableStyles.xml" Id="R36a1bef133454475" /><Relationship Type="http://schemas.openxmlformats.org/officeDocument/2006/relationships/slide" Target="/ppt/slides/slide1.xml" Id="R8ce67d0b821b4049" /><Relationship Type="http://schemas.openxmlformats.org/officeDocument/2006/relationships/slide" Target="/ppt/slides/slide2.xml" Id="Rdc7f83da0f484121" /><Relationship Type="http://schemas.openxmlformats.org/officeDocument/2006/relationships/slide" Target="/ppt/slides/slide3.xml" Id="Rce075df8efaa4b7c" /><Relationship Type="http://schemas.openxmlformats.org/officeDocument/2006/relationships/slide" Target="/ppt/slides/slide4.xml" Id="Rd2163ba2dd1243f4" /><Relationship Type="http://schemas.openxmlformats.org/officeDocument/2006/relationships/slide" Target="/ppt/slides/slide5.xml" Id="R1997cc1c23d24a17" /><Relationship Type="http://schemas.openxmlformats.org/officeDocument/2006/relationships/slide" Target="/ppt/slides/slide6.xml" Id="R576b685be608432d" /><Relationship Type="http://schemas.openxmlformats.org/officeDocument/2006/relationships/slide" Target="/ppt/slides/slide7.xml" Id="Rd5f78c11e98f44e2" /><Relationship Type="http://schemas.openxmlformats.org/officeDocument/2006/relationships/slide" Target="/ppt/slides/slide8.xml" Id="R2698653145674263" /><Relationship Type="http://schemas.openxmlformats.org/officeDocument/2006/relationships/slide" Target="/ppt/slides/slide9.xml" Id="Rf1050f4b25fe4d6a" /><Relationship Type="http://schemas.openxmlformats.org/officeDocument/2006/relationships/slide" Target="/ppt/slides/slide10.xml" Id="Rd7eb9edfffd04fe7" /><Relationship Type="http://schemas.openxmlformats.org/officeDocument/2006/relationships/slide" Target="/ppt/slides/slide11.xml" Id="Rb747a99a81ea49e0" /><Relationship Type="http://schemas.openxmlformats.org/officeDocument/2006/relationships/slide" Target="/ppt/slides/slide12.xml" Id="R12b1c38c28d640e0" /><Relationship Type="http://schemas.openxmlformats.org/officeDocument/2006/relationships/slide" Target="/ppt/slides/slide13.xml" Id="R5d0e79ec61ec4015" /><Relationship Type="http://schemas.openxmlformats.org/officeDocument/2006/relationships/slide" Target="/ppt/slides/slide14.xml" Id="R52edf21c1ab243a1" /><Relationship Type="http://schemas.openxmlformats.org/officeDocument/2006/relationships/slide" Target="/ppt/slides/slide15.xml" Id="Re3a1a9fce59c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a73ece2dcd4e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510192fd53414b" /><Relationship Type="http://schemas.openxmlformats.org/officeDocument/2006/relationships/notesMaster" Target="/ppt/notesMasters/notesMaster1.xml" Id="R8480d21a2fd3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aaedefba44144" /><Relationship Type="http://schemas.openxmlformats.org/officeDocument/2006/relationships/notesMaster" Target="/ppt/notesMasters/notesMaster1.xml" Id="Raf8891865f14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224732dfe470d" /><Relationship Type="http://schemas.openxmlformats.org/officeDocument/2006/relationships/notesMaster" Target="/ppt/notesMasters/notesMaster1.xml" Id="Ra023145286b6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7b8c7aff14b67" /><Relationship Type="http://schemas.openxmlformats.org/officeDocument/2006/relationships/notesMaster" Target="/ppt/notesMasters/notesMaster1.xml" Id="R698a333e068c4e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a281e7f7640c4" /><Relationship Type="http://schemas.openxmlformats.org/officeDocument/2006/relationships/notesMaster" Target="/ppt/notesMasters/notesMaster1.xml" Id="R9be1ccd3f31b4d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051a55e0c64351" /><Relationship Type="http://schemas.openxmlformats.org/officeDocument/2006/relationships/notesMaster" Target="/ppt/notesMasters/notesMaster1.xml" Id="Rafe5943f625e4f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680dd970dd41cc" /><Relationship Type="http://schemas.openxmlformats.org/officeDocument/2006/relationships/notesMaster" Target="/ppt/notesMasters/notesMaster1.xml" Id="Rb724ed2b02864d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6f9db2ceb4a9b" /><Relationship Type="http://schemas.openxmlformats.org/officeDocument/2006/relationships/notesMaster" Target="/ppt/notesMasters/notesMaster1.xml" Id="R3a11c6883ee4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c9d3754fb243de" /><Relationship Type="http://schemas.openxmlformats.org/officeDocument/2006/relationships/notesMaster" Target="/ppt/notesMasters/notesMaster1.xml" Id="Re968f2a6fc0f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4ea7c64d39410f" /><Relationship Type="http://schemas.openxmlformats.org/officeDocument/2006/relationships/notesMaster" Target="/ppt/notesMasters/notesMaster1.xml" Id="R86acdabfa9674b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3db99182234ec7" /><Relationship Type="http://schemas.openxmlformats.org/officeDocument/2006/relationships/notesMaster" Target="/ppt/notesMasters/notesMaster1.xml" Id="R1a977d81a3fc41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b87a92c5b340f7" /><Relationship Type="http://schemas.openxmlformats.org/officeDocument/2006/relationships/notesMaster" Target="/ppt/notesMasters/notesMaster1.xml" Id="R92c22101c3ed44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0039e706c34fb8" /><Relationship Type="http://schemas.openxmlformats.org/officeDocument/2006/relationships/notesMaster" Target="/ppt/notesMasters/notesMaster1.xml" Id="Rdee9bb3b809d48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52377e7e44df3" /><Relationship Type="http://schemas.openxmlformats.org/officeDocument/2006/relationships/notesMaster" Target="/ppt/notesMasters/notesMaster1.xml" Id="Rbb703a5910b740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f33172b2344f4d" /><Relationship Type="http://schemas.openxmlformats.org/officeDocument/2006/relationships/notesMaster" Target="/ppt/notesMasters/notesMaster1.xml" Id="R26f5c93a41f447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来源：项目报告书.docx；团队与赛题信息来自报告封面。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来源：项目报告书摘要、第一章；路网密度和赛题要求来自项目报告书及优化建议。若正式提交需补充路网密度出处。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来源：项目报告书表格7、表格20、表格21；优化建议要求将百分比绑定到具体负荷、场景和统计窗口。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来源：项目报告书第三章、第四章；优化建议要求明确STGCN如何进入控制动作，并把降级链路显性化。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来源：项目报告书第二章、表格2和表格3；优化建议要求补齐地图来源、转换清洗、信号配置、需求生成和SUMO校验过程。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来源：项目报告书3.2.4、3.2.5；优化建议要求补足STGCN输入、输出、评价指标、控制链路和消融证据。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来源：项目报告书3.2.3、3.2.5和评审优化建议；最终观测维度应以最终权重和推理接口核对后再补入PPT。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来源：项目报告书表格7、3.2.5；优化建议要求明确默认PyTorch运行与ONNX部署备选形态，并区分延迟测试口径。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来源：项目报告书摘要、3.2.3、4.4和工程化章节；优化建议要求将权重缺失、推理超时、非法动作、通信异常和三级降级提升为主讲证据。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来源：项目报告书第六章、附录A-C；优化建议要求增加连续运行、启动时间、资源释放和测试证据。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来源：项目报告书第五章；优化建议要求列出commit、模型版本、seed、warmup、控制周期、采样窗口和原始数据。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来源：项目报告书表格19；优化建议要求删除“在网车辆等同吞吐”的表达，并补充完成量、到达量、完成率或单位时间通过量。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来源：项目报告书表格20、21、5.3、5.4；优化建议要求把62.5%和50%以上绑定到场景、负荷、时间窗口和统计口径。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来源：项目报告书第七章、第四章；优化建议要求压缩为三项可验证创新并突出标准化价值。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来源：项目报告书摘要、第三章、第五章、第七章；所有百分比均在前页注明实验条件和边界。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03ff96f80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ec2b37cac2458f" /><Relationship Type="http://schemas.openxmlformats.org/officeDocument/2006/relationships/slideLayout" Target="/ppt/slideLayouts/slideLayout1.xml" Id="R5c4fd83cc1dc40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fd83cc1dc40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c108f15d9415d" /><Relationship Type="http://schemas.openxmlformats.org/officeDocument/2006/relationships/notesSlide" Target="/ppt/notesSlides/notesSlide1.xml" Id="R8d4624dd64be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efe844c1840a8" /><Relationship Type="http://schemas.openxmlformats.org/officeDocument/2006/relationships/notesSlide" Target="/ppt/notesSlides/notesSlide2.xml" Id="Rd16bb6b01d0f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7e842db14b3d" /><Relationship Type="http://schemas.openxmlformats.org/officeDocument/2006/relationships/notesSlide" Target="/ppt/notesSlides/notesSlide3.xml" Id="R08f14a4edc56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17b0418f84e4a" /><Relationship Type="http://schemas.openxmlformats.org/officeDocument/2006/relationships/notesSlide" Target="/ppt/notesSlides/notesSlide4.xml" Id="R1ca15aea55ae4c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3006a43d445a1" /><Relationship Type="http://schemas.openxmlformats.org/officeDocument/2006/relationships/notesSlide" Target="/ppt/notesSlides/notesSlide5.xml" Id="R1e9555a1ccea4c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825e6341f4824" /><Relationship Type="http://schemas.openxmlformats.org/officeDocument/2006/relationships/notesSlide" Target="/ppt/notesSlides/notesSlide6.xml" Id="R29cc54f06bc644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70e7d4364e69" /><Relationship Type="http://schemas.openxmlformats.org/officeDocument/2006/relationships/notesSlide" Target="/ppt/notesSlides/notesSlide7.xml" Id="Rf0bad62881cb4e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d02743d65470b" /><Relationship Type="http://schemas.openxmlformats.org/officeDocument/2006/relationships/chart" Target="/ppt/slides/charts/chart1.xml" Id="R3d10ed3fc15d4002" /><Relationship Type="http://schemas.openxmlformats.org/officeDocument/2006/relationships/notesSlide" Target="/ppt/notesSlides/notesSlide8.xml" Id="R9bbd6df9a8af47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faf73cd8b41c0" /><Relationship Type="http://schemas.openxmlformats.org/officeDocument/2006/relationships/notesSlide" Target="/ppt/notesSlides/notesSlide9.xml" Id="Racff262bfd8d49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2945f21ca4571" /><Relationship Type="http://schemas.openxmlformats.org/officeDocument/2006/relationships/notesSlide" Target="/ppt/notesSlides/notesSlide10.xml" Id="Rfeb27566e2384f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12e94839a4c20" /><Relationship Type="http://schemas.openxmlformats.org/officeDocument/2006/relationships/notesSlide" Target="/ppt/notesSlides/notesSlide11.xml" Id="R0222fd961a5e4f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5c36b1782414b" /><Relationship Type="http://schemas.openxmlformats.org/officeDocument/2006/relationships/chart" Target="/ppt/slides/charts/chart2.xml" Id="R744ccd51973d40c7" /><Relationship Type="http://schemas.openxmlformats.org/officeDocument/2006/relationships/notesSlide" Target="/ppt/notesSlides/notesSlide12.xml" Id="R9a31454bc3034e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6a91202c049ed" /><Relationship Type="http://schemas.openxmlformats.org/officeDocument/2006/relationships/chart" Target="/ppt/slides/charts/chart3.xml" Id="R7ccd0c4b584c4155" /><Relationship Type="http://schemas.openxmlformats.org/officeDocument/2006/relationships/notesSlide" Target="/ppt/notesSlides/notesSlide13.xml" Id="Rea1df33b020b40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99042f10e4c7e" /><Relationship Type="http://schemas.openxmlformats.org/officeDocument/2006/relationships/notesSlide" Target="/ppt/notesSlides/notesSlide14.xml" Id="R1228a141e3784b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acc7afe614e5d" /><Relationship Type="http://schemas.openxmlformats.org/officeDocument/2006/relationships/notesSlide" Target="/ppt/notesSlides/notesSlide15.xml" Id="R8c9dbbe552cb47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模型体积 KB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Data'!$A$2:$A$4</c:f>
              <c:strCache>
                <c:ptCount val="3"/>
                <c:pt idx="0">
                  <c:v>PyTorch FP32</c:v>
                </c:pt>
                <c:pt idx="1">
                  <c:v>ONNX FP32</c:v>
                </c:pt>
                <c:pt idx="2">
                  <c:v>ONNX INT8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84.7</c:v>
                </c:pt>
                <c:pt idx="1">
                  <c:v>82.5</c:v>
                </c:pt>
                <c:pt idx="2">
                  <c:v>24.9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平均等待 s ↓</c:v>
          </c:tx>
          <c:spPr>
            <a:solidFill xmlns:a="http://schemas.openxmlformats.org/drawingml/2006/main">
              <a:srgbClr val="F28E2B"/>
            </a:solidFill>
          </c:spPr>
          <c:cat>
            <c:strRef>
              <c:f>'Chart Data'!$A$2:$A$4</c:f>
              <c:strCache>
                <c:ptCount val="3"/>
                <c:pt idx="0">
                  <c:v>Fixed-Time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</c:v>
                </c:pt>
                <c:pt idx="1">
                  <c:v>60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v>平均速度 m/s ↑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Data'!$C$2:$C$4</c:f>
              <c:strCache>
                <c:ptCount val="3"/>
                <c:pt idx="0">
                  <c:v>Fixed-Time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3.07</c:v>
                </c:pt>
                <c:pt idx="1">
                  <c:v>1.71</c:v>
                </c:pt>
                <c:pt idx="2">
                  <c:v>1.77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Fixed-Time 到达</c:v>
          </c:tx>
          <c:spPr>
            <a:solidFill xmlns:a="http://schemas.openxmlformats.org/drawingml/2006/main">
              <a:srgbClr val="1F4E79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117</c:v>
                </c:pt>
                <c:pt idx="1">
                  <c:v>198</c:v>
                </c:pt>
                <c:pt idx="2">
                  <c:v>314</c:v>
                </c:pt>
                <c:pt idx="3">
                  <c:v>402</c:v>
                </c:pt>
                <c:pt idx="4">
                  <c:v>524</c:v>
                </c:pt>
                <c:pt idx="5">
                  <c:v>774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8</c:v>
                </c:pt>
                <c:pt idx="3">
                  <c:v>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v>SCOOT 到达</c:v>
          </c:tx>
          <c:spPr>
            <a:solidFill xmlns:a="http://schemas.openxmlformats.org/drawingml/2006/main">
              <a:srgbClr val="00A6A6"/>
            </a:solidFill>
          </c:spPr>
          <c:cat>
            <c:numRef>
              <c:f>'Chart Data'!$C$2:$C$7</c:f>
              <c:numCache>
                <c:formatCode>General</c:formatCode>
                <c:ptCount val="6"/>
                <c:pt idx="0">
                  <c:v>117</c:v>
                </c:pt>
                <c:pt idx="1">
                  <c:v>198</c:v>
                </c:pt>
                <c:pt idx="2">
                  <c:v>314</c:v>
                </c:pt>
                <c:pt idx="3">
                  <c:v>402</c:v>
                </c:pt>
                <c:pt idx="4">
                  <c:v>524</c:v>
                </c:pt>
                <c:pt idx="5">
                  <c:v>774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13</c:v>
                </c:pt>
                <c:pt idx="3">
                  <c:v>13</c:v>
                </c:pt>
                <c:pt idx="4">
                  <c:v>11</c:v>
                </c:pt>
                <c:pt idx="5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4C60D-592C-4427-90EA-88A8A0E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E1365-F623-40D9-BD05-751A639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9E4FE-14C3-42FA-B1BF-58F4AC75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04875"/>
            <a:ext cx="285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348E5-F826-43B4-9DEE-87E0D67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52525"/>
            <a:ext cx="285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47328-371D-4680-B43E-8D98FF5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0175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F2B6-E288-437F-9F2C-7718DAA1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47825"/>
            <a:ext cx="285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2E6B7-66BC-4BCC-AC40-AE235EF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95475"/>
            <a:ext cx="285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BFC0E-68E8-46AC-80F0-A5AB85B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285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520A-D803-4B20-AFB2-CBFEB1A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8C5E5-4975-44E4-953B-6031CAF2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AB6C3-B438-4230-B7AE-35D9CC2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C477F-755A-4979-82FE-A256E805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7B1F2-84D4-4109-A936-4FFB7CC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4F71C-ACFF-4D28-A23D-A604388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灵动交通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可视化平台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ABF83-0DB0-4941-9C34-27DF88D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面向雄安新区“城市大脑”的车路云一体化</a:t>
            </a:r>
          </a:p>
          <a:p xmlns:a="http://schemas.openxmlformats.org/drawingml/2006/main">
            <a:pPr algn="l"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协同管控算法与仿真平台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ACF5E-0814-4CE1-889D-F9E0AA9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62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F8328-0FDB-415A-B312-6863766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609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赛道 C · AI应用型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7EAB2-1F73-4AD3-A984-D0EAF607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XH-202613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3765E-C909-44B2-B15A-B1EA3FC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1EA"/>
                </a:solidFill>
                <a:latin typeface="Arial"/>
                <a:ea typeface="Arial"/>
                <a:cs typeface="Arial"/>
              </a:rPr>
              <a:t>数智交通团队 · 中山大学</a:t>
            </a:r>
          </a:p>
          <a:p xmlns:a="http://schemas.openxmlformats.org/drawingml/2006/main">
            <a:pPr algn="l">
              <a:defRPr sz="1125" b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1EA"/>
                </a:solidFill>
                <a:latin typeface="Arial"/>
                <a:ea typeface="Arial"/>
                <a:cs typeface="Arial"/>
              </a:rPr>
              <a:t>负责人：翁嘉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B70A7-9A8E-48E5-83E4-6514BCD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DEFENSE DECK</a:t>
            </a:r>
          </a:p>
        </p:txBody>
      </p:sp>
    </p:spTree>
    <p:extLst>
      <p:ext uri="{BB962C8B-B14F-4D97-AF65-F5344CB8AC3E}">
        <p14:creationId xmlns:p14="http://schemas.microsoft.com/office/powerpoint/2010/main" val="560403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66B77-CDF8-4330-BAFE-8BEBE0D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04F8-5DDA-43AF-BD87-9CCB726B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01 /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74F95-3C55-4CFC-A48C-AAA5BAFB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雄安问题与赛题需求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1E259-06CF-47C0-8780-22245EA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EEBF1-755E-412E-B325-6F43640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“窄路密网”让单点控制难以回答区域级问题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6DC6-8E94-4D02-AAEB-3B0D732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项目把赛题要求压缩为三个可验证结果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777A7-EAA3-4ECD-AAD3-EA41B8F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C858B-C539-4895-B445-7E0CE2D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5DC72-0FAB-40D8-8D6D-2F49701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10–15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A0A4-4068-4896-BC8B-DDE1D9E1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路网密度 km/km²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7AEF1-5928-409D-B0B8-C7EB1AF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06E4-BE83-44B9-83ED-ED6E12A4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AD212-DF01-483B-BA3A-86CFE84B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D2D4B-C63D-4FC8-8686-6A611A2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信号路口仿真规模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884AC-DF06-46F9-9950-875DFE9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BA8A1-4212-4947-916A-D45EEEA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9266D-72D7-41A3-B34F-12703A7A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A1810-CBC6-4158-8DF8-3429CB9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轻量化部署验证目标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96486-97D2-4A87-988D-1481979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98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BD6AD-EF91-4EA3-B834-CEDCC4A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98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2C89E-38A6-45BA-BBDA-6CD658B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812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交通问题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A119C-CAB4-40D9-9C4E-8BC53A6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336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路口间距小、转向频繁，拥堵会在相邻路口之间传播。传统单点定时控制难以实现系统级最优。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D74F2-A0A1-4E6D-89C0-F31BDB06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9A354-F9AF-492C-8133-1B98F3A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0CD85-78D5-4617-B053-2ED64DE4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767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赛题要求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B280C-201B-4447-B746-29DE3F1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29125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高保真场景 + 云边端协同 + AI模型轻量化部署 + 可复现实验评估。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86354-7633-4B38-851B-9AB2EC8A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项目主线：用仿真平台验证“区域协同 + 轻量模型 + 工程闭环”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EAA0E-ECBC-4C41-AAC6-C041D8E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70073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D0DAB-5FA9-4A51-BF35-6069A68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A4B6E-925E-4727-858B-D6479C25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02 /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DEC62-B168-45F5-A5D9-616541F8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项目方案与核心成果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9255A-E77C-4845-B069-1A2665C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57A8C-8CD2-4B9F-B8C4-32ACAF7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一套平台，把场景、模型、控制和评估串成闭环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7043B-73A0-433C-B7DC-39CFFBD2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C3CD-DC93-49A5-90DB-2AB18E57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59E52-ED0C-47F2-AA82-69CE00C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71EC3-EAE5-4C4B-B2C2-95E99FD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高保真场景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16066-CAE4-4093-A049-9175161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38DCD-2F33-4A05-856D-9CB229BD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41FB-E90A-4F83-A9D9-7D4B385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61689-1D47-450A-B832-3CF13C2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预测与控制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03613-263E-4101-A322-26A21E7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B0503-ECF2-47EE-AC8B-34A4EBF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B772E-A714-4229-B8B6-C1AFAE5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0F156-6D7D-44A0-8911-A9FAFEE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部署与验证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37ED4-0749-4A49-8087-A28E57C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904E1-9945-4BF4-9B90-43952C9F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可量化结果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0343E-74E2-4983-9B01-81C8D3D2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0AFB3-9782-48EE-9B03-C8B53B3B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临界负荷下到达车辆数提升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 → 13（约314辆投放）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CCD9B-A8A2-4F8E-A7FD-79AB4F8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FEE20-2BC1-403F-8BE0-CA96697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6C6EC-F498-4AA2-B61A-56D5537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42171-7A0D-4775-B215-D47D7EB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INT8动作一致率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66973-4427-450E-903B-3D4EDB6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45A2E-5B9D-4F96-8F55-ED5962F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80120-EE9A-4B7E-A3BA-94DAFB1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24.9 KB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C7F96-B9D8-449C-9683-839D8670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INT8模型体积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8F0AE-5F00-4519-B945-AC7D2EC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C450D-9E45-4387-AC0E-29EB97F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DC3DD-468E-493C-9B2F-3D8920A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50%+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1881A2-489A-4DFB-BBCA-2232EC3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热点场景后期速度提升</a:t>
            </a:r>
          </a:p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特定统计窗口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C4747-0C77-442E-BDFF-DC6773B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这些结论均绑定具体实验条件，不外推为真实道路普遍收益。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45F5D-3A60-44D0-A9EC-6C73E31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399350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73CE40-383E-4F26-ACA4-C05BEAA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5E8DC-E185-49A5-8C3F-1E81771C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03 /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8F2F-6119-49B7-903D-5F8C148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车路云架构与控制闭环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E95EB-CF69-4390-81E4-10453889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B1400-E327-4A80-B7E9-CD7FE04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感知、预测、决策、执行和反馈在同一条链路上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9BB84-8F77-42E2-9F6A-E5CD095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204A5-C29E-42BE-AB07-D770E612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A63F-272D-48EB-8320-B866143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CF81F-E9BA-459A-970B-92B0B836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车辆 / 路侧 / SUMO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98EF0-F53A-46E0-9DD0-78CE2F6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C663C-C515-4EDE-A736-2E9596D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D6BAD-5D89-4A41-B0CA-3C6F8B6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E8718-8EB0-4BC4-8CD7-2BAB0166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45B3-DC74-4879-B37C-3B5998B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STGCN / EWMA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1E3A-E098-4E9E-A1D5-42C7916C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EE89E-0D25-4F16-A7E9-0EE5AE3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6A8F-3F5D-4C2E-8658-55DEF98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9F8A7-CCA6-4E98-9062-B96ABF5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46AB5-4701-44FC-8B6A-FC07998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LLM区域调度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MAPPO路口控制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8819B-2910-4F19-80F5-2BAA6D6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C37F9-DE9D-4A6C-A836-E9E71B2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44FEE-CD1C-41D7-AD32-D139AAE2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C7482-EC2F-447B-9F23-A3E303E1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31799-E763-476E-B395-A739A1E0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信号相位 / 路径引导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8E98E-BC8F-4E78-AD91-34996A7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30BE7-FF99-4033-A053-981B5BB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731E0-A2CD-4FFD-9907-912E61A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4AB6C-5E50-4928-A0A5-006D4FB8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5C7AC-0AEE-43CC-BB66-0946682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指标 / 报告 / 降级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36AC8-B692-4048-85BA-B204C58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00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3526D-3524-484D-BA30-FC30E6B3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云端：全局态势、LLM工具调用、评估与报告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A1911-5B03-4EC1-95B1-90FE268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边缘：每路口5秒决策、信号安全约束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DC8C5-C2FD-4DBE-B646-98D093A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车端：注册车队动态路径建议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74852-2C35-4627-B03C-6D794FCF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故障保护：MAPPO → SCOOT → Fixed-Time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813E9-8DFA-4A8B-993B-FC1ED49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946430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0CADA7-5473-464B-AC2C-F8439803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ACBC8-A7F0-4457-BFE0-4B99522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04 /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7E9C-4D3A-424A-9360-C1668DC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20路口仿真环境：从资料到可运行场景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9A8A1-B8FD-4322-B9D1-6A9ACA07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32D8-A6A6-4F5D-A51C-BB2E937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重点不只是“有20个路口”，而是能解释场景如何构建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F8F59-07CF-4CE3-930E-2D6AC34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C511-E1F6-4A89-9396-3412D51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B9378-F3D9-4464-94CD-21BAD31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EB016-A4FE-4392-9F19-E3D1D885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地图/规划资料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C7B7E-400F-4748-96E8-A62462CF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5D3F-6AFD-4D5B-94D7-3DC4DF09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B2FD0-7A83-421F-BE31-7D56922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6E59D-7021-4949-823B-401520CD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路网转换与清洗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31294-82C1-4F9C-94E4-D17DFAA9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5D654-1D41-404B-87E2-C88C99E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F0DC5-AA08-4078-9B84-E3919C0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E7112-2CCC-408D-8BB1-2195F538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车道/相位配置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82CDE-EEC9-4BA4-A9DC-D98A355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19EDC-595A-4146-AE89-78C517B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3D376-829E-4549-8AFC-674FD6B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245D1-66B2-4C08-9C24-1E4CF33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需求生成与校准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16BA9-B131-4C3E-9BB7-D95CE25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9B560-9594-4E0D-9DEA-14B4C05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4B0D0-CCAD-4A0C-BD0A-2D65BDD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78B84-FDF0-452B-856A-A049115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扰动注入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0D01E-2CA1-4FDB-81FA-EB81F2F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68CE6-662C-422F-9181-FC28FE8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3CC32-5691-4269-B8DC-6F87402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98110-FB68-4615-BFDC-D0D0266D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SUMO校验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78947-DBD0-4E99-AB1A-4E7ECAB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09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99A1F-D36B-4A05-B61B-55EE78F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20个信号路口  ·  80条有向边  ·  80条容量校准  ·  warmup 90s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65A64-E97E-4BDA-8EE3-42BCF06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数据边界：实际空间结构 / 校准数据 / 合成车流分开标注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8A2C2-E9BD-41A9-B9BF-A65D7A7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AEDF1-A218-441B-945D-B27140F0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事故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96020-DD87-4388-A19C-EEC66473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229AC2-F6B5-40FE-A9C2-A1636A7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施工占道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2BF78-9079-4DC9-BAE8-44FEDC2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591D6-71D7-4DBE-B56B-49D79B8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大型活动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DCB4E-48AC-499C-9DB3-20F11C4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4134AC-E2B5-4659-9A50-B88E21B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热点区域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17B53-0CDC-4130-BE1A-53E33ED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425617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3F514-92C9-4136-9A53-FF65C11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D757F-44BF-4E44-BFB3-32544B6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05 / AI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B7BD5-F69B-4266-BF5E-385687A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STGCN与MAPPO：预测负责看远，控制负责行动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4FE04-3BD0-4497-8B5D-975CA75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DC341-2965-4C33-B54A-0C17232A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EB3AB-FFE0-4A4D-BFC1-7FD6015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CB238-F460-437B-B1EB-194426F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STGCN / 预测模块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3784-0DDE-43D9-A874-2B16751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419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输入：每条边的历史流量窗口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输出：下一时步边流量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用途：为区域和路口控制提供短时需求信息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兜底：EWMA平滑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AFEC-2603-45E8-BDAB-DFC917C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DC68B-10A3-4FE3-90FD-B6BB02D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7B36B-4E4C-4249-9A58-27CEF6C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MAPPO / 控制模块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EF051-3445-4754-8314-2B4B3FA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33625"/>
            <a:ext cx="4419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输入：路口状态、排队、速度、邻居协调度等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动作：KEEP / ADVANCE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频率：每5秒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安全：真实黄灯、红灯和清空流程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33598-57C8-4C9E-B85D-75EFB11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09B2A-0D0D-42FF-BD59-90CD0A1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预测结果进入观测与策略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EECC0-3370-4D77-BB11-1D4E6DAC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答辩证据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85723-ED4D-4D54-96B8-A55EFFDA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输入字段 · lookback窗口 · 预测指标 · 预测结果进入Cloud/Edge的日志 · 关闭预测模块后的消融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2C3D5-53C0-431F-B24C-90B60D9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若消融和预测指标尚未完成，正文只表述为“预测模块接入架构”，不要把预测增益写成已验证结论。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01618-BF99-4672-AE9A-4D49308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05295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7CAB4-195D-4D1A-97D5-0BCABD4E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53B8D-06FA-4F09-AAF9-7F33AD0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06 / MODEL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78840-2DB3-4CE9-B730-CA33F10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数据处理、训练与模型选择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649D8-CC4C-4943-9865-137AF455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9B7D5-B097-4582-9BD6-4C70D59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8A067-D007-49BD-9B1E-1654A3B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477E2-5BFD-4859-9F44-8C26925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6E207-CF5B-44B2-A728-35CE0DF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交通状态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路网与流量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特征/标签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E2977-192C-4BFB-AAF2-9DC751E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1CE77-7198-4638-B769-C1A492AB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2162-1C73-42EC-AE8A-03EAE12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EA179-D642-4DF3-945B-3F514FC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0E4A4-CA8E-4F52-B597-5BAC2D4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MAPPO CTDE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8轮×4000步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PPO + GAE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固定随机种子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AC081-4939-4AF7-A00D-8885D00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5CFA2-879B-4068-BD79-435FA94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E20B9-821E-48B7-8AB6-977E508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8156F-69CB-4ACE-A685-91A7D05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9B6DF-E709-4D74-A775-321FB9B1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跨路网泛化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未参与训练的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9/25路口grid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13路口spider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DF345-BA44-400B-AE96-A2250CE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93773-F7B7-4870-9D5A-D5BF051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56FD4-83C3-4420-A4E6-8E2A54C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C7408-8049-4239-B363-8910C69B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293F7-0877-4E3B-8431-7686F44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脚本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配置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训练曲线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最终权重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C85C4-B3C2-40BC-A8FC-820FE0B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最终接口必须统一：以最终权重和推理代码为准，消除18维与31维观测口径冲突。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88D7-F228-44BB-A9CE-9330055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108CF-F1C6-4F29-BDBA-46224320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现场可打开：训练配置 · seed · loss曲线 · 权重文件 · 模型选择理由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4234C-1C5C-4F5B-8035-96A9770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36515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41A84-13E5-4CF7-AC88-B1E9EE8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8A80D-AFF5-409E-BBD0-B748A17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07 /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9CF24-14D7-4543-999B-D7495C13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模型转换与CPU部署形态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493F7-6738-4C5D-8AA6-CC06A8D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ACC0E-BB65-44B9-A4D0-C200D815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轻量化证据成立，但必须说清默认运行与备选部署的边界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0ed3fc15d400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AD7DE-909C-4903-A3BE-A10929B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810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20AE2-DC5B-42EC-A83A-3B3BA30E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81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078E6-FA47-46B3-B993-02C6F72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1A632-6EB9-4C9C-9177-DC15A88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3675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ONNX FP32动作一致率100%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ONNX INT8动作一致率99.4%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DA839-5FEF-49F2-8C51-5C4C8FC4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18CE3-ED82-4D95-95E1-994F35D3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93FEF-B79E-4ED4-81E1-CAA99F1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E48F0-0563-4D7C-8973-1D06250B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48125"/>
            <a:ext cx="346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平台当前默认加载PyTorch .pt权重。ONNX FP32/INT8是已转换、已验证的CPU部署形态，不等同于当前在线控制全部采用INT8。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DBF85-E5A7-4405-9F5C-C8A5044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延迟口径必须分开：FP32单次延迟与INT8批量64延迟不绘制为同条件速度对比。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D63E4-988F-4689-9081-41DE4F8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014588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3A173-2AF3-40B9-89AD-DC68C05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A8B7-9887-4E7B-9819-C3F22BEB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08 /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A400-6AE4-44A1-976C-213ADA9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安全控制与异常降级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CEFD-8312-46A8-9ED5-70E4DE8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70114-7710-45F6-AFD0-75A327EE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模型出错时，系统仍然保持可控、可解释、可恢复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03E11-9826-4D42-A547-3872D509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5907D-F21C-4CFB-9923-F1770B5A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CF0CF-50A0-4737-AACB-D537C0B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权重缺失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4B094-9972-44A6-B10B-6778C91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无法加载MAPPO权重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CEF38-B2F0-4142-A1F6-0A1BEFB3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4B9FF-90AD-497D-B1DC-FFA4225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9E3F3-0EEB-429C-8D1F-505301C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F9CC5-CD1E-44C6-B6A3-F288C50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推理超时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54B8E-CF56-472B-A963-35EC961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528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超过控制周期预算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3A22E-DDF8-4450-9CEA-262289A1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88065-AC18-4F58-A0C3-3788573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8F68C-661E-4DEB-8E80-A4F11A7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929E3-687A-4C4C-88F2-B1C7C213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非法动作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2AA46-5275-4C99-9D57-1BAB789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越过相位安全约束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6C7BD-4E9F-4766-90B3-517F29DF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7BEBB-8DDF-4A07-9B95-C6F441CB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93B58-AB85-4989-8B17-3C849E0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6FBAA-D0E4-4BC2-B6ED-513C8A9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通信异常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8D15B-ED00-40AC-AA1B-53458EA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959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云边消息中断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05086-B31B-458C-9E5D-1A5FCAE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76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601E5-4820-4D83-913D-546E81C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53340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2B60D-C2F6-4D5A-8233-AAC640B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三级降级链路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262A5-56F7-4AF3-9079-A94EB03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MAPPO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492E7-264B-4357-93BF-CAD65E0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81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2  SCOOT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77008-0935-40F2-97C4-A7209A3E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00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Fixed-Time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BD3C3-914C-413F-89EF-D49C6FB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每一级都有日志、状态码和恢复条件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906AF-A554-4E4B-9224-7CCE3634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663613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6951F2-828E-4C2E-8994-C3E79E4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746FE-4214-426F-8B5D-9DBFC421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09 /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67D70-74CA-433A-87AD-FD512F9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系统实现与现场运行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E5151-12C9-4BC7-B8EA-8AE8990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8FA14-D61D-45E1-9D60-1DF8219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054E0-58CF-43FA-99A6-D0FBC06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EE908-6D21-497F-9585-D9458107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C1F4-BFEE-4FCE-A9B0-232E1C6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Vue3 + Vite + Canvas + ECharts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路网、车辆、信号、事件和指标实时可视化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713F-3EC6-48AE-B6AA-CAA093D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6B65A-800D-49B6-898A-489BE0C3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0781F-B403-4CB0-BE70-AF20F89B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4DC01-788D-4211-A829-776BAC4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FastAPI + WebSocket + TraCI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 / WS接口，仿真控制和报告生成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98F95-9A41-4293-9930-4D4C2D2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CD47C-3894-4FB8-AAA5-08436CD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C1918-D77D-4C68-906F-F93C873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2C08D-933B-421A-81AF-21E5F93F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SUMO + PyTorch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Docker Compose / Windows一键启动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支持连续运行与资源释放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8C534-F90B-43F3-8FA1-23190AF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42FDE-7174-4519-B035-9DA089B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21677-0941-4752-8D4B-7A652D4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9901D-C4AB-4370-8BD6-B6BF427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双击 start.bat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BDB88-9CCE-42F1-BD7D-B69C21D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A595D-C697-4080-8499-EF5A3C0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5C3F7-6C93-4321-BEE2-9AE326B9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27634-68F3-4702-B01D-FC158B3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启动后端与前端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54129-2F24-4411-B9AE-0F651655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F60B5-3AB5-4714-8FA5-C659BB22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9BC2E-A74C-4C15-AEA7-9825B83D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656FD-173C-403D-86BE-783A6CF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导入20路口场景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92E13-782E-4A84-8543-73F1B34A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2E162-1D60-47A2-9882-0A7EF10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D6D38-09AA-466D-9238-32DB324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FDEBD-3A36-49A6-BCC7-6A6CF10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运行、对比、导出报告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AD5DC-FBA4-4FAE-9EAB-9603548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现场证据：启动时间、连续运行、实时界面、报告导出、停止后释放SUMO/TraCI/端口。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8F9A05-5AB8-48F1-82F6-1D87D00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003246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2A8C4-9BFC-4483-9F6A-DABC528A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DCA3B-CA26-4178-98B7-51C47E16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10 /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B31B-94B8-40FC-8E3C-108F70A2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实验设计与复现条件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B8FB-B5D0-4C11-BDC1-BA6DE12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D2E35-4C3F-46A1-8947-4C7DC04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先固定实验条件，再比较控制策略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AA53-1642-4B75-8F9F-6584FAD0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5D1F9-F823-4CBA-8EC6-57C47684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代码与模型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2A5B7-787F-4BD3-AAE6-7239C63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Git commit · 权重版本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FBA5-E5B8-4C7D-8DB5-B6405D6E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24FC-DC18-4C79-B2EC-8D26A92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场景与投放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756F-8732-4BCD-A071-4D48FA6F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同路网 · 同车辆投放 · 场景版本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86717-A288-4C21-8139-ADDD744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2F586-21E5-4300-8AFE-8C5DAE73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随机与时间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7AB05-3562-4F07-8DD8-C239FAE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固定seed · warmup 90s · 仿真时长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094B5-25C6-4A97-9765-C35E81B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3AA55-84D9-42A0-9AFC-6D08D8A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控制与采样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13F49-64C0-41AE-873C-C4EF608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62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控制周期 · 采样窗口 · 统计口径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ABF5F-7EB0-462B-BAE3-FEF63B7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AE7E4-B4E2-4BA6-A2D2-BE5B9A5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指标与数据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FD591-4878-4D50-A90F-46B87B8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到达/完成量 · 旅行时间 · 等待 · P95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1FF6-00CD-4B81-8DA7-18B0CD3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F4B50-1FDC-4E2A-8BCF-4707C30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DCD11-2686-4C39-87DB-7D69944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Fixed-Time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SCOOT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AD03B-F6E3-4BF2-8876-A26BD38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同一路网 / 同投放 / 固定seed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51ADE-0F39-49B9-8ED4-598AB2B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补充多seed；若尚未完成，明确说明当前限制。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24B23-665F-421C-BFFF-B17B605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998832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B9B81-D047-4ABD-9F16-D97E2E0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5E98-368E-434F-9CB6-6E3E8F4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11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5769-D04D-49A1-A930-804AD03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标准车流横向对比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DE7BD-C294-43E4-857B-33AC4918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3CC2-CD0F-46D0-8EF2-8860A2DD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不再用“在网车辆”直接等同吞吐，改用可解释指标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5238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4ccd51973d40c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D129B-C466-411E-9A61-1CF7625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000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8BD7E-CE3E-402D-9F13-5B326210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B647B-1F91-44CA-BB2F-209CA49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78AE6-73D3-4DA6-B0DF-1D1B866D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95575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固定配时在低负荷下等待较低；SCOOT与MAPPO需要结合场景和多指标判断；单一“在网车辆”不能作为吞吐结论。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85D19-86D7-4185-A656-79C39202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6DEA-4263-4E47-9AC7-98B4A86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366E8-004D-46DD-9978-F4C2575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下一步补强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FFBE4-A8AB-4300-BB9A-86D6483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主图优先增加完成车辆数、到达车辆数、完成率或单位时间通过量，并同时报告平均旅行时间与P95等待。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E8243-F868-46ED-AC00-2A68ED2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当前已核对数据来自 routes_clean700；最终版本按实验原始数据复算。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EB76D-4CF1-4FDD-A009-50AA6A9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645786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6C8B4-E718-43F7-B6CA-C040745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A1156-CBC4-4307-B951-3A9037E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12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7A078-93A5-4BFF-8514-B757D35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热点场景与算法边界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5EB1-0B29-4E0B-9291-6186767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2F52A-40D7-4D04-B027-CD61D6E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收益集中在临界负荷和空间不均场景，超饱和区受容量锁死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5429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cd0c4b584c415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3B75C-CEE0-4425-9C3C-0D85CE85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车辆投放量（约）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C2B0F-6F45-476F-B308-889A10F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78799-FE1C-4F5D-9192-946BB81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14F76-B85B-45DA-9076-6146942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临界负荷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B585-60AC-4295-8B2C-3F2672F0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14625"/>
            <a:ext cx="365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约314辆投放时，到达车辆数8→13，提升62.5%。这是480s实验窗口内的仿真结果。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695A3-04DE-4A7B-8640-D23D8A55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583AD-688E-44B1-A9D6-67D90EB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F1557-B14C-40FA-9F70-D32FB1A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热点区域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C8560-8EE7-45C1-AFDC-0E9A90E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62425"/>
            <a:ext cx="365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中心35%边为热点，后期平均速度2.4–2.6→3.6–4.1 m/s，提升约50%以上，需注明统计窗口。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50601-93F2-4E88-A740-1D3F030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3DEBA-76B4-4E21-A02D-D332A9D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E16F-CBEE-43A0-A312-25EC310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CB1F7-234C-4953-A261-E47EAF8F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02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超过网络容量后，任何信号策略都难以继续提升吞吐；不能将仿真收益外推为真实道路普遍收益。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61615-C160-4540-8834-EC03C02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10481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90284-4FC8-4133-8B2C-136E347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B7EBD-FF96-465A-84EA-D4972D2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13 /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B8229-ED51-4381-935D-5DC9AAF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三项可验证创新与推广价值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0600-CA38-48F9-B2B4-CC9BE22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C5685-4E21-4A18-B042-C12E183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388B8-E291-4D55-807A-8FC4340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6110E-1392-44B3-914F-51A601E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01  分层协同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01CA-21EA-4D2F-934E-E4E3888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LLM承担区域级态势与工具调度；MAPPO/SCOOT承担路口级实时控制。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77C57-EB42-4A38-A618-798C4662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E081-485A-4BF6-83F9-A0B256C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CEE0F-EB3D-4F30-AA6B-A87B3B5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02  轻量部署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E5962-830B-40F3-A1BD-2E066EE9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agnostic观测、ONNX FP32/INT8转换和一致性验证，支持跨路网CPU部署形态。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E6662-F84A-4239-AF68-67E6F77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013B0-1793-48F6-A34D-E90F212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AC9A8-4C14-40F0-905B-90FE979F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03  标准化闭环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39A4C-C9C2-4C5E-B228-EE2FF06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插件接口、OpenAPI、基准测试、自动报告，把算法结果变成可复现的工程证据。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9FEF5-73B3-4382-98D2-E2190456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115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C20AA-1690-41D3-84C8-2FBC910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推广价值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9EE9A-471F-4C99-804D-1368518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可替换算法 · 可复现场景 · 可审计指标 · 可扩展接口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DF49A-7274-448B-9555-9780CF9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创新点均以文件、日志、指标或可运行系统为证据，不以功能清单替代验证。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F0061-C37F-4FBC-AB00-4339FF2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</p:spTree>
    <p:extLst>
      <p:ext uri="{BB962C8B-B14F-4D97-AF65-F5344CB8AC3E}">
        <p14:creationId xmlns:p14="http://schemas.microsoft.com/office/powerpoint/2010/main" val="717073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3F4DE-6AB4-4416-8F05-8109A5A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CE356-CBEE-4399-8158-2782414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14 /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3D3CA-802F-4151-95AE-9D44200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从仿真场景到轻量化部署，形成完整技术链路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9A941-9076-43DB-9173-EA0BA6EE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项目完成了20路口仿真、AI预测与控制、ONNX/int8验证、异常降级和多指标评估。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45415-D9B9-4FE6-BB61-F43AA92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B3533-A967-4DE2-9C9F-684D592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C1E36-6C20-4801-BAB4-AD9D4F7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D5295-3C87-44BD-A285-0A2CB73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信号路口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C3EAC-50D7-457A-A904-E448F49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76FA5-1A32-4147-8FCE-2FABFC82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148F-33D0-4E5D-B382-4082E85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31B96-6C61-4CE3-9712-71E8E57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临界负荷到达量提升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2D8A9-D6EB-4744-B8BE-66FC620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31F59-AE59-4BD2-A15F-30DB8BDC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18D67-600D-461C-8119-22B519D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1C275-222F-47AA-9814-4AF9C4F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99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INT8一致率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41CD0-DA19-4142-B921-EA627938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B3B14-E596-4488-952B-62069FD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CF66A-A500-4B5B-AF12-B1D8D4A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50%+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EBD41-1749-4816-A559-A497A9D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99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热点窗口速度提升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4B30B-324F-4795-8292-C3CEA86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09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3B5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CD631-E5C9-47BB-B864-E9A87F99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团队分工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419B0-40BF-4663-8245-AD4BB61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场景与仿真  ·  算法与模型  ·  平台开发  ·  实验评估  ·  演示与交付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8F586-A8D9-48D7-AC58-A56063C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4C50D-A82C-4516-A48C-9A614B5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0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欢迎提问</a:t>
            </a:r>
          </a:p>
        </p:txBody>
      </p:sp>
    </p:spTree>
    <p:extLst>
      <p:ext uri="{BB962C8B-B14F-4D97-AF65-F5344CB8AC3E}">
        <p14:creationId xmlns:p14="http://schemas.microsoft.com/office/powerpoint/2010/main" val="1084481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2026-09-10T07:32:49.5850000Z</dcterms:created>
  <dcterms:modified xsi:type="dcterms:W3CDTF">2026-09-10T07:32:49.5850000Z</dcterms:modified>
</coreProperties>
</file>
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92634e514c4d5a" /><Relationship Type="http://schemas.openxmlformats.org/officeDocument/2006/relationships/extended-properties" Target="/docProps/app.xml" Id="R9773d91871564df6" /><Relationship Type="http://schemas.openxmlformats.org/officeDocument/2006/relationships/officeDocument" Target="/ppt/presentation.xml" Id="Rd3f623143583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8f104f36f48d5"/>
  </p:sldMasterIdLst>
  <p:notesMasterIdLst>
    <p:notesMasterId xmlns:r="http://schemas.openxmlformats.org/officeDocument/2006/relationships" r:id="Ra9dc21ec08104b3a"/>
  </p:notesMasterIdLst>
  <p:sldIdLst>
    <p:sldId xmlns:r="http://schemas.openxmlformats.org/officeDocument/2006/relationships" id="256" r:id="R86b712423c3f4a07"/>
    <p:sldId xmlns:r="http://schemas.openxmlformats.org/officeDocument/2006/relationships" id="257" r:id="Re0f4f8163057409e"/>
    <p:sldId xmlns:r="http://schemas.openxmlformats.org/officeDocument/2006/relationships" id="258" r:id="R57d5d9ad41cf40cf"/>
    <p:sldId xmlns:r="http://schemas.openxmlformats.org/officeDocument/2006/relationships" id="259" r:id="Rdf30ca81f04d4aac"/>
    <p:sldId xmlns:r="http://schemas.openxmlformats.org/officeDocument/2006/relationships" id="260" r:id="R73669ceedf0646f8"/>
    <p:sldId xmlns:r="http://schemas.openxmlformats.org/officeDocument/2006/relationships" id="261" r:id="Re69aec4818a6456d"/>
    <p:sldId xmlns:r="http://schemas.openxmlformats.org/officeDocument/2006/relationships" id="262" r:id="R68ab4c9f08e84c8d"/>
    <p:sldId xmlns:r="http://schemas.openxmlformats.org/officeDocument/2006/relationships" id="263" r:id="Raccb2a848a514be0"/>
    <p:sldId xmlns:r="http://schemas.openxmlformats.org/officeDocument/2006/relationships" id="264" r:id="Rfedea7ca8040463e"/>
    <p:sldId xmlns:r="http://schemas.openxmlformats.org/officeDocument/2006/relationships" id="265" r:id="Rb04e0c5026d745f7"/>
    <p:sldId xmlns:r="http://schemas.openxmlformats.org/officeDocument/2006/relationships" id="266" r:id="R06667fbffa864f0d"/>
    <p:sldId xmlns:r="http://schemas.openxmlformats.org/officeDocument/2006/relationships" id="267" r:id="R817c9edbba764428"/>
    <p:sldId xmlns:r="http://schemas.openxmlformats.org/officeDocument/2006/relationships" id="268" r:id="Rcaa31ef45a4748a4"/>
    <p:sldId xmlns:r="http://schemas.openxmlformats.org/officeDocument/2006/relationships" id="269" r:id="Ra95d756eb6764486"/>
    <p:sldId xmlns:r="http://schemas.openxmlformats.org/officeDocument/2006/relationships" id="270" r:id="R28a71804b4984c7a"/>
    <p:sldId xmlns:r="http://schemas.openxmlformats.org/officeDocument/2006/relationships" id="271" r:id="R6175ddb374dd4145"/>
    <p:sldId xmlns:r="http://schemas.openxmlformats.org/officeDocument/2006/relationships" id="272" r:id="R2a736e3c811f458d"/>
    <p:sldId xmlns:r="http://schemas.openxmlformats.org/officeDocument/2006/relationships" id="273" r:id="R4efdf3491afe4489"/>
    <p:sldId xmlns:r="http://schemas.openxmlformats.org/officeDocument/2006/relationships" id="274" r:id="R95e810479e994132"/>
    <p:sldId xmlns:r="http://schemas.openxmlformats.org/officeDocument/2006/relationships" id="275" r:id="R70c8ffae9e1a4da2"/>
    <p:sldId xmlns:r="http://schemas.openxmlformats.org/officeDocument/2006/relationships" id="276" r:id="R46a8d1c5fd8a408d"/>
    <p:sldId xmlns:r="http://schemas.openxmlformats.org/officeDocument/2006/relationships" id="277" r:id="R81c731e0562c4200"/>
    <p:sldId xmlns:r="http://schemas.openxmlformats.org/officeDocument/2006/relationships" id="278" r:id="Rdb808db01b7747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1e175aeae6438f" /><Relationship Type="http://schemas.openxmlformats.org/officeDocument/2006/relationships/slideMaster" Target="/ppt/slideMasters/slideMaster1.xml" Id="R7248f104f36f48d5" /><Relationship Type="http://schemas.openxmlformats.org/officeDocument/2006/relationships/notesMaster" Target="/ppt/notesMasters/notesMaster1.xml" Id="Ra9dc21ec08104b3a" /><Relationship Type="http://schemas.openxmlformats.org/officeDocument/2006/relationships/presProps" Target="/ppt/presProps.xml" Id="R07cab4fdd2784e67" /><Relationship Type="http://schemas.openxmlformats.org/officeDocument/2006/relationships/tableStyles" Target="/ppt/tableStyles.xml" Id="R7fe4442bb9d644d0" /><Relationship Type="http://schemas.openxmlformats.org/officeDocument/2006/relationships/slide" Target="/ppt/slides/slide1.xml" Id="R86b712423c3f4a07" /><Relationship Type="http://schemas.openxmlformats.org/officeDocument/2006/relationships/slide" Target="/ppt/slides/slide2.xml" Id="Re0f4f8163057409e" /><Relationship Type="http://schemas.openxmlformats.org/officeDocument/2006/relationships/slide" Target="/ppt/slides/slide3.xml" Id="R57d5d9ad41cf40cf" /><Relationship Type="http://schemas.openxmlformats.org/officeDocument/2006/relationships/slide" Target="/ppt/slides/slide4.xml" Id="Rdf30ca81f04d4aac" /><Relationship Type="http://schemas.openxmlformats.org/officeDocument/2006/relationships/slide" Target="/ppt/slides/slide5.xml" Id="R73669ceedf0646f8" /><Relationship Type="http://schemas.openxmlformats.org/officeDocument/2006/relationships/slide" Target="/ppt/slides/slide6.xml" Id="Re69aec4818a6456d" /><Relationship Type="http://schemas.openxmlformats.org/officeDocument/2006/relationships/slide" Target="/ppt/slides/slide7.xml" Id="R68ab4c9f08e84c8d" /><Relationship Type="http://schemas.openxmlformats.org/officeDocument/2006/relationships/slide" Target="/ppt/slides/slide8.xml" Id="Raccb2a848a514be0" /><Relationship Type="http://schemas.openxmlformats.org/officeDocument/2006/relationships/slide" Target="/ppt/slides/slide9.xml" Id="Rfedea7ca8040463e" /><Relationship Type="http://schemas.openxmlformats.org/officeDocument/2006/relationships/slide" Target="/ppt/slides/slide10.xml" Id="Rb04e0c5026d745f7" /><Relationship Type="http://schemas.openxmlformats.org/officeDocument/2006/relationships/slide" Target="/ppt/slides/slide11.xml" Id="R06667fbffa864f0d" /><Relationship Type="http://schemas.openxmlformats.org/officeDocument/2006/relationships/slide" Target="/ppt/slides/slide12.xml" Id="R817c9edbba764428" /><Relationship Type="http://schemas.openxmlformats.org/officeDocument/2006/relationships/slide" Target="/ppt/slides/slide13.xml" Id="Rcaa31ef45a4748a4" /><Relationship Type="http://schemas.openxmlformats.org/officeDocument/2006/relationships/slide" Target="/ppt/slides/slide14.xml" Id="Ra95d756eb6764486" /><Relationship Type="http://schemas.openxmlformats.org/officeDocument/2006/relationships/slide" Target="/ppt/slides/slide15.xml" Id="R28a71804b4984c7a" /><Relationship Type="http://schemas.openxmlformats.org/officeDocument/2006/relationships/slide" Target="/ppt/slides/slide16.xml" Id="R6175ddb374dd4145" /><Relationship Type="http://schemas.openxmlformats.org/officeDocument/2006/relationships/slide" Target="/ppt/slides/slide17.xml" Id="R2a736e3c811f458d" /><Relationship Type="http://schemas.openxmlformats.org/officeDocument/2006/relationships/slide" Target="/ppt/slides/slide18.xml" Id="R4efdf3491afe4489" /><Relationship Type="http://schemas.openxmlformats.org/officeDocument/2006/relationships/slide" Target="/ppt/slides/slide19.xml" Id="R95e810479e994132" /><Relationship Type="http://schemas.openxmlformats.org/officeDocument/2006/relationships/slide" Target="/ppt/slides/slide20.xml" Id="R70c8ffae9e1a4da2" /><Relationship Type="http://schemas.openxmlformats.org/officeDocument/2006/relationships/slide" Target="/ppt/slides/slide21.xml" Id="R46a8d1c5fd8a408d" /><Relationship Type="http://schemas.openxmlformats.org/officeDocument/2006/relationships/slide" Target="/ppt/slides/slide22.xml" Id="R81c731e0562c4200" /><Relationship Type="http://schemas.openxmlformats.org/officeDocument/2006/relationships/slide" Target="/ppt/slides/slide23.xml" Id="Rdb808db01b7747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5ea64c93b745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Eco City Visual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 Vis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a9f48618a041b6" /><Relationship Type="http://schemas.openxmlformats.org/officeDocument/2006/relationships/notesMaster" Target="/ppt/notesMasters/notesMaster1.xml" Id="R3c050ef2a4a64b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c0d23917594e8a" /><Relationship Type="http://schemas.openxmlformats.org/officeDocument/2006/relationships/notesMaster" Target="/ppt/notesMasters/notesMaster1.xml" Id="R21cd3c71d1074a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46bf389fb4c6f" /><Relationship Type="http://schemas.openxmlformats.org/officeDocument/2006/relationships/notesMaster" Target="/ppt/notesMasters/notesMaster1.xml" Id="R837b46d751214b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609c9f89bb4f31" /><Relationship Type="http://schemas.openxmlformats.org/officeDocument/2006/relationships/notesMaster" Target="/ppt/notesMasters/notesMaster1.xml" Id="Rba84ffaa8fa840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29512d5e924bef" /><Relationship Type="http://schemas.openxmlformats.org/officeDocument/2006/relationships/notesMaster" Target="/ppt/notesMasters/notesMaster1.xml" Id="R7c492dc329ae4b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96233b39354615" /><Relationship Type="http://schemas.openxmlformats.org/officeDocument/2006/relationships/notesMaster" Target="/ppt/notesMasters/notesMaster1.xml" Id="R3ae809f1ede04a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4c9803f8fe4f56" /><Relationship Type="http://schemas.openxmlformats.org/officeDocument/2006/relationships/notesMaster" Target="/ppt/notesMasters/notesMaster1.xml" Id="Rc70a6465b22e41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7e173042b64b9d" /><Relationship Type="http://schemas.openxmlformats.org/officeDocument/2006/relationships/notesMaster" Target="/ppt/notesMasters/notesMaster1.xml" Id="Rb8c04e890e6446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6000c184e14c59" /><Relationship Type="http://schemas.openxmlformats.org/officeDocument/2006/relationships/notesMaster" Target="/ppt/notesMasters/notesMaster1.xml" Id="Ra498080d65a44a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c0b61913e94efb" /><Relationship Type="http://schemas.openxmlformats.org/officeDocument/2006/relationships/notesMaster" Target="/ppt/notesMasters/notesMaster1.xml" Id="R28aa7e7dc38144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82d479916d43e6" /><Relationship Type="http://schemas.openxmlformats.org/officeDocument/2006/relationships/notesMaster" Target="/ppt/notesMasters/notesMaster1.xml" Id="Rc0bcd448ce4240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9b9d38f0124391" /><Relationship Type="http://schemas.openxmlformats.org/officeDocument/2006/relationships/notesMaster" Target="/ppt/notesMasters/notesMaster1.xml" Id="Rdf9a927caf754c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85869eb6ea4087" /><Relationship Type="http://schemas.openxmlformats.org/officeDocument/2006/relationships/notesMaster" Target="/ppt/notesMasters/notesMaster1.xml" Id="R5caa27b734624e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603356b8be47a5" /><Relationship Type="http://schemas.openxmlformats.org/officeDocument/2006/relationships/notesMaster" Target="/ppt/notesMasters/notesMaster1.xml" Id="R3dd47fe9ab0c42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f49babae5c4971" /><Relationship Type="http://schemas.openxmlformats.org/officeDocument/2006/relationships/notesMaster" Target="/ppt/notesMasters/notesMaster1.xml" Id="Rb4b8ac9ee0d046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fd9cf7c0814f8c" /><Relationship Type="http://schemas.openxmlformats.org/officeDocument/2006/relationships/notesMaster" Target="/ppt/notesMasters/notesMaster1.xml" Id="R0f31ebb39fab4f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db653bc1124311" /><Relationship Type="http://schemas.openxmlformats.org/officeDocument/2006/relationships/notesMaster" Target="/ppt/notesMasters/notesMaster1.xml" Id="Rab247957964d44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3efb451a824f2b" /><Relationship Type="http://schemas.openxmlformats.org/officeDocument/2006/relationships/notesMaster" Target="/ppt/notesMasters/notesMaster1.xml" Id="Ra36df3946cf447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fc200906bab4eb3" /><Relationship Type="http://schemas.openxmlformats.org/officeDocument/2006/relationships/notesMaster" Target="/ppt/notesMasters/notesMaster1.xml" Id="R8411b419a0ab4f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140bee2f484552" /><Relationship Type="http://schemas.openxmlformats.org/officeDocument/2006/relationships/notesMaster" Target="/ppt/notesMasters/notesMaster1.xml" Id="R9a6fdc2e866348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ab0c6ddc45b420d" /><Relationship Type="http://schemas.openxmlformats.org/officeDocument/2006/relationships/notesMaster" Target="/ppt/notesMasters/notesMaster1.xml" Id="R5ec9889d953847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226d632d384ef4" /><Relationship Type="http://schemas.openxmlformats.org/officeDocument/2006/relationships/notesMaster" Target="/ppt/notesMasters/notesMaster1.xml" Id="Rdccee48b81d244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90a4fbb7c447e9" /><Relationship Type="http://schemas.openxmlformats.org/officeDocument/2006/relationships/notesMaster" Target="/ppt/notesMasters/notesMaster1.xml" Id="Rab275a38f57942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各位评委好。项目面向雄安新区窄路密网条件下的区域拥堵传播问题，搭建20路口微观仿真平台，把交通预测、多路口信号控制、车辆路径和异常降级接入同一运行闭环。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项目没有把问题限定为单个路口配时。窄路密网中的上游排队会影响下游放行，因此方案从区域状态出发组织预测与控制。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  <a:p xmlns:a="http://schemas.openxmlformats.org/drawingml/2006/main">
            <a:r>
              <a:t>图片来源：雄安新区官网《飞“阅”雄安丨走近雄安新区容西片区！》https://www.xiongan.gov.cn/2022-11/06/c_1211697669.htm，摄影：赵伟彤。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先给出三项有材料支撑的结果：20路口与80条有向边、ONNX FP32动作一致率100%、热点场景后期速度恢复。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平台按Cloud、Edge、Vehicle和SUMO四层组织。云端汇聚状态，边缘侧输出控制动作，车辆侧调整路径，SUMO负责交通演化。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仿真路网包含20个信号路口与80条有向边。场景配置区分空间结构、校准参数和合成交通流。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STGCN用于识别未来交通趋势，MAPPO将31维观测映射为保持或推进动作。安全控制器仍负责动作合法性。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训练记录覆盖数据准备、训练方式、对照验证和模型交付。现场说明以训练日志和模型配置为准。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PyTorch Actor已经转换为ONNX FP32与INT8。FP32动作一致率100%，INT8体积降到24.9KB且动作一致率约99.4%。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AI输出不直接获得信号灯控制权。控制器检查信号安全约束，推理或通信异常时依次降级到SCOOT与固定配时。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  <a:p xmlns:a="http://schemas.openxmlformats.org/drawingml/2006/main">
            <a:r>
              <a:t>图片来源：Unsplash：Altansukh E，https://unsplash.com/photos/high-rise-buildings-during-night-time-0hSCUJN86To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系统从启动、载入路网、注入事件和切换算法连续运行到报告导出。前端显示路网与算法状态，后端通过FastAPI、WebSocket和TraCI控制SUMO。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对照实验保持路网、车流、事件和采样规则一致。预热90秒，策略每5秒决策，指标每30秒采样。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标准车流下，MAPPO平均等待45秒，低于SCOOT的60秒，平均速度由1.71提高到1.77米每秒。固定配时在这一统计窗口表现更好，结论仅覆盖该场景。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约314辆投放时，到达车辆数由8提高到13。热点360至480秒窗口内，平均速度由约2.4至2.6提高到3.6至4.1米每秒。超饱和后受物理容量限制。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项目的贡献在于贯通控制闭环、统一算法评测接口，并把模型转换与安全降级纳入工程验证。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项目已经形成从20路口仿真、模型训练与转换，到多算法对照、异常降级和报告导出的完整链路。结论覆盖本次仿真环境与报告统计窗口。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本页汇总对应技术细节与审查口径。回答时以项目配置、日志和实验记录为准。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本页汇总对应技术细节与审查口径。回答时以项目配置、日志和实验记录为准。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本页汇总对应技术细节与审查口径。回答时以项目配置、日志和实验记录为准。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本页汇总对应技术细节与审查口径。回答时以项目配置、日志和实验记录为准。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本页汇总对应技术细节与审查口径。回答时以项目配置、日志和实验记录为准。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本页汇总对应技术细节与审查口径。回答时以项目配置、日志和实验记录为准。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本页汇总对应技术细节与审查口径。回答时以项目配置、日志和实验记录为准。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本页汇总对应技术细节与审查口径。回答时以项目配置、日志和实验记录为准。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ca0543cd644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eddb6c5cb1468a" /><Relationship Type="http://schemas.openxmlformats.org/officeDocument/2006/relationships/slideLayout" Target="/ppt/slideLayouts/slideLayout1.xml" Id="R25f9a970d9914d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9a970d9914d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Eco City Visual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 Vis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4619c2224461e" /><Relationship Type="http://schemas.openxmlformats.org/officeDocument/2006/relationships/image" Target="/ppt/media/image.jpeg" Id="R6860eb65bc7d4c99" /><Relationship Type="http://schemas.openxmlformats.org/officeDocument/2006/relationships/notesSlide" Target="/ppt/notesSlides/notesSlide1.xml" Id="R3b8e583d230c47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f890de2a9484c" /><Relationship Type="http://schemas.openxmlformats.org/officeDocument/2006/relationships/image" Target="/ppt/media/image2.jpeg" Id="Rbd6385011af54335" /><Relationship Type="http://schemas.openxmlformats.org/officeDocument/2006/relationships/notesSlide" Target="/ppt/notesSlides/notesSlide2.xml" Id="R5d628d8a155447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a1cecb7464c79" /><Relationship Type="http://schemas.openxmlformats.org/officeDocument/2006/relationships/notesSlide" Target="/ppt/notesSlides/notesSlide3.xml" Id="R45e36351675d44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df4f76baa4c39" /><Relationship Type="http://schemas.openxmlformats.org/officeDocument/2006/relationships/notesSlide" Target="/ppt/notesSlides/notesSlide4.xml" Id="Rae3f456a7cc745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55c17f597464c" /><Relationship Type="http://schemas.openxmlformats.org/officeDocument/2006/relationships/notesSlide" Target="/ppt/notesSlides/notesSlide5.xml" Id="R77ef9db45daf40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48d71223f4641" /><Relationship Type="http://schemas.openxmlformats.org/officeDocument/2006/relationships/notesSlide" Target="/ppt/notesSlides/notesSlide6.xml" Id="R102a07586c8d43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dc8ec6dda4753" /><Relationship Type="http://schemas.openxmlformats.org/officeDocument/2006/relationships/notesSlide" Target="/ppt/notesSlides/notesSlide7.xml" Id="R0a7ec492099a4b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68c8896b34d23" /><Relationship Type="http://schemas.openxmlformats.org/officeDocument/2006/relationships/notesSlide" Target="/ppt/notesSlides/notesSlide8.xml" Id="Rde962e68ce074b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2386a82b84317" /><Relationship Type="http://schemas.openxmlformats.org/officeDocument/2006/relationships/image" Target="/ppt/media/image3.jpeg" Id="R7c9516d5e33046b0" /><Relationship Type="http://schemas.openxmlformats.org/officeDocument/2006/relationships/notesSlide" Target="/ppt/notesSlides/notesSlide9.xml" Id="R0ff4b2cfab8c46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abf6847e940a5" /><Relationship Type="http://schemas.openxmlformats.org/officeDocument/2006/relationships/notesSlide" Target="/ppt/notesSlides/notesSlide10.xml" Id="Rec0a188ff9a54e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4141c4a824ba9" /><Relationship Type="http://schemas.openxmlformats.org/officeDocument/2006/relationships/notesSlide" Target="/ppt/notesSlides/notesSlide11.xml" Id="Rdf91c2eb809248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815d08aa64dac" /><Relationship Type="http://schemas.openxmlformats.org/officeDocument/2006/relationships/chart" Target="/ppt/slides/charts/chart1.xml" Id="R241c21a713104e7a" /><Relationship Type="http://schemas.openxmlformats.org/officeDocument/2006/relationships/chart" Target="/ppt/slides/charts/chart2.xml" Id="Rad2067b259fa4e0c" /><Relationship Type="http://schemas.openxmlformats.org/officeDocument/2006/relationships/notesSlide" Target="/ppt/notesSlides/notesSlide12.xml" Id="Rb0acc841af784c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2a1ecce0a4a1f" /><Relationship Type="http://schemas.openxmlformats.org/officeDocument/2006/relationships/image" Target="/ppt/media/image.png" Id="Rf8ab1dc43ef84fe3" /><Relationship Type="http://schemas.openxmlformats.org/officeDocument/2006/relationships/image" Target="/ppt/media/image2.png" Id="R926a38146bf945f7" /><Relationship Type="http://schemas.openxmlformats.org/officeDocument/2006/relationships/notesSlide" Target="/ppt/notesSlides/notesSlide13.xml" Id="R742a177a82914e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da2bf34654876" /><Relationship Type="http://schemas.openxmlformats.org/officeDocument/2006/relationships/notesSlide" Target="/ppt/notesSlides/notesSlide14.xml" Id="Rb8dca0eb95dc4b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a39f1f68c436f" /><Relationship Type="http://schemas.openxmlformats.org/officeDocument/2006/relationships/image" Target="/ppt/media/image4.jpeg" Id="Rc6445f7e776a4644" /><Relationship Type="http://schemas.openxmlformats.org/officeDocument/2006/relationships/notesSlide" Target="/ppt/notesSlides/notesSlide15.xml" Id="R0a3914cb322a48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2c959fd40433a" /><Relationship Type="http://schemas.openxmlformats.org/officeDocument/2006/relationships/notesSlide" Target="/ppt/notesSlides/notesSlide16.xml" Id="R82ff716e6f6443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add2097d244b7" /><Relationship Type="http://schemas.openxmlformats.org/officeDocument/2006/relationships/notesSlide" Target="/ppt/notesSlides/notesSlide17.xml" Id="R6fc7631b2dc945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4eb5881c94e2d" /><Relationship Type="http://schemas.openxmlformats.org/officeDocument/2006/relationships/notesSlide" Target="/ppt/notesSlides/notesSlide18.xml" Id="R9dd6b15f0fc74a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693bf350945be" /><Relationship Type="http://schemas.openxmlformats.org/officeDocument/2006/relationships/notesSlide" Target="/ppt/notesSlides/notesSlide19.xml" Id="R391f2c8e597440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0e0fa82384ed5" /><Relationship Type="http://schemas.openxmlformats.org/officeDocument/2006/relationships/notesSlide" Target="/ppt/notesSlides/notesSlide20.xml" Id="Rb6f6eb7eb90c4f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f50fcda6948da" /><Relationship Type="http://schemas.openxmlformats.org/officeDocument/2006/relationships/notesSlide" Target="/ppt/notesSlides/notesSlide21.xml" Id="Ra2d3a678bba848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bace0a3114bb4" /><Relationship Type="http://schemas.openxmlformats.org/officeDocument/2006/relationships/notesSlide" Target="/ppt/notesSlides/notesSlide22.xml" Id="Rfb345988e3fa41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226d30392436e" /><Relationship Type="http://schemas.openxmlformats.org/officeDocument/2006/relationships/notesSlide" Target="/ppt/notesSlides/notesSlide23.xml" Id="R31d072c3e5e140f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平均速度</c:v>
          </c:tx>
          <c:spPr>
            <a:solidFill xmlns:a="http://schemas.openxmlformats.org/drawingml/2006/main">
              <a:srgbClr val="16856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0A99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91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85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固定配时</c:v>
                </c:pt>
                <c:pt idx="1">
                  <c:v>SCOOT</c:v>
                </c:pt>
                <c:pt idx="2">
                  <c:v>MAPPO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3.07</c:v>
                </c:pt>
                <c:pt idx="1">
                  <c:v>1.71</c:v>
                </c:pt>
                <c:pt idx="2">
                  <c:v>1.77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72E"/>
                  </a:solidFill>
                  <a:latin typeface="WenQuanYi Micro Hei"/>
                  <a:ea typeface="WenQuanYi Micro Hei"/>
                  <a:cs typeface="WenQuanYi Micro 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9D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WenQuanYi Micro Hei"/>
                    <a:ea typeface="WenQuanYi Micro Hei"/>
                    <a:cs typeface="WenQuanYi Micro Hei"/>
                  </a:rPr>
                  <a:t>m/s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WenQuanYi Micro Hei"/>
                  <a:ea typeface="WenQuanYi Micro Hei"/>
                  <a:cs typeface="WenQuanYi Micro 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DF7"/>
        </a:solidFill>
      </c:spPr>
    </c:plotArea>
    <c:plotVisOnly val="1"/>
  </c:chart>
  <c:spPr>
    <a:solidFill xmlns:a="http://schemas.openxmlformats.org/drawingml/2006/main">
      <a:srgbClr val="FFFDF7"/>
    </a:solidFill>
    <a:ln xmlns:a="http://schemas.openxmlformats.org/drawingml/2006/main" w="9525">
      <a:solidFill>
        <a:srgbClr val="C8913D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平均等待</c:v>
          </c:tx>
          <c:spPr>
            <a:solidFill xmlns:a="http://schemas.openxmlformats.org/drawingml/2006/main">
              <a:srgbClr val="16856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0A99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91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85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固定配时</c:v>
                </c:pt>
                <c:pt idx="1">
                  <c:v>SCOOT</c:v>
                </c:pt>
                <c:pt idx="2">
                  <c:v>MAPPO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25</c:v>
                </c:pt>
                <c:pt idx="1">
                  <c:v>60</c:v>
                </c:pt>
                <c:pt idx="2">
                  <c:v>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72E"/>
                  </a:solidFill>
                  <a:latin typeface="WenQuanYi Micro Hei"/>
                  <a:ea typeface="WenQuanYi Micro Hei"/>
                  <a:cs typeface="WenQuanYi Micro 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9D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WenQuanYi Micro Hei"/>
                    <a:ea typeface="WenQuanYi Micro Hei"/>
                    <a:cs typeface="WenQuanYi Micro Hei"/>
                  </a:rPr>
                  <a:t>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WenQuanYi Micro Hei"/>
                  <a:ea typeface="WenQuanYi Micro Hei"/>
                  <a:cs typeface="WenQuanYi Micro 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DF7"/>
        </a:solidFill>
      </c:spPr>
    </c:plotArea>
    <c:plotVisOnly val="1"/>
  </c:chart>
  <c:spPr>
    <a:solidFill xmlns:a="http://schemas.openxmlformats.org/drawingml/2006/main">
      <a:srgbClr val="FFFDF7"/>
    </a:solidFill>
    <a:ln xmlns:a="http://schemas.openxmlformats.org/drawingml/2006/main" w="9525">
      <a:solidFill>
        <a:srgbClr val="C8913D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0eb65bc7d4c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09FC2-1BCF-4EE4-9204-DD83334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E4300-D4E9-4B1E-A1C6-A2D1944B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赛道C  XH 202613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E9044-1161-4D81-865E-C99AB0D9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810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面向雄安新区城市大脑的</a:t>
            </a:r>
          </a:p>
          <a:p xmlns:a="http://schemas.openxmlformats.org/drawingml/2006/main">
            <a:pPr algn="l">
              <a:def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车路云一体化协同管控平台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4FB62-64C2-4491-BD61-73A8F04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95DBA-7933-42F0-B399-20FB77F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20 路口微观仿真与多路口协同控制</a:t>
            </a:r>
          </a:p>
        </p:txBody>
      </p:sp>
    </p:spTree>
    <p:extLst>
      <p:ext uri="{BB962C8B-B14F-4D97-AF65-F5344CB8AC3E}">
        <p14:creationId xmlns:p14="http://schemas.microsoft.com/office/powerpoint/2010/main" val="873027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4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385011af54335"/>
          <a:srcRect xmlns:a="http://schemas.openxmlformats.org/drawingml/2006/main" l="15278" t="0" r="15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4DFDB-9F7B-404B-9727-2A7BF3D1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B3E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23E7E-64D9-4792-AA1C-A2B1E668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76B2F-939B-43FC-BDFB-C6EF4ADF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真实场景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EA38C-4A8D-48C2-8C9C-F65A78C7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雄安场景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与赛题任务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A1D50-352B-4E0E-B45D-E59C787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F0EC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E8F0EC"/>
                </a:solidFill>
                <a:latin typeface="WenQuanYi Micro Hei"/>
                <a:ea typeface="WenQuanYi Micro Hei"/>
                <a:cs typeface="WenQuanYi Micro Hei"/>
              </a:rPr>
              <a:t>窄路密网下，局部排队会沿短路段向相邻路口传播。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88149-8088-45C8-9976-0FFCBF63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0DF3C-033F-4383-AB7B-CC5C757F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场景特征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C0BBA-A0D3-4E18-B8D7-F18E7FB5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路口间距小，状态相互影响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47548-CB02-4F0B-B5EA-D44A1A58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F6A12-4DFB-4D28-A04F-C853662E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控制难点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22BA9-6163-443B-8D48-FA349E93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单点定时难以处理空间不均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449BA-FD30-4168-A75C-E1CD34DA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A4292-E479-4A97-929A-C41A6252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赛题任务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648B0-318B-4FD5-BE84-5334A1A6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4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高保真仿真、轻量 AI、量化评估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9B34C-EFAB-48C5-8C49-D3FCD88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7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官方场景图：容西片区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FC8F3-EFD3-4D1C-A673-4AF10B07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3CF67-6419-4AD5-B417-247C2DBA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0594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2AB17-144D-4C46-A5D0-148E01A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F6684-ECEE-41E6-8D7D-4E94EED5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项目方案与已验证结果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2175A-A118-4191-826D-A29EEB5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3CB84-2C49-47B0-8089-6D0B166D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603E1-6178-4475-899B-01378C02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F51FE-B5FB-478A-968D-67014034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三组已验证数据概括项目结果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85585-6543-4D95-A703-CE61B083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B169B-EFD7-4BE1-904D-97216381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BDD04-EB5A-4AF0-922E-206D150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信号路口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3AA37-3183-4151-B177-E70217B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80 条有向边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构成区域协同控制对象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3CC77-01C3-4923-892C-7147C3F3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5000B-0C4A-4495-9FFF-07FFA590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36DA7-A919-44BA-B0CF-B5CC91DC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动作一致率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FDE97-F24D-40E8-AFCF-C15A98E4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718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ONNX FP32 与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PyTorch 基准动作一致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17C2F-B375-446D-8F7B-21F1069D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478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4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3.6-4.1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F571B-B575-43FE-8EDE-8ED46653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289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9C083-F88A-4457-84C0-24388117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m/s 热点速度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46C22-3432-4325-A0BD-07615B21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7182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360至480秒后期窗口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基线约2.4至2.6 m/s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E403E-33BB-417D-8E37-B6F5D803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6E557-4425-4B4B-907F-9DA2621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结论边界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F4FD5-0D82-4F36-BBA3-3487F56B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平台已形成可运行闭环。性能结论对应本次仿真场景与统计窗口。</a:t>
            </a:r>
          </a:p>
        </p:txBody>
      </p:sp>
    </p:spTree>
    <p:extLst>
      <p:ext uri="{BB962C8B-B14F-4D97-AF65-F5344CB8AC3E}">
        <p14:creationId xmlns:p14="http://schemas.microsoft.com/office/powerpoint/2010/main" val="103154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C1FC7-717B-49C5-83C1-257A9AD1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CE22E-B076-48EC-989E-79D5A15F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车路云架构与控制闭环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ACC30-9E1A-47EB-A546-6F6D9359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DB0A5-5B23-4735-8D4D-1C3DF5F0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720D1-B511-48C1-9A43-FCB02ADC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CE647-80E5-4103-9BF4-89A0B4B9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状态上行、目标下发与执行反馈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D4ECE-27B0-479D-9706-EE5D4D4A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858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C8913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AB359-38B8-49A2-91BC-583C925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3C927-7D20-4A97-922C-4EB67000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24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状态汇聚、趋势预测与区域协调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28163-E485-4EB7-9D33-9A7C8299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384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7B8BB-16FE-4B0B-A9EA-05150C1D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76525"/>
            <a:ext cx="6210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F4EE1-6A4C-453A-9265-956F89F5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908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71697-BE23-4736-8061-B70828D5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9082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MAPPO决策、安全校验与异常降级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FBDE1-3B98-4381-9032-CE0838E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051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2A389-D631-40DC-A699-BFD46EA5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55626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7AA41-2723-4691-BC2E-993661E6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6576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VEHICLE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0FDBB-1904-4A9E-BC47-100182A1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5760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动态路径执行与状态反馈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21F39-70A7-4A58-9698-A1F98863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4FD0E-EDF7-4964-83D0-022C02F7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10075"/>
            <a:ext cx="49149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B647A-5E57-4281-9C2A-77EFA35C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243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SUMO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B2B42-C856-4321-B6BF-D88A48B4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2437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路网、车辆、信号、事件与KPI演化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DA6BB-0FF0-44FC-A873-BB17AE4F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5717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123F39"/>
          </a:solidFill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61D78-9576-4F6C-B87F-4EFE3BA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通信层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D5162-586C-4028-9031-185C3648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REST API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WebSocket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B9FC5-3903-4A27-A5BE-02B7C29B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25717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23F39"/>
          </a:solidFill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EFDAC-9E46-462D-BD73-3868D4C4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执行边界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92CCC-C46A-4300-85D7-FA1A2600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模型动作先经过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信号安全控制器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42B0B-A071-48CA-BC5F-F282FB90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30A499-782A-4031-BEEA-0B50AE50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平台当前默认加载PyTorch权重。ONNX已经完成转换与CPU推理验证。</a:t>
            </a:r>
          </a:p>
        </p:txBody>
      </p:sp>
    </p:spTree>
    <p:extLst>
      <p:ext uri="{BB962C8B-B14F-4D97-AF65-F5344CB8AC3E}">
        <p14:creationId xmlns:p14="http://schemas.microsoft.com/office/powerpoint/2010/main" val="472746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4E95A4-9651-47A3-BC96-CDD9785B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2CD7F-CF0C-4EA5-A376-64E6A2A0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20 路口微观仿真环境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4092D-8AE8-48C2-9E64-DF8229C0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E5840-29D4-46BC-A4DE-B814EE64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31F2A-50BF-469E-AD7E-338986A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3FC35-B1BE-44E1-A1B8-7F2E2EFC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一张固定拓扑，承载五类可复现场景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F00FA-DBD3-4A43-AE88-AFBA9CC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905625" cy="39052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8D0B7-BE09-41D2-B762-8D43A1D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CF515-0C28-4B52-A6C2-F9352CC1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CECE6-BE26-48CB-B9B0-DA856200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EB717-73B2-4AE8-A08A-B3C3873E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B7CAD-888E-4046-B74B-D141E605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288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AFD05-2778-4CF1-B240-DA4FD22E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333A1-4F68-4798-A959-DF599B2C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288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F5DF2-2652-4EE6-B1FB-6E5090A8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C0107-F1B9-47B0-B4CF-CAD0AFFB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4582C-482B-4725-8D94-A6C2E5A2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F432A-3742-46D8-BBCE-F21FB9E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DEE68-EA57-48E0-9AF7-5FDA0408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52BF0-9D1A-49B0-B1FC-35434066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B85AC-FE66-46F1-BDD3-CF6AB2F5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99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B02F1-174A-4146-824C-15949090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AAFDF-84DF-46E3-8730-796CE4A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99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3A522-9AFE-41F8-BCC3-DD2A980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8FA1A-9432-42BF-B916-751C07E2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58CE7-86AE-4824-8980-4F34FF01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909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DF28E-3A13-44B9-BDCB-E740B35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F6A0D-A18F-41B6-A92D-4E34652F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909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C81537-DEB3-4A09-8002-7083B9D9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F36BF-D1D7-4210-BE3E-D89E2D89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1535B-A07E-406E-95A2-A2983058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512514-2ADB-4342-9445-4AEFAACF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909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38D5E9-6B33-4862-9C58-9E97CDC3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AB1CC-0B6E-4E47-8066-63089ABF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DADBC-F141-489D-800B-48AF4926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2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F1C50C-7183-431C-BE5C-D6CE80B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72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75F9CA-E120-4799-8E71-5F76728A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72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F77B48-4ABE-4C4F-8412-6BB37B1F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72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4C9815-43D0-42B5-95D8-D1541E2A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E265BB-0DF6-46EC-B7DE-F0418521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C8A633-3C92-4A0D-B51A-6FB57F70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1137A6-E3A8-42B7-B870-A3F19215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474D74-7815-4DB4-89CA-206F60F6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5CFDFC-CFAE-4770-96C8-6CD1711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DDE98C-60C1-4000-B8FF-F4FD7E19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99F7F2-02FB-4627-9790-CB738AB0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6248C-B91A-46F2-98F2-A35D71B5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4DB9D0-5F3A-4A84-A0D6-FC726826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DD7669-E833-47E4-99D3-DCBE573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353949-007E-4AF0-8679-68377A65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32B2BE-4083-4597-A69A-717F486D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ECC8D6-6C73-452F-BF0E-6DFFE640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24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HOTSPOT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C192D2-35CF-4B2F-9BBA-2C682E34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04DD2F-407E-406B-A7B9-8330608D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AF934B-84F1-44DC-9C33-4D0632DB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08EAC9-38A0-49C0-AF7F-03386DF7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949766-A48D-4716-A03D-8BAC32CC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FCEE3A-E653-4839-A7BA-F7CC79F1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E3628A-A31F-491E-AA65-77F07C48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FC855D-ADDC-496E-8CB0-743C5DCD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84973A-1ADA-43D8-B840-C981644F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911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信号路口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F11862-45AE-4E26-90AC-3757202D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6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6B9487-154B-4DCC-A9BB-C9C3B7D6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91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有向边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8A402F-7EBB-49AF-9DED-13CC7CD2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场景类型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C295E2-3F2E-4910-9A18-2CAC1BEB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稀疏、常态、峰期、极端与热点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A52B15-5454-4AAE-B23E-D4B24DCE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81325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F1EF03-A5FD-4483-B0F4-76566630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构建流程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40C2CB-E566-4BE5-A40F-AFA06261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路网清洗、相位配置、需求生成、事件注入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552783-5768-4BAF-A05B-C963E2A5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9575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35C1A5-E90E-4BA4-B537-03169893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数据边界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29B9F2-2DBD-4161-B39A-722869BA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空间结构、校准参数与合成交通流分别标注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88EF01-18F3-4E1E-B098-552C8E58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9856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ABC41C-2A46-41F3-9CF1-4C79624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55720-CE82-41DD-81DA-0F49401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 预测与 MAPPO 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91882-3492-4BF6-8A3E-499A670E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ABF9D-73DA-4D6D-A04E-A4177482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75E96-667A-47B4-9B86-407D6F83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0865E-5C90-4C57-932F-F9DD35DE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6096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C0A10-8009-48DB-9686-C165FD5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6096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4CFFE-EB70-42FD-8484-B067CAE6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  趋势识别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47BB8-71FE-4AA6-996B-F9161504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8A380-EE4E-4797-8CC1-DEACD8D5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历史流量、速度、占有率</a:t>
            </a:r>
          </a:p>
          <a:p xmlns:a="http://schemas.openxmlformats.org/drawingml/2006/main">
            <a:pPr algn="l">
              <a:def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结合路网邻接关系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8F3BC-0678-4231-A4D6-0E613B39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857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18BA4-4D0C-4CA5-80C3-B0B15AFA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7867C-AFD8-42A5-B7EF-33E827F6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857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7B50C-839F-4579-A97A-FC86DDFC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24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9A4D7-00D2-41EC-88FD-45F74684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95750"/>
            <a:ext cx="857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3A3DA-08E6-46E6-86B7-8E16468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43F24-FAEA-4B48-9AA6-EB525CA7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95750"/>
            <a:ext cx="857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046C4-6523-4809-8107-61B1A24D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24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9266D-08F6-4EB1-B676-44FA3CBF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C3473-6C36-4ABF-BB9E-56454FE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短时趋势支持区域目标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AE3A6-8301-4962-83CA-732FE06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  路口决策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AF16A-E0FB-40C7-851B-8DCBD459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MAPPO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B223E-96CF-4081-A638-08AD1C15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7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0C4C4-8FD5-4002-8EC2-824C1723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维观测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3E3B7-B73C-42E8-8840-308C555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03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7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814AA-715B-41A7-A484-90844FB9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动作 logits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6707D-2093-41E0-B130-9B3C4D89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D3BF2-EDB7-4061-A770-D6EFBD94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147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KEEP  保持绿灯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EB9AB0-8FA5-44BF-9599-165E56F6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7B2590-9DD9-433C-B1AD-D5AD02C2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ADVANCE  推进相位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B2E7BA-137F-44FA-BD92-0D35630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最小绿、最大绿、黄灯和全红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非法动作校验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2CD9D9-D891-4254-A3CB-D1E2B859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D455C-F283-498F-A4C3-BA66437D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旧材料中的 18 维接口仅作为历史版本说明，不与最终 31 维模型混用。</a:t>
            </a:r>
          </a:p>
        </p:txBody>
      </p:sp>
    </p:spTree>
    <p:extLst>
      <p:ext uri="{BB962C8B-B14F-4D97-AF65-F5344CB8AC3E}">
        <p14:creationId xmlns:p14="http://schemas.microsoft.com/office/powerpoint/2010/main" val="1846027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E03B8-1911-4353-8D87-49506802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2A407-793D-4C03-8344-7B45592A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数据处理、训练与模型选择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80954-CECB-4FFD-A368-05B2A044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3EA87-3048-4289-93C5-3F99F355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9A5AE-B87B-4611-8BDD-B234ED38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95DC0-48D4-48C5-AA1C-96C3EBFC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四段式证据链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371DC-7888-41DE-856C-B0BC289A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80A9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1B30C-38DC-4251-ABAD-55BBAE54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58B62-9BE5-46BB-8858-537C019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846BA-FA03-4288-B376-81016B57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数据准备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683CD-FD19-40E5-8055-749D6EF9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场景轮换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固定种子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观测归一化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A5CA0-3E82-465E-B35C-AD14010A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73260-9F6F-41D2-9B09-CE9B36F9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4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34F91-748C-4BD7-9F29-90BA2AC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模型训练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B5E65-441F-493F-A0A6-42B3465B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中心化训练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分散执行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共享Actor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E4B19-1868-44CC-9DA0-6AA2CDE3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99559-CE67-40A3-9B0A-D842A0E3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4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C9DBB-115D-49C9-9911-AD64A39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验证选择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19482-6042-43EF-A16F-6A6ACEC1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固定配时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SCOOT对照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6580F-639C-451B-B5A1-AE65AB49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72F8C-7662-4DE6-A858-988E8960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378C2-FB93-4F3C-B92B-B65326C3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模型交付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028ED-50FE-496C-9074-B5ED2174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43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配置与日志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曲线与权重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D7A1C-8EC3-4C9F-A8CB-5841547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57D06-CAD6-49C5-9C66-F38E19FE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复现记录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E70A3F-720A-4C75-9E7B-A08A5B5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数据集划分、主要超参数、随机种子、收敛曲线与权重选择依据</a:t>
            </a:r>
          </a:p>
        </p:txBody>
      </p:sp>
    </p:spTree>
    <p:extLst>
      <p:ext uri="{BB962C8B-B14F-4D97-AF65-F5344CB8AC3E}">
        <p14:creationId xmlns:p14="http://schemas.microsoft.com/office/powerpoint/2010/main" val="864248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394AC-9AD2-4125-AD18-CE852AF6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20BF1-52B7-415B-91F5-E00CFC2E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模型转换与 CPU 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E85FF-8480-420D-BF1A-D7735F6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1E406-9738-4B07-AC48-0F79F8B5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C4495-20DA-486F-B15A-F6B63C71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F7A90-9EE9-40C7-BE5D-7AD093F4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模型体积显著收缩，部署口径仍保持克制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953000" y="1857375"/>
          <a:ext xmlns:a="http://schemas.openxmlformats.org/drawingml/2006/main" cx="6629400" cy="28956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94180"/>
                <a:gridCol w="1178560"/>
                <a:gridCol w="2283460"/>
                <a:gridCol w="1473200"/>
              </a:tblGrid>
              <a:tr h="7239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模型形态</a:t>
                      </a:r>
                    </a:p>
                  </a:txBody>
                  <a:tcPr marL="91440" marR="91440" marT="45720" marB="45720">
                    <a:solidFill>
                      <a:srgbClr val="C89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体积</a:t>
                      </a:r>
                    </a:p>
                  </a:txBody>
                  <a:tcPr marL="91440" marR="91440" marT="45720" marB="45720">
                    <a:solidFill>
                      <a:srgbClr val="C89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推理条件</a:t>
                      </a:r>
                    </a:p>
                  </a:txBody>
                  <a:tcPr marL="91440" marR="91440" marT="45720" marB="45720">
                    <a:solidFill>
                      <a:srgbClr val="C89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动作一致率</a:t>
                      </a:r>
                    </a:p>
                  </a:txBody>
                  <a:tcPr marL="91440" marR="91440" marT="45720" marB="45720">
                    <a:solidFill>
                      <a:srgbClr val="C8913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PyTorch FP32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84.7 KB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平台默认加载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基准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ONNX FP32</a:t>
                      </a:r>
                    </a:p>
                  </a:txBody>
                  <a:tcPr marL="91440" marR="91440" marT="45720" marB="45720">
                    <a:solidFill>
                      <a:srgbClr val="0F37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82.5 KB</a:t>
                      </a:r>
                    </a:p>
                  </a:txBody>
                  <a:tcPr marL="91440" marR="91440" marT="45720" marB="45720">
                    <a:solidFill>
                      <a:srgbClr val="0F37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单次约 0.0074 ms</a:t>
                      </a:r>
                    </a:p>
                  </a:txBody>
                  <a:tcPr marL="91440" marR="91440" marT="45720" marB="45720">
                    <a:solidFill>
                      <a:srgbClr val="0F37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0F372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ONNX INT8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24.9 KB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批量 64 约 0.028 ms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约 99.4%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189FE-5DD5-4432-990A-00D24A2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84.7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D718-369A-46DF-9181-B8E903BA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KB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81664-3E9F-4846-9B52-0F9AC99A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0181D-2E7A-49F0-8276-BA3749D6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PyTorch FP32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75486-68C2-4972-9A48-FBE25B4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24.9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ADB8B-F6BC-4C28-8AE5-AD77C98C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481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KB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5D19B-994E-46BD-A9AF-AA172D1F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F2221-71D7-4136-9CF5-E5D1A257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ONNX INT8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16EE2-8564-4AC2-BF7F-6CE1F64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E7888-D0E2-45B3-A412-84D02CE1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FP32单次延迟与INT8批量延迟来自不同测试条件，不能直接比较。目标RSU仍需实测。</a:t>
            </a:r>
          </a:p>
        </p:txBody>
      </p:sp>
    </p:spTree>
    <p:extLst>
      <p:ext uri="{BB962C8B-B14F-4D97-AF65-F5344CB8AC3E}">
        <p14:creationId xmlns:p14="http://schemas.microsoft.com/office/powerpoint/2010/main" val="6935802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516d5e33046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AFE52-402F-4756-BBEF-092B4C21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C2B">
              <a:alpha val="66667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6B00A-F432-4E15-8226-4CFA898C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安全控制与异常降级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8666C-779A-47D6-93D1-62741883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AI 动作不直接获得信号灯控制权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60861-F248-45E6-A585-A1C16658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790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DE9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84DF8-899C-4747-BF7C-EFA05BC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6856A">
              <a:alpha val="86667"/>
            </a:srgbClr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554EF-2420-4863-B26C-5C548E29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MAPPO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037ED-42E9-40A0-96B7-A091131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正常推理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5D7AF-6C66-483E-A5FB-D6F6D5BD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C8913D">
              <a:alpha val="86667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8A3E1-C0EA-463D-8C3D-CBA2185F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SCOOT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D9A52-AF74-46D4-8F58-FA0DA2E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76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一级降级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F63F6-FA8F-4573-885D-1FB88FC3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385D5B">
              <a:alpha val="86667"/>
            </a:srgbClr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65186-4BBF-49C9-913F-36E15CA0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FIXED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80B58-5DC5-43DC-AED0-9D9B1EF0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6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固定配时兜底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742C2-439C-4B44-8AD2-3C8A6C77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7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BCC0D-33FB-426C-8952-0047B06E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45F3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A45F38"/>
                </a:solidFill>
                <a:latin typeface="WenQuanYi Micro Hei"/>
                <a:ea typeface="WenQuanYi Micro Hei"/>
                <a:cs typeface="WenQuanYi Micro Hei"/>
              </a:rPr>
              <a:t>触发条件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25A62-82C8-443B-93BC-F0379976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00525"/>
            <a:ext cx="866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权重缺失、推理超时、通信异常或非法动作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E5664-B723-4522-B1A9-CED7878D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状态记录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79658-B9C3-4F13-9222-6719FD4F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24400"/>
            <a:ext cx="866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系统同步记录当前算法、触发原因、降级时间与恢复状态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3E8DD-19E0-483D-8DAA-4B6983E5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235D0-8E6A-4946-B617-A90DF738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模型动作先经安全控制器校验。异常时系统自动切换到传统控制方案。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0719B-3EEA-4630-A930-AD2A0F49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C1BAB-D4C7-4E95-B060-7DBF4EAD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8582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84DA9C-33A6-4D82-BDE0-CE2FB625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FD7B9-A2D6-4294-A58F-DA31853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系统实现与现场运行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88C0E-84B8-40C3-B472-73199F93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CD06F-A047-466C-86FA-F218B6DA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69DFB-5CD4-4165-86B1-8CFC7911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232DA-3F4F-4B25-8F5C-D1244F7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一条连续演示链路，把工程完成度讲清楚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E5228-7B9D-4FCA-A8B1-DF42AB75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000875" cy="3600450"/>
          </a:xfrm>
          <a:prstGeom xmlns:a="http://schemas.openxmlformats.org/drawingml/2006/main" prst="roundRect">
            <a:avLst>
              <a:gd name="adj" fmla="val 5820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32F63-5848-4F66-8A88-E29711B0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运行状态面板结构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FBB87-6F99-403A-A05B-7E1EF2D0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3F39"/>
          </a:solidFill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63176-F693-43FD-B550-560F1B39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8012D-B599-4FD3-A337-07C5103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CA481-CFD9-4511-90ED-AECB45F9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DC2A9-F5FC-47A1-B921-97180540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57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E3469-E9EF-43A4-AC17-E4A0A63B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575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B65BA-0DFC-4C0A-B7E1-2C9CEA0B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71F90-96CC-489A-8C39-1D21B2C8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575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80C76-08E7-47FF-AEF4-C4E7DB2C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36C2E-D426-4483-B010-E7812841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A6104-7EFC-49C5-B9C9-33D9C510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67A76-F345-4612-B313-9393EA27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14F18-6D52-4C9C-BC0A-3670FE1A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5242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B9AC1-05FD-4D60-87A2-E3E9CFB7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524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CCD3A-3662-44FF-BCFA-543AB50E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3EF26-3E5B-45C5-BF1C-0586A321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24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76DE4C-338A-4FDC-AB45-670F22A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890C35-589A-4200-9F06-AB36F96B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910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1ADA5A-2DC4-4CD3-AD44-C7B50CEC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24B37A-18E6-4798-A0A3-AF62ECF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1910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AE2E4-689F-45A2-9779-C8D8C3CF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4C7AE-FFCD-422A-8ACA-97FA8174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BAE8A-A2B6-49CE-8AE7-81A27927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3219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72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D68C0-DC43-4FD7-A9CF-88992742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仿真时间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E162DE-20AA-4FFA-A71C-4E4364B9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24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00:06:30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DDB873-7FD7-4BD3-BA05-9832D39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3219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72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0C216F-16C9-4546-8323-63D5AC1C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当前方案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ECBE80-1062-49B0-AFDE-552EC2BC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432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MAPPO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BCA0BC-89D3-45C2-B0CD-18DFCDED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3219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72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11928A-9178-4691-80D2-F0488C72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运行状态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72F1F6-220F-4AAF-B19B-41798DCC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4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4A075-B75B-44C7-B917-FF3FCE20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81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连接正常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0FC912-813E-4240-B295-B0C15DBD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329EE3-E53B-4A7F-AB16-4E7A640F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前端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578C0A-9040-4E46-A197-63C250D8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Vue 3、Canvas与ECharts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09F2CA-24E0-4367-B1A4-9F3CDDA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908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1B3D1F-1E93-4D8F-90B5-7DDF4178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后端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ACE9C9-38D3-4B3D-BF2D-35C24419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FastAPI、WebSocket与TraCI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D42DA5-9D52-4251-90E8-2F302C19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12D0B2-D558-4E56-AB9D-02411590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运行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B16E4C-71EE-417C-AB9F-271E4867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Docker Compose与Windows脚本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D3211F-2320-451D-B518-69A3A691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67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AB171C-7FB7-4CED-82B1-9D3FE7B5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输出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01126A-8A5C-4304-8D6F-79468B8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实时KPI、事件状态与评估报告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0F709C-9617-4FF1-AB5F-CD519874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97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A99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525A24-AC9E-4793-881B-C21D7095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5B3D72-0CFE-457B-BBBB-4197262F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启动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C4F08E-F5FD-41F6-92FD-B838105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EE7390-BF7C-4517-9019-F9B2C022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5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载入路网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6FE613-2CDB-4760-89A3-287A1BA1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B343C9-F302-4FBA-8C27-266458CE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5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注入事件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7906D1-58B4-44FE-8BB8-496DEB3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12C409-CD64-4F1D-A6E1-93D3E2B5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5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算法切换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426D2E-907B-447C-A42F-C22E0901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458F30-F180-44AB-AEF9-E1886A73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5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导出报告</a:t>
            </a:r>
          </a:p>
        </p:txBody>
      </p:sp>
    </p:spTree>
    <p:extLst>
      <p:ext uri="{BB962C8B-B14F-4D97-AF65-F5344CB8AC3E}">
        <p14:creationId xmlns:p14="http://schemas.microsoft.com/office/powerpoint/2010/main" val="866192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8D2481-CCA2-41E7-82D6-C2E956E6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CF936-EB41-4BB3-B308-165DFEE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实验设计与复现条件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1B099-A6EA-47A2-A457-17E137D7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B27BD-E9F1-4037-A364-CD7B2E5E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6C7F3-58C8-4B00-9BA1-AA2551A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CD02C-2906-4253-AB22-B023E8A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先固定条件，再比较算法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4E04C-BB11-4236-B502-BCD94A7C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90B1A-4D79-453D-B800-7E83DB9C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90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F074D-4613-46EA-AC15-CC09FCA1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预热后控制接管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5A800-093F-4FAD-A133-F33190DA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728CD-801D-425C-9BC4-25284031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5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4BDD7-508A-44D3-AC80-005720A0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策略决策周期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D0810-EC5D-4595-8D27-FD2377AC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57375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C5D1E-5055-4409-B4BF-D39585AE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30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32B3D-D916-4644-81F8-D4A8EAF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指标采样周期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04C24-717C-4ADD-85D6-0F14A90C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80A9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16CC6-C4B9-47F0-B0A8-42C03C20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5C623-02E3-49F8-90D1-7DFABF7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4A6FA-B251-461F-BAA0-F45514CE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5845F-4C9A-4790-82F6-8ACECC84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控制接管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A63AB-B289-4FD4-A9A6-E73E5A99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1C365-F9E4-45EF-BAE6-3E54A2F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循环决策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E5DFE-F96C-48EF-BCA9-3F8F2777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DD43E-1A1B-4A1D-B25C-60536042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循环采样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FC727-D75C-4FD8-93BA-DF6FDF9B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87FA1-62B1-4820-AF8F-6A5A4B7E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保存原始数据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19423-16A1-4796-BF57-CAA6FB4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25513-770C-462A-A696-B9F612C6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同一网络文件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246D8-51C3-4FFD-BD31-6E7E4F25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79975-9086-46CC-99C9-5C034D5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同一需求文件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1DDDB-BC5D-41C4-9C3E-349CBE3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8889D5-D57E-4288-B59C-DDA342D0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482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同一扰动配置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64C021-5CA2-4C85-B539-83C646D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48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CBB510-D478-4B45-A68A-5FEB5B55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代码与模型可追溯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0DDF4B-5215-4EE5-B88E-AB7B1CDB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95DE6F-5C3C-41BE-B230-1014C136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实验记录绑定代码提交号、模型文件哈希、SUMO版本与Python版本。</a:t>
            </a:r>
          </a:p>
        </p:txBody>
      </p:sp>
    </p:spTree>
    <p:extLst>
      <p:ext uri="{BB962C8B-B14F-4D97-AF65-F5344CB8AC3E}">
        <p14:creationId xmlns:p14="http://schemas.microsoft.com/office/powerpoint/2010/main" val="3370129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A6A61-2710-46B3-9B79-1B2BD758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6432A-5651-4793-A5A8-7D3B478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标准车流横向对比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9B177-8B34-487A-91EE-535F8FC9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7E211-CD78-4EC4-8052-75F240BE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DFA2A-B785-4C1E-8226-95ADC99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64B9A-01CE-4221-A2EB-A0BC143D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MAPPO 改善 SCOOT，但固定配时在该窗口仍更优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52197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1c21a713104e7a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62700" y="1952625"/>
          <a:ext xmlns:a="http://schemas.openxmlformats.org/drawingml/2006/main" cx="52197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2067b259fa4e0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DDFFA-85E8-409F-A8FF-B7C3773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平均速度 / m·s⁻¹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A8533-8D66-4FC1-B0A9-0EC2159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平均等待 /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4420C-8643-454E-856C-C3082754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70171-DB4A-4117-BED1-C4F64382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在网车辆数不等于吞吐。最终排序还需结合完成量与P95等尾部指标。</a:t>
            </a:r>
          </a:p>
        </p:txBody>
      </p:sp>
    </p:spTree>
    <p:extLst>
      <p:ext uri="{BB962C8B-B14F-4D97-AF65-F5344CB8AC3E}">
        <p14:creationId xmlns:p14="http://schemas.microsoft.com/office/powerpoint/2010/main" val="15458145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29132-33C9-4B90-AF8D-FE4005BD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D2E65-33D2-45AC-BB53-77864CBE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热点场景与算法边界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196A2-3276-4341-BAA6-6D69917F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65845-9A9A-47B2-9D60-2357807B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10E1E-D453-4264-80D2-39A4D490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5F972-8C36-49B7-8262-8CBB69F3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把最有区分度的实验结果放到画面中心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6F652-80E3-4AFD-90A0-446336EA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3028950"/>
          </a:xfrm>
          <a:prstGeom xmlns:a="http://schemas.openxmlformats.org/drawingml/2006/main" prst="roundRect">
            <a:avLst>
              <a:gd name="adj" fmla="val 4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b1dc43ef84fe3"/>
          <a:stretch xmlns:a="http://schemas.openxmlformats.org/drawingml/2006/main"/>
        </p:blipFill>
        <p:spPr>
          <a:xfrm xmlns:a="http://schemas.openxmlformats.org/drawingml/2006/main">
            <a:off x="723900" y="2543537"/>
            <a:ext cx="3771900" cy="1561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43085-F543-4F4B-8A35-92002768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6772275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a38146bf945f7"/>
          <a:stretch xmlns:a="http://schemas.openxmlformats.org/drawingml/2006/main"/>
        </p:blipFill>
        <p:spPr>
          <a:xfrm xmlns:a="http://schemas.openxmlformats.org/drawingml/2006/main">
            <a:off x="4953000" y="1993921"/>
            <a:ext cx="6486525" cy="283205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38630-B112-49EC-8F65-D9878EF9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000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55F31-0F26-4C43-B9E1-3A900CFF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1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62.5%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13E54-C223-43FA-A89D-0354C562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72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约314辆投放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到达数由8增至13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68BFC-CA0E-4291-8C2D-C48DF1CD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14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5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3.6–4.1 m/s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9CAEF-1958-4BAE-8E84-AB4DEAA4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625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热点后期平均速度，统计窗口360至480秒</a:t>
            </a:r>
          </a:p>
        </p:txBody>
      </p:sp>
    </p:spTree>
    <p:extLst>
      <p:ext uri="{BB962C8B-B14F-4D97-AF65-F5344CB8AC3E}">
        <p14:creationId xmlns:p14="http://schemas.microsoft.com/office/powerpoint/2010/main" val="14191237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AB40C-C617-4743-8F99-6882594F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F5D42-3BD4-430E-84BA-85F83ED7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创新、标准化与推广价值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04AE3-ECD3-4AC6-B427-863B4AF5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74A02-5BD3-4092-B0CE-5F00B072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A89F1-1733-4B03-970E-007B5BAF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656E2-54B0-4EFF-98D6-6D2B00EB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工程闭环、统一接口与可复现评测构成三项主要贡献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BEA69-06DF-4BA3-87CA-7D6D9047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050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E02E3-4BA1-49EA-BE64-F4D1413B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控制闭环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314CF-2B3C-405D-9735-CEEAA5E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F5047-40C0-4F35-8A51-BFC74E9C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rPr>
              <a:t>预测进入区域协调，路口动作与车辆路径共同反馈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2E118-EF71-4D4C-95CB-CACACBD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8F08A-D0F3-446D-A97C-54256B6A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系统架构与运行日志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AD389-1B1E-46E8-9B80-864F13C6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0545D-0854-4183-9451-505149C3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38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工程接口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81DDA-FC67-4E97-8EC4-84CCE2D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28B75-9D67-4650-B2C8-26C40F7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rPr>
              <a:t>固定配时、SCOOT与MAPPO使用统一接入方式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D9BF1-6818-4D30-A32B-D86E730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43482-3138-4BDB-BBB4-EF7D8E7E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接口、降级与一致性测试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B7925-381E-4A3E-9CF8-EC77BA5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050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64CED-3465-48BA-8DEF-9CA69476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评测规程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8ACF5-7961-4A13-BDFE-485E7C2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590CF-0DC3-44AD-9A06-5DBC02D7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rPr>
              <a:t>同路网、同车流、同事件和同种子完成复现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DCBA0-AF90-4872-8AEF-219B21B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2F7C8-6A37-40DF-AFA8-13465EBB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场景配置与原始数据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665EF-7950-4CF8-9B2A-DC739E4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BC8042-2D86-421B-9041-28FF1C1C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B3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0B4B3E"/>
                </a:solidFill>
                <a:latin typeface="WenQuanYi Micro Hei"/>
                <a:ea typeface="WenQuanYi Micro Hei"/>
                <a:cs typeface="WenQuanYi Micro Hei"/>
              </a:rPr>
              <a:t>项目定位为城市交通AI验证平台与测试规程参考，尚未覆盖真实道路生产部署。</a:t>
            </a:r>
          </a:p>
        </p:txBody>
      </p:sp>
    </p:spTree>
    <p:extLst>
      <p:ext uri="{BB962C8B-B14F-4D97-AF65-F5344CB8AC3E}">
        <p14:creationId xmlns:p14="http://schemas.microsoft.com/office/powerpoint/2010/main" val="4517465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45f7e776a4644"/>
          <a:srcRect xmlns:a="http://schemas.openxmlformats.org/drawingml/2006/main" l="26953" t="0" r="26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CEB2A-AF16-4BD8-ADC8-4DFAC6A0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BC36B-661C-4E56-9D16-67F8C45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07A8B-FA00-40F4-A132-B2F047BF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CD416-12AB-4FF8-A5A7-48FBC8A4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476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1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从仿真到安全运行，</a:t>
            </a:r>
          </a:p>
          <a:p xmlns:a="http://schemas.openxmlformats.org/drawingml/2006/main">
            <a:pPr algn="l">
              <a:defRPr sz="31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1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形成一条可复现闭环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49178-B260-4A05-B1F6-76BC603F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4FEDA-3AA6-4F4C-BE56-1DAF23FF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20 路口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06271-7301-4226-B7EE-8B78E410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微观仿真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55737-7183-4A0B-BEB0-BDDC756E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9CD0B-4643-4BC9-8968-6D3CF5D2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 + MAPPO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D6F77-D5DF-42FE-8E11-5D0F209B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48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预测与控制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7C62F-EC85-4CBF-A025-37FE8B8C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3939D-FB91-4424-8B5C-EB3C9DD9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ONNX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722DB-5DAD-491D-8DE4-56FD55DC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转换验证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79FAF-C242-4731-92E9-A63DE45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528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A0093-DD4E-4170-9E8D-8E09419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对照实验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06729-6962-4F43-B50F-C64EE9E5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14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异常降级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1DEA3-CA4E-48B8-B2E9-0B0431C2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结论覆盖本次仿真环境与报告统计窗口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27E3C-AEF1-46A2-AEE9-1381865E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谢谢各位评委，欢迎提问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5B190-C374-46E4-87E1-190D3CE3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21F8C-7BCF-4B7A-B799-3DE48DA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462380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4DFDC-487D-43F7-BB45-AB48BE73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E9C04-8BB3-4684-B08A-77C9EB53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MAPPO观测与动作接口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07C67-6E76-4F79-92E4-3D39F8B7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5BC7D-2D1A-4DE4-97C9-7B1AF08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A2416-65A4-4425-931E-103B93CC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9D38B-5E01-49BF-B184-BE6D18A0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5F63F-C8CB-4681-BF4F-947FC4F0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技术结论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416A7-7209-4BB9-AE7B-C677347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最终接口采用31维观测输入，</a:t>
            </a:r>
          </a:p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输出2个动作 logits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C58BD-EC3F-429F-A39B-C2B427F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KEEP保持当前绿灯，ADVANCE推进相位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8E8AE-C464-4E95-BD13-298CDC0E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91150" cy="338137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13AF1-840F-4664-9180-B070F0AE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审查要点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2DAFA-14E3-4ADD-BBF5-281ED54B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31个字段的名称、范围与归一化方式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7708C-8143-44F7-95D8-3B22819C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08D5B-8CE4-4A13-80F3-B32E1F3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18维接口属于历史版本，与最终接口分离</a:t>
            </a:r>
          </a:p>
        </p:txBody>
      </p:sp>
    </p:spTree>
    <p:extLst>
      <p:ext uri="{BB962C8B-B14F-4D97-AF65-F5344CB8AC3E}">
        <p14:creationId xmlns:p14="http://schemas.microsoft.com/office/powerpoint/2010/main" val="9395101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FC07D-D6FE-44ED-B2DC-9C030482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EBA9A-7A1E-44B9-9D76-C43647AE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MAPPO训练方式与参数记录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AB73F-05A4-49F9-9D5E-64AF0A37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32B1D-932F-4E3E-9D0D-14672ED1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8D59F-1A12-4B04-A226-0A1D7511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A4304-30BD-4807-9245-CE124874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核心信息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7B7D7-3CB9-4112-9668-2807F800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模型采用中心化训练、分散执行与Actor参数共享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E1037-260C-45BE-9B40-7FB5DFAD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固定配时与SCOOT构成对照策略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8F4E8-B4E6-4899-B501-995C125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27FFB-3BFB-466E-B20B-EAF13641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复现依据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E8048-5DA8-4362-9FD2-44FE70BF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训练记录覆盖奖励项、权重、超参数和随机种子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1889D-D978-4368-B3D8-66CFABF2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权重选择结合收敛曲线与验证指标</a:t>
            </a:r>
          </a:p>
        </p:txBody>
      </p:sp>
    </p:spTree>
    <p:extLst>
      <p:ext uri="{BB962C8B-B14F-4D97-AF65-F5344CB8AC3E}">
        <p14:creationId xmlns:p14="http://schemas.microsoft.com/office/powerpoint/2010/main" val="18689098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0FBEF-2526-4C1F-8F1F-86148F1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A2665-3258-40B9-BB4C-CE907D0F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STGCN输入输出与链路验证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6FB06-87E5-4665-9A81-5BC4CF06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6721D-D29C-4D75-BAF1-47B6C17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3BEDA-2617-424B-8259-D870BF37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7E346-2681-49BC-A25D-07B1EA58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技术说明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D6F67-6768-4BEF-A560-6F5938AF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审查口径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83E1B-A65E-408A-AB42-CAA9E12C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D7D4D-0386-4E59-B1EF-8945401F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F3FF7-FCA9-4764-B131-8AB44668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95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输入包含历史流量、速度、占有率和路网邻接关系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7B602-7A23-4F1E-AFBD-4706D17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12118-C3BB-4C58-B1D9-AA5310A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4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58237-7BFC-4181-9927-ED8DC59A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模型识别短时交通趋势并支持区域协调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3D15E-3A15-45F9-99DC-18217FA2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EB350-9640-4400-BFE1-8F53C0FC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04AAE-AC16-4819-80D6-BBB88C0B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38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验证口径包括历史窗口、预测步长与评价指标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DC456-A3DE-4EC3-A9AE-F4679C68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5ABB2-24D2-4EBA-B5C0-E7F31835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1D938-E6F3-49D0-B7CC-44EF51A4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调用日志用于追踪预测结果进入控制链路</a:t>
            </a:r>
          </a:p>
        </p:txBody>
      </p:sp>
    </p:spTree>
    <p:extLst>
      <p:ext uri="{BB962C8B-B14F-4D97-AF65-F5344CB8AC3E}">
        <p14:creationId xmlns:p14="http://schemas.microsoft.com/office/powerpoint/2010/main" val="12320128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5C9C0-E333-4E26-88D0-A1DC7958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9B95D-1B3D-4FC2-95A7-DAF0B3AF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ONNX转换误差与推理环境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31C9D-08C4-450C-8008-ABA51D63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2469D-D8DF-4669-A240-054727A4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060C0-0F2A-43C3-8A26-2CAA5F1C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AC3CC-946E-4E02-9E20-C5E1F006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980ED-F732-4E17-8B72-28348B00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技术结论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05A77-3B7A-40EA-805F-1458E051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FP32为82.5 KB，单次推理约0.0074 ms，一致率100%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E6FE8-CA82-4E99-A1C1-CAA116DA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INT8为24.9 KB，批量64推理约0.028 ms，一致率约99.4%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9CF70-BE2B-4DEF-92F3-83DF20F6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91150" cy="338137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1006F-868F-41E4-8A9D-5678F70B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审查要点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4BEFF-5ABF-4F83-BEC7-99E0DFEC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复现环境记录CPU型号、运行库版本与执行命令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225A1-437C-4B43-86AD-FEB8CCF5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EF625-F37A-4684-93D6-9AAAC3EC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目标RSU部署需要单独开展设备实测</a:t>
            </a:r>
          </a:p>
        </p:txBody>
      </p:sp>
    </p:spTree>
    <p:extLst>
      <p:ext uri="{BB962C8B-B14F-4D97-AF65-F5344CB8AC3E}">
        <p14:creationId xmlns:p14="http://schemas.microsoft.com/office/powerpoint/2010/main" val="16337624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F8CF4-1800-48C4-A9B0-F076363B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3F2FA-9556-4EED-8F5F-9E203094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安全降级与故障记录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544AC-21A3-4D00-86B9-FF6B1DF4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2331D-A68D-4EC3-8111-9958E2D1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9326F-E9ED-4244-9B66-EF112350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8DAC9-CEA4-4A7A-B296-0F3ABC4F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核心信息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5FEF0-0B3C-4488-ADB7-DC618CA8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降级顺序依次为MAPPO、SCOOT与Fixed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E756F-F89B-4690-A4B6-A6CE264F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权重缺失、推理超时、通信异常和非法动作均可触发降级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0615A-DCEE-4ACA-8759-91F5DC32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14869-23B7-465E-A83D-F1AACAA2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复现依据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5F272-15F5-40A2-8812-D150F33F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故障记录包含触发时间、原算法与恢复结果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CA1B9-4D83-4CD8-AA52-BA24E4C9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故障注入录像与系统日志使用同一时间戳</a:t>
            </a:r>
          </a:p>
        </p:txBody>
      </p:sp>
    </p:spTree>
    <p:extLst>
      <p:ext uri="{BB962C8B-B14F-4D97-AF65-F5344CB8AC3E}">
        <p14:creationId xmlns:p14="http://schemas.microsoft.com/office/powerpoint/2010/main" val="7418877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8282A-0494-426A-B0B7-3539EF26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2CB68-3870-4981-97D2-0CFFD54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实验参数与原始数据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8A637-D832-4E98-A123-4EC8755B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2EA38-AF42-41FC-87CA-644914FA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5C566-2F38-44AF-A943-1F3A9B22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081C5-F742-4E8D-BA7D-D4A5F650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技术说明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3E8B7-0892-41B9-AE00-74EF403E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审查口径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DD506-0309-481C-90BD-F4070C1B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489DD-ABEC-4350-92F2-D80A05B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FA654-646C-4BF6-BB8E-354A3412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95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预热90秒，决策周期5秒，采样周期30秒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1237D-8C43-4B10-B9E5-DC44188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61A30-A661-4B8D-AAAA-56134F6F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4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F09B4-DE02-4DF5-964B-6F23AE2F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对照实验保持路网、车流、</a:t>
            </a:r>
          </a:p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事件和采样规则一致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F551B-430B-49B1-9BDE-FCA47E9E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810DC-D0A4-4BEE-BAA2-98481C7C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E08BF-2DCB-4DD8-94EC-A7439579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38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代码提交号、模型哈希与运行环境版本形成复现标识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8BBE5-A349-4728-B5FA-2843946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E0E75-65C9-4085-AAFD-426E2F66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42096-1477-436A-9404-9A95D17C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原始数据、场景配置与作图命令保持对应</a:t>
            </a:r>
          </a:p>
        </p:txBody>
      </p:sp>
    </p:spTree>
    <p:extLst>
      <p:ext uri="{BB962C8B-B14F-4D97-AF65-F5344CB8AC3E}">
        <p14:creationId xmlns:p14="http://schemas.microsoft.com/office/powerpoint/2010/main" val="20245259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5AA13-65A4-4F9A-B9C5-0350F552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9F568-03E6-4D92-8630-B13BEC72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接口字段与系统状态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3B53A-5718-4286-A229-05563178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8B457-EA09-4D15-9D39-03354B03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1AA5A-6091-415B-B957-694266E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68281-C58C-43D6-A324-70207159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8DA8F-9CBD-4F8E-9B10-6AB2BF0E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技术结论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4B852-3101-4374-A082-780E39D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REST API负责配置与查询</a:t>
            </a:r>
          </a:p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WebSocket传输实时状态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902A6-AC53-43BF-8A68-AB4BC1D7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前端显示仿真时间、当前方案、最新动作与降级状态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3D96E-0065-4DA0-98E8-E77AB51E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91150" cy="338137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7B876-5CB7-4C1A-B4AB-A0F0A145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审查要点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3B2CC-AC4B-4F54-877D-1064B698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接口字段字典与示例响应用于核对通信内容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0879C-6A26-48C1-B525-0248350D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8F241-2471-4C0F-9F93-A77442F6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运行界面与日志共同确认系统状态</a:t>
            </a:r>
          </a:p>
        </p:txBody>
      </p:sp>
    </p:spTree>
    <p:extLst>
      <p:ext uri="{BB962C8B-B14F-4D97-AF65-F5344CB8AC3E}">
        <p14:creationId xmlns:p14="http://schemas.microsoft.com/office/powerpoint/2010/main" val="10626761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11100-7004-480D-8440-EBA4D3E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559D6-306A-4B7C-847D-3CB71C0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Webster与跨拓扑验证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3B1B0-3416-4D84-9FAA-232613F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912A5-8719-4189-808C-1D1095E2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30D4D-9976-45EC-BF56-F6566E06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81E1A-2042-4C52-9D73-D5C4DEBB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核心信息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4D021-6095-4883-A8BE-D67AA0B7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既有实验覆盖四个典型路口的Webster结果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B1E7E-5AE7-44F1-A754-8E70213C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grid 9、grid 25与spider 13用于跨拓扑验证计划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CAC88-111E-42CB-8195-B5D601DA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D4BB1-008A-457F-BFCC-FB8918A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复现依据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545FB-7F4B-48E5-8211-9F509647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跨拓扑实验沿用统一评测口径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D2D87-491C-4F5D-8D67-820BA2D6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模型适用范围区分主路网与未见拓扑</a:t>
            </a:r>
          </a:p>
        </p:txBody>
      </p:sp>
    </p:spTree>
    <p:extLst>
      <p:ext uri="{BB962C8B-B14F-4D97-AF65-F5344CB8AC3E}">
        <p14:creationId xmlns:p14="http://schemas.microsoft.com/office/powerpoint/2010/main" val="1652569162"/>
      </p:ext>
    </p:extLst>
  </p:cSld>
</p:sld>
</file>

<file path=ppt/theme/theme1.xml><?xml version="1.0" encoding="utf-8"?>
<a:theme xmlns:a="http://schemas.openxmlformats.org/drawingml/2006/main" name="ChatGPT">
  <a:themeElements>
    <a:clrScheme name="Eco City Visual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 Vis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2026-09-11T11:33:35.1940000Z</dcterms:created>
  <dcterms:modified xsi:type="dcterms:W3CDTF">2026-09-11T11:33:35.1940000Z</dcterms:modified>
</coreProperties>
</file>
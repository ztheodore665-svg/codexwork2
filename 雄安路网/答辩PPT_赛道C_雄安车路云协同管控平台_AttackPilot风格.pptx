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469213a5a704e5b" /><Relationship Type="http://schemas.openxmlformats.org/officeDocument/2006/relationships/extended-properties" Target="/docProps/app.xml" Id="Raa96b20e72f04211" /><Relationship Type="http://schemas.openxmlformats.org/officeDocument/2006/relationships/officeDocument" Target="/ppt/presentation.xml" Id="R59bc297ac0664e1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83296d38711438a"/>
  </p:sldMasterIdLst>
  <p:notesMasterIdLst>
    <p:notesMasterId xmlns:r="http://schemas.openxmlformats.org/officeDocument/2006/relationships" r:id="R04ab85e4d6b443dc"/>
  </p:notesMasterIdLst>
  <p:sldIdLst>
    <p:sldId xmlns:r="http://schemas.openxmlformats.org/officeDocument/2006/relationships" id="256" r:id="R018b6f478a47472d"/>
    <p:sldId xmlns:r="http://schemas.openxmlformats.org/officeDocument/2006/relationships" id="257" r:id="Rff68818c31cc4c6e"/>
    <p:sldId xmlns:r="http://schemas.openxmlformats.org/officeDocument/2006/relationships" id="258" r:id="Rde42780f75ef44ec"/>
    <p:sldId xmlns:r="http://schemas.openxmlformats.org/officeDocument/2006/relationships" id="259" r:id="R50d0b2ca08b54a28"/>
    <p:sldId xmlns:r="http://schemas.openxmlformats.org/officeDocument/2006/relationships" id="260" r:id="Re33015cc7408429b"/>
    <p:sldId xmlns:r="http://schemas.openxmlformats.org/officeDocument/2006/relationships" id="261" r:id="Reae434f291f546ed"/>
    <p:sldId xmlns:r="http://schemas.openxmlformats.org/officeDocument/2006/relationships" id="262" r:id="Rc70871cfb8804889"/>
    <p:sldId xmlns:r="http://schemas.openxmlformats.org/officeDocument/2006/relationships" id="263" r:id="Re1b7b589c5e84e63"/>
    <p:sldId xmlns:r="http://schemas.openxmlformats.org/officeDocument/2006/relationships" id="264" r:id="R01f3b882f761495c"/>
    <p:sldId xmlns:r="http://schemas.openxmlformats.org/officeDocument/2006/relationships" id="265" r:id="Rd2224dee891940aa"/>
    <p:sldId xmlns:r="http://schemas.openxmlformats.org/officeDocument/2006/relationships" id="266" r:id="R31ce16af96814c01"/>
    <p:sldId xmlns:r="http://schemas.openxmlformats.org/officeDocument/2006/relationships" id="267" r:id="Rca2243e897594186"/>
    <p:sldId xmlns:r="http://schemas.openxmlformats.org/officeDocument/2006/relationships" id="268" r:id="R4df5ec80c6784074"/>
    <p:sldId xmlns:r="http://schemas.openxmlformats.org/officeDocument/2006/relationships" id="269" r:id="R41367bfefe62479e"/>
    <p:sldId xmlns:r="http://schemas.openxmlformats.org/officeDocument/2006/relationships" id="270" r:id="Rec1f089d01874bf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27d28b68e6f4d3d" /><Relationship Type="http://schemas.openxmlformats.org/officeDocument/2006/relationships/slideMaster" Target="/ppt/slideMasters/slideMaster1.xml" Id="R083296d38711438a" /><Relationship Type="http://schemas.openxmlformats.org/officeDocument/2006/relationships/notesMaster" Target="/ppt/notesMasters/notesMaster1.xml" Id="R04ab85e4d6b443dc" /><Relationship Type="http://schemas.openxmlformats.org/officeDocument/2006/relationships/presProps" Target="/ppt/presProps.xml" Id="Rbe379af3f39d4c70" /><Relationship Type="http://schemas.openxmlformats.org/officeDocument/2006/relationships/tableStyles" Target="/ppt/tableStyles.xml" Id="R81cc397ee7644ae6" /><Relationship Type="http://schemas.openxmlformats.org/officeDocument/2006/relationships/slide" Target="/ppt/slides/slide1.xml" Id="R018b6f478a47472d" /><Relationship Type="http://schemas.openxmlformats.org/officeDocument/2006/relationships/slide" Target="/ppt/slides/slide2.xml" Id="Rff68818c31cc4c6e" /><Relationship Type="http://schemas.openxmlformats.org/officeDocument/2006/relationships/slide" Target="/ppt/slides/slide3.xml" Id="Rde42780f75ef44ec" /><Relationship Type="http://schemas.openxmlformats.org/officeDocument/2006/relationships/slide" Target="/ppt/slides/slide4.xml" Id="R50d0b2ca08b54a28" /><Relationship Type="http://schemas.openxmlformats.org/officeDocument/2006/relationships/slide" Target="/ppt/slides/slide5.xml" Id="Re33015cc7408429b" /><Relationship Type="http://schemas.openxmlformats.org/officeDocument/2006/relationships/slide" Target="/ppt/slides/slide6.xml" Id="Reae434f291f546ed" /><Relationship Type="http://schemas.openxmlformats.org/officeDocument/2006/relationships/slide" Target="/ppt/slides/slide7.xml" Id="Rc70871cfb8804889" /><Relationship Type="http://schemas.openxmlformats.org/officeDocument/2006/relationships/slide" Target="/ppt/slides/slide8.xml" Id="Re1b7b589c5e84e63" /><Relationship Type="http://schemas.openxmlformats.org/officeDocument/2006/relationships/slide" Target="/ppt/slides/slide9.xml" Id="R01f3b882f761495c" /><Relationship Type="http://schemas.openxmlformats.org/officeDocument/2006/relationships/slide" Target="/ppt/slides/slide10.xml" Id="Rd2224dee891940aa" /><Relationship Type="http://schemas.openxmlformats.org/officeDocument/2006/relationships/slide" Target="/ppt/slides/slide11.xml" Id="R31ce16af96814c01" /><Relationship Type="http://schemas.openxmlformats.org/officeDocument/2006/relationships/slide" Target="/ppt/slides/slide12.xml" Id="Rca2243e897594186" /><Relationship Type="http://schemas.openxmlformats.org/officeDocument/2006/relationships/slide" Target="/ppt/slides/slide13.xml" Id="R4df5ec80c6784074" /><Relationship Type="http://schemas.openxmlformats.org/officeDocument/2006/relationships/slide" Target="/ppt/slides/slide14.xml" Id="R41367bfefe62479e" /><Relationship Type="http://schemas.openxmlformats.org/officeDocument/2006/relationships/slide" Target="/ppt/slides/slide15.xml" Id="Rec1f089d01874bf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31887c6f7e140f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4f072fc22234780" /><Relationship Type="http://schemas.openxmlformats.org/officeDocument/2006/relationships/notesMaster" Target="/ppt/notesMasters/notesMaster1.xml" Id="R1526a9f14b1744a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1a1210b3877448a" /><Relationship Type="http://schemas.openxmlformats.org/officeDocument/2006/relationships/notesMaster" Target="/ppt/notesMasters/notesMaster1.xml" Id="R9750723a24684ac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224da9711f34926" /><Relationship Type="http://schemas.openxmlformats.org/officeDocument/2006/relationships/notesMaster" Target="/ppt/notesMasters/notesMaster1.xml" Id="R7fc496cfd11f4d3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743e94463844097" /><Relationship Type="http://schemas.openxmlformats.org/officeDocument/2006/relationships/notesMaster" Target="/ppt/notesMasters/notesMaster1.xml" Id="R6b88328e8c11452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313cc616c004d98" /><Relationship Type="http://schemas.openxmlformats.org/officeDocument/2006/relationships/notesMaster" Target="/ppt/notesMasters/notesMaster1.xml" Id="R94b81f6adeb54c0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6d31c3936ca44b3" /><Relationship Type="http://schemas.openxmlformats.org/officeDocument/2006/relationships/notesMaster" Target="/ppt/notesMasters/notesMaster1.xml" Id="R639f9e29ac1646d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c261d57e1814a9b" /><Relationship Type="http://schemas.openxmlformats.org/officeDocument/2006/relationships/notesMaster" Target="/ppt/notesMasters/notesMaster1.xml" Id="R45a0c599adb74c0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ca4faa27e184ac0" /><Relationship Type="http://schemas.openxmlformats.org/officeDocument/2006/relationships/notesMaster" Target="/ppt/notesMasters/notesMaster1.xml" Id="Re32781d50f75447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11e27f363324ce9" /><Relationship Type="http://schemas.openxmlformats.org/officeDocument/2006/relationships/notesMaster" Target="/ppt/notesMasters/notesMaster1.xml" Id="R4ea6357dc59849a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396510f8cfb44bd" /><Relationship Type="http://schemas.openxmlformats.org/officeDocument/2006/relationships/notesMaster" Target="/ppt/notesMasters/notesMaster1.xml" Id="R115178e51c43456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2ebbc6f1dbb474c" /><Relationship Type="http://schemas.openxmlformats.org/officeDocument/2006/relationships/notesMaster" Target="/ppt/notesMasters/notesMaster1.xml" Id="Rd11e6e1edb914b1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e2bc6da51604c99" /><Relationship Type="http://schemas.openxmlformats.org/officeDocument/2006/relationships/notesMaster" Target="/ppt/notesMasters/notesMaster1.xml" Id="R2b056bdce99a4e0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23ebb9585e34327" /><Relationship Type="http://schemas.openxmlformats.org/officeDocument/2006/relationships/notesMaster" Target="/ppt/notesMasters/notesMaster1.xml" Id="R5a60b8537ee94a3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409a7bc0120462d" /><Relationship Type="http://schemas.openxmlformats.org/officeDocument/2006/relationships/notesMaster" Target="/ppt/notesMasters/notesMaster1.xml" Id="Rb8122f8cefe54e9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8dc7d5cc6f1474e" /><Relationship Type="http://schemas.openxmlformats.org/officeDocument/2006/relationships/notesMaster" Target="/ppt/notesMasters/notesMaster1.xml" Id="R27143b3656bd45f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来源：项目报告书.docx；团队与赛题信息来自报告封面。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来源：项目报告书摘要、第一章；路网密度和赛题要求来自项目报告书及优化建议。若正式提交需补充路网密度出处。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来源：项目报告书表格7、表格20、表格21；优化建议要求将百分比绑定到具体负荷、场景和统计窗口。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来源：项目报告书第三章、第四章；优化建议要求明确STGCN如何进入控制动作，并把降级链路显性化。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来源：项目报告书第二章、表格2和表格3；优化建议要求补齐地图来源、转换清洗、信号配置、需求生成和SUMO校验过程。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来源：项目报告书3.2.4、3.2.5；优化建议要求补足STGCN输入、输出、评价指标、控制链路和消融证据。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来源：项目报告书3.2.3、3.2.5和评审优化建议；最终观测维度应以最终权重和推理接口核对后再补入PPT。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来源：项目报告书表格7、3.2.5；优化建议要求明确默认PyTorch运行与ONNX部署备选形态，并区分延迟测试口径。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来源：项目报告书摘要、3.2.3、4.4和工程化章节；优化建议要求将权重缺失、推理超时、非法动作、通信异常和三级降级提升为主讲证据。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来源：项目报告书第六章、附录A-C；优化建议要求增加连续运行、启动时间、资源释放和测试证据。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来源：项目报告书第五章；优化建议要求列出commit、模型版本、seed、warmup、控制周期、采样窗口和原始数据。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来源：项目报告书表格19；优化建议要求删除“在网车辆等同吞吐”的表达，并补充完成量、到达量、完成率或单位时间通过量。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来源：项目报告书表格20、21、5.3、5.4；优化建议要求把62.5%和50%以上绑定到场景、负荷、时间窗口和统计口径。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来源：项目报告书第七章、第四章；优化建议要求压缩为三项可验证创新并突出标准化价值。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来源：项目报告书摘要、第三章、第五章、第七章；所有百分比均在前页注明实验条件和边界。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28d8060c78424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d641902f934c31" /><Relationship Type="http://schemas.openxmlformats.org/officeDocument/2006/relationships/slideLayout" Target="/ppt/slideLayouts/slideLayout1.xml" Id="Rb27b81cdaae641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27b81cdaae641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f8dc8142c64ddc" /><Relationship Type="http://schemas.openxmlformats.org/officeDocument/2006/relationships/notesSlide" Target="/ppt/notesSlides/notesSlide1.xml" Id="R335fcae859b64d9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1257d15edb463c" /><Relationship Type="http://schemas.openxmlformats.org/officeDocument/2006/relationships/notesSlide" Target="/ppt/notesSlides/notesSlide2.xml" Id="Rb6d0e0dbeac145e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bd04dd986d4209" /><Relationship Type="http://schemas.openxmlformats.org/officeDocument/2006/relationships/notesSlide" Target="/ppt/notesSlides/notesSlide3.xml" Id="Reb841e40078649c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90159da4a944d6" /><Relationship Type="http://schemas.openxmlformats.org/officeDocument/2006/relationships/notesSlide" Target="/ppt/notesSlides/notesSlide4.xml" Id="R917489d16ead414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e7b177e52e48da" /><Relationship Type="http://schemas.openxmlformats.org/officeDocument/2006/relationships/notesSlide" Target="/ppt/notesSlides/notesSlide5.xml" Id="R62ff0117c4764b2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20f622d1254af7" /><Relationship Type="http://schemas.openxmlformats.org/officeDocument/2006/relationships/notesSlide" Target="/ppt/notesSlides/notesSlide6.xml" Id="Re78bf4f16aae485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05b2c50bb04d23" /><Relationship Type="http://schemas.openxmlformats.org/officeDocument/2006/relationships/notesSlide" Target="/ppt/notesSlides/notesSlide7.xml" Id="R7a2d287eb11b477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180f2ec7164bfc" /><Relationship Type="http://schemas.openxmlformats.org/officeDocument/2006/relationships/notesSlide" Target="/ppt/notesSlides/notesSlide8.xml" Id="R92db6fffe659403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aa91f74feb4186" /><Relationship Type="http://schemas.openxmlformats.org/officeDocument/2006/relationships/notesSlide" Target="/ppt/notesSlides/notesSlide9.xml" Id="R921360885d6042f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efffccd6924a0a" /><Relationship Type="http://schemas.openxmlformats.org/officeDocument/2006/relationships/notesSlide" Target="/ppt/notesSlides/notesSlide10.xml" Id="Rfdedee2935bf47d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711953a6004d1d" /><Relationship Type="http://schemas.openxmlformats.org/officeDocument/2006/relationships/notesSlide" Target="/ppt/notesSlides/notesSlide11.xml" Id="R73b74f9d6c444b0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086d6cd43f4b4d" /><Relationship Type="http://schemas.openxmlformats.org/officeDocument/2006/relationships/notesSlide" Target="/ppt/notesSlides/notesSlide12.xml" Id="Rb14436aa5c1b404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e2925d90e5431b" /><Relationship Type="http://schemas.openxmlformats.org/officeDocument/2006/relationships/notesSlide" Target="/ppt/notesSlides/notesSlide13.xml" Id="R720556299f9f4de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13b3d8ef8c48f4" /><Relationship Type="http://schemas.openxmlformats.org/officeDocument/2006/relationships/notesSlide" Target="/ppt/notesSlides/notesSlide14.xml" Id="R2a07a7667839461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620dac57d54a5f" /><Relationship Type="http://schemas.openxmlformats.org/officeDocument/2006/relationships/notesSlide" Target="/ppt/notesSlides/notesSlide15.xml" Id="Rbf333710ea9b404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64C60D-592C-4427-90EA-88A8A0EF4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238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FE1365-F623-40D9-BD05-751A63947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0"/>
            <a:ext cx="6953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5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B9E4FE-14C3-42FA-B1BF-58F4AC75B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904875"/>
            <a:ext cx="2857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EFF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0348E5-F826-43B4-9DEE-87E0D6743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152525"/>
            <a:ext cx="2857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447328-371D-4680-B43E-8D98FF5F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400175"/>
            <a:ext cx="28575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EFF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B7F2B6-E288-437F-9F2C-7718DAA1B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647825"/>
            <a:ext cx="28575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C2E6B7-66BC-4BCC-AC40-AE235EF04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895475"/>
            <a:ext cx="285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EFF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5BFC0E-68E8-46AC-80F0-A5AB85B9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143125"/>
            <a:ext cx="28575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EC520A-D803-4B20-AFB2-CBFEB1A6C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428750"/>
            <a:ext cx="514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17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08C5E5-4975-44E4-953B-6031CAF2F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05050"/>
            <a:ext cx="514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17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6AB6C3-B438-4230-B7AE-35D9CC260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81350"/>
            <a:ext cx="514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17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5C477F-755A-4979-82FE-A256E8053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57650"/>
            <a:ext cx="514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17C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17B1F2-84D4-4109-A936-4FFB7CCEB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933950"/>
            <a:ext cx="514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17C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14F71C-ACFF-4D28-A23D-A604388E9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4095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灵动交通</a:t>
            </a:r>
          </a:p>
          <a:p xmlns:a="http://schemas.openxmlformats.org/drawingml/2006/main">
            <a:pPr algn="l"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可视化平台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CABF83-0DB0-4941-9C34-27DF88D8D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3905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BDEFF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DEFF0"/>
                </a:solidFill>
                <a:latin typeface="Arial"/>
                <a:ea typeface="Arial"/>
                <a:cs typeface="Arial"/>
              </a:rPr>
              <a:t>面向雄安新区“城市大脑”的车路云一体化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BDEFF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DEFF0"/>
                </a:solidFill>
                <a:latin typeface="Arial"/>
                <a:ea typeface="Arial"/>
                <a:cs typeface="Arial"/>
              </a:rPr>
              <a:t>协同管控算法与仿真平台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EACF5E-0814-4CE1-889D-F9E0AA951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17621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5F8328-0FDB-415A-B312-6863766FE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14800"/>
            <a:ext cx="16097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赛道 C · AI应用型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E7EAB2-1F73-4AD3-A984-D0EAF6074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XH-202613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73765E-C909-44B2-B15A-B1EA3FCD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76875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CFE1E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FE1EA"/>
                </a:solidFill>
                <a:latin typeface="Arial"/>
                <a:ea typeface="Arial"/>
                <a:cs typeface="Arial"/>
              </a:rPr>
              <a:t>数智交通团队 · 中山大学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CFE1E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FE1EA"/>
                </a:solidFill>
                <a:latin typeface="Arial"/>
                <a:ea typeface="Arial"/>
                <a:cs typeface="Arial"/>
              </a:rPr>
              <a:t>负责人：翁嘉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9B70A7-9A8E-48E5-83E4-6514BCD4D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9055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BDEFF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DEFF0"/>
                </a:solidFill>
                <a:latin typeface="Arial"/>
                <a:ea typeface="Arial"/>
                <a:cs typeface="Arial"/>
              </a:rPr>
              <a:t>DEFENSE DECK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4841C5-C99B-404E-B08B-7FB2B631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B5E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7731DB-5B40-4FA1-ADF9-B0C908858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BE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FFB63F-931C-41C1-9B0C-4E846BB80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143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9D9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B9D9FF"/>
                </a:solidFill>
                <a:latin typeface="Arial"/>
                <a:ea typeface="Arial"/>
                <a:cs typeface="Arial"/>
              </a:rPr>
              <a:t>灵动交通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59A9EF-F92C-4D0A-86BF-5E1A9213C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14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SUN YAT-SEN UNIVERSITY  ·  数智交通团队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AD099F-0803-4FE8-938F-A28E42116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095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C417F1-FFB6-4677-A075-5B57EBC52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00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5604035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D66B77-CDF8-4330-BAFE-8BEBE0DFC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9D04F8-5DDA-43AF-BD87-9CCB726BE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01 / WHY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274F95-3C55-4CFC-A48C-AAA5BAFB9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雄安问题与赛题需求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D1E259-06CF-47C0-8780-22245EA5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C708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AEEBF1-755E-412E-B325-6F4364058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“窄路密网”让单点控制难以回答区域级问题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D86DC6-8E94-4D02-AAEB-3B0D732A3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7084"/>
                </a:solidFill>
                <a:latin typeface="Arial"/>
                <a:ea typeface="Arial"/>
                <a:cs typeface="Arial"/>
              </a:rPr>
              <a:t>项目把赛题要求压缩为三个可验证结果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B777A7-EAA3-4ECD-AAD3-EA41B8F46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2095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5C858B-C539-4895-B445-7E0CE2D77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B5DC72-0FAB-40D8-8D6D-2F4970171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14600"/>
            <a:ext cx="1762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10–15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FCA0A4-4068-4896-BC8B-DDE1D9E12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19425"/>
            <a:ext cx="1762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7084"/>
                </a:solidFill>
                <a:latin typeface="Arial"/>
                <a:ea typeface="Arial"/>
                <a:cs typeface="Arial"/>
              </a:rPr>
              <a:t>路网密度 km/km²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D7AEF1-5928-409D-B0B8-C7EB1AF8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381250"/>
            <a:ext cx="2095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F106E4-BE83-44B9-83ED-ED6E12A40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38125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2AD212-DF01-483B-BA3A-86CFE84B6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514600"/>
            <a:ext cx="1762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8D2D4B-C63D-4FC8-8686-6A611A2B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019425"/>
            <a:ext cx="1762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7084"/>
                </a:solidFill>
                <a:latin typeface="Arial"/>
                <a:ea typeface="Arial"/>
                <a:cs typeface="Arial"/>
              </a:rPr>
              <a:t>信号路口仿真规模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2884AC-DF06-46F9-9950-875DFE936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381250"/>
            <a:ext cx="2095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EBA8A1-4212-4947-916A-D45EEEA4E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38125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69266D-72D7-41A3-B34F-12703A7A0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514600"/>
            <a:ext cx="1762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CPU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9A1810-CBC6-4158-8DF8-3429CB9BE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019425"/>
            <a:ext cx="1762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7084"/>
                </a:solidFill>
                <a:latin typeface="Arial"/>
                <a:ea typeface="Arial"/>
                <a:cs typeface="Arial"/>
              </a:rPr>
              <a:t>轻量化部署验证目标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496486-97D2-4A87-988D-14819791B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209800"/>
            <a:ext cx="34290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7BD6AD-EF91-4EA3-B834-CEDCC4AE3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209800"/>
            <a:ext cx="3429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34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52C89E-38A6-45BA-BBDA-6CD658B46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381250"/>
            <a:ext cx="308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交通问题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8A119C-CAB4-40D9-9C4E-8BC53A6B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733675"/>
            <a:ext cx="3086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路口间距小、转向频繁，拥堵会在相邻路口之间传播。传统单点定时控制难以实现系统级最优。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6D74F2-A0A1-4E6D-89C0-F31BDB06F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905250"/>
            <a:ext cx="34290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89A354-F9AF-492C-8133-1B98F3A86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905250"/>
            <a:ext cx="3429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60CD85-78D5-4617-B053-2ED64DE47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076700"/>
            <a:ext cx="308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赛题要求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AB280C-201B-4447-B746-29DE3F18C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429125"/>
            <a:ext cx="3086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高保真场景 + 云边端协同 + AI模型轻量化部署 + 可复现实验评估。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986354-7633-4B38-851B-9AB2EC8A3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项目主线：用仿真平台验证“区域协同 + 轻量模型 + 工程闭环”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0EAA0E-ECBC-4C41-AAC6-C041D8EF0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7084"/>
                </a:solidFill>
                <a:latin typeface="Arial"/>
                <a:ea typeface="Arial"/>
                <a:cs typeface="Arial"/>
              </a:rPr>
              <a:t>灵动交通可视化平台 · XH-202613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21AC24-FF5A-41E2-9D31-542BEBF66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B5E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29981E8-DB12-4DC1-A79D-83F841F66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BE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58E1A30-8481-45C6-A97F-E333CBE14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143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9D9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B9D9FF"/>
                </a:solidFill>
                <a:latin typeface="Arial"/>
                <a:ea typeface="Arial"/>
                <a:cs typeface="Arial"/>
              </a:rPr>
              <a:t>灵动交通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0397718-FA7C-4BAB-BA9F-9564E377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14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SUN YAT-SEN UNIVERSITY  ·  数智交通团队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5DEFF9-1CD4-436E-877F-2402D56C8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04850"/>
            <a:ext cx="1066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1568FAB-5E44-4624-9CFF-86ECE6BD4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819150"/>
            <a:ext cx="2457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51126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D789D55-637B-4719-A6D0-EB8D83BF0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7907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859123C-8D9F-420E-A874-FEAE6C19E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AD7AC08-0537-4BE0-B6E6-CCF1B2895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28675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  问题定义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B860880-BF13-466A-8878-6117ACEAF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866775"/>
            <a:ext cx="752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雄安问题与赛题需求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6088427-10DD-4561-B004-C10E23EB0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285875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0000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6124755-C4D1-44C0-A2E3-D597C6D32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095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60EB41E-1218-4CC8-9CBA-646B0A290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00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700735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15D0DAB-5FA9-4A51-BF35-6069A6807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DA4B6E-925E-4727-858B-D6479C25A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02 / ANSWER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EDEC62-B168-45F5-A5D9-616541F8E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项目方案与核心成果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99255A-E77C-4845-B069-1A2665C95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C708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D57A8C-8CD2-4B9F-B8C4-32ACAF7E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一套平台，把场景、模型、控制和评估串成闭环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E7043B-73A0-433C-B7DC-39CFFBD2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2286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6AC3CD-DC93-49A5-90DB-2AB18E575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5745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D59E52-ED0C-47F2-AA82-69CE00CE3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860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771EC3-EAE5-4C4B-B2C2-95E99FD81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76500"/>
            <a:ext cx="1390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高保真场景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616066-CAE4-4093-A049-9175161DB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2286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E38DCD-2F33-4A05-856D-9CB229BD2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45745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5441FB-E90A-4F83-A9D9-7D4B3856F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4860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C61689-1D47-450A-B832-3CF13C2BA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476500"/>
            <a:ext cx="1390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预测与控制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D03613-263E-4101-A322-26A21E77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286000"/>
            <a:ext cx="2286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3B0503-ECF2-47EE-AC8B-34A4EBFBA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45745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28E2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6B772E-A714-4229-B8B6-C1AFAE517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4860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40F156-6D7D-44A0-8911-A9FAFEE64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76500"/>
            <a:ext cx="1390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部署与验证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637ED4-0749-4A49-8087-A28E57CB5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57400"/>
            <a:ext cx="30480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F904E1-9945-4BF4-9B90-43952C9F3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669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BDEFF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DEFF0"/>
                </a:solidFill>
                <a:latin typeface="Arial"/>
                <a:ea typeface="Arial"/>
                <a:cs typeface="Arial"/>
              </a:rPr>
              <a:t>可量化结果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C0343E-74E2-4983-9B01-81C8D3D22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62.5%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30AFB3-9782-48EE-9B03-C8B53B3B5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289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临界负荷下到达车辆数提升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8 → 13（约314辆投放）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8CCD9B-A8A2-4F8E-A7FD-79AB4F863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2476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0FEE20-2BC1-403F-8BE0-CA966971C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B6C6EC-F498-4AA2-B61A-56D55372C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33850"/>
            <a:ext cx="2143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99.4%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B42171-7A0D-4775-B215-D47D7EBAE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38675"/>
            <a:ext cx="2143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7084"/>
                </a:solidFill>
                <a:latin typeface="Arial"/>
                <a:ea typeface="Arial"/>
                <a:cs typeface="Arial"/>
              </a:rPr>
              <a:t>ONNX INT8动作一致率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A66973-4427-450E-903B-3D4EDB692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000500"/>
            <a:ext cx="2476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545A2E-5B9D-4F96-8F55-ED5962FC0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00050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880120-EE9A-4B7E-A3BA-94DAFB16B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133850"/>
            <a:ext cx="2143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24.9 KB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CC7F96-B9D8-449C-9683-839D86703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638675"/>
            <a:ext cx="2143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7084"/>
                </a:solidFill>
                <a:latin typeface="Arial"/>
                <a:ea typeface="Arial"/>
                <a:cs typeface="Arial"/>
              </a:rPr>
              <a:t>ONNX INT8模型体积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78F0AE-5F00-4519-B945-AC7D2EC4B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00500"/>
            <a:ext cx="2476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9C450D-9E45-4387-AC0E-29EB97F31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0050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1DC3DD-468E-493C-9B2F-3D8920AC7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133850"/>
            <a:ext cx="2143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50%+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61881A2-489A-4DFB-BBCA-2232EC32B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638675"/>
            <a:ext cx="2143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7084"/>
                </a:solidFill>
                <a:latin typeface="Arial"/>
                <a:ea typeface="Arial"/>
                <a:cs typeface="Arial"/>
              </a:rPr>
              <a:t>热点场景后期速度提升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7084"/>
                </a:solidFill>
                <a:latin typeface="Arial"/>
                <a:ea typeface="Arial"/>
                <a:cs typeface="Arial"/>
              </a:rPr>
              <a:t>特定统计窗口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A2C4747-0C77-442E-BDFF-DC6773B2F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7084"/>
                </a:solidFill>
                <a:latin typeface="Arial"/>
                <a:ea typeface="Arial"/>
                <a:cs typeface="Arial"/>
              </a:rPr>
              <a:t>这些结论均绑定具体实验条件，不外推为真实道路普遍收益。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4A45F5D-3A60-44D0-A9EC-6C73E3195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7084"/>
                </a:solidFill>
                <a:latin typeface="Arial"/>
                <a:ea typeface="Arial"/>
                <a:cs typeface="Arial"/>
              </a:rPr>
              <a:t>灵动交通可视化平台 · XH-202613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C9354A6-C572-4389-9A4E-C9E26E536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B5E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51704E7-E461-4336-A0CF-BE4DDC973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BE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85986D5-66FD-440F-9731-F171EBF68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143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9D9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B9D9FF"/>
                </a:solidFill>
                <a:latin typeface="Arial"/>
                <a:ea typeface="Arial"/>
                <a:cs typeface="Arial"/>
              </a:rPr>
              <a:t>灵动交通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CFBA791-022F-4DEC-A8FD-2ABE046F9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14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SUN YAT-SEN UNIVERSITY  ·  数智交通团队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C9CFBB6-C387-484B-8114-F6533DE61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04850"/>
            <a:ext cx="1066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EB59C33-1891-4CF9-B7D3-7E6D28C00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819150"/>
            <a:ext cx="2457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51126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55EAA79-B042-4DEC-B85C-A54CB5FEA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7907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A31E352-E49D-4449-B464-38A311769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8D33D31-6F3C-4A9C-969C-C4B1D7965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28675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  问题定义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E5B1A2D-018F-42D9-A675-14CCE5BB5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866775"/>
            <a:ext cx="752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项目方案与核心成果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12ED069-750D-49AF-8A25-7084C12EF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285875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0000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C80F1F4-C314-46CC-9FAA-1F877D1EB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095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C85E393-5DE6-46B3-AF99-588BEFA0E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00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3993508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673CE40-383E-4F26-ACA4-C05BEAA0A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E5E8DC-E185-49A5-8C3F-1E81771C3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03 /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678F2F-6119-49B7-903D-5F8C148DB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车路云架构与控制闭环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2E95EB-CF69-4390-81E4-104538892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C708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EB1400-E327-4A80-B7E9-CD7FE04B4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感知、预测、决策、执行和反馈在同一条链路上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99BB84-8F77-42E2-9F6A-E5CD0953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619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9204A5-C29E-42BE-AB07-D770E6125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619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BFA63F-272D-48EB-8320-B8661438A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0510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感知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3CF81F-E9BA-459A-970B-92B0B836C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314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车辆 / 路侧 / SUMO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198EF0-F53A-46E0-9DD0-78CE2F6AD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9082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5C663C-C515-4EDE-A736-2E9596DB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476500"/>
            <a:ext cx="1619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BD6BAD-5D89-4A41-B0CA-3C6F8B66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476500"/>
            <a:ext cx="1619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0E8718-8EB0-4BC4-8CD7-2BAB01669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0510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预测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5345B3-DC74-4879-B37C-3B5998B6D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48000"/>
            <a:ext cx="1314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STGCN / EWMA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B41E3A-E098-4E9E-A1D5-42C7916C2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9082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0EE89E-0D25-4F16-A7E9-0EE5AE35F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476500"/>
            <a:ext cx="1619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5B6A8F-3F5D-4C2E-8658-55DEF984E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476500"/>
            <a:ext cx="1619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69F8A7-CCA6-4E98-9062-B96ABF5C8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0510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决策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846AB5-4701-44FC-8B6A-FC079989E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48000"/>
            <a:ext cx="1314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LLM区域调度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MAPPO路口控制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D8819B-2910-4F19-80F5-2BAA6D682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9082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7C37F9-DE9D-4A6C-A836-E9E71B238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476500"/>
            <a:ext cx="1619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044FEE-CD1C-41D7-AD32-D139AAE27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476500"/>
            <a:ext cx="1619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AC7482-EC2F-447B-9F23-A3E303E1E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0510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执行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C31799-E763-476E-B395-A739A1E06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048000"/>
            <a:ext cx="1314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信号相位 / 路径引导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48E98E-BC8F-4E78-AD91-34996A74F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9082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030BE7-FF99-4033-A053-981B5BBB2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476500"/>
            <a:ext cx="1619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2731E0-A2CD-4FFD-9907-912E61AA3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476500"/>
            <a:ext cx="1619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A4AB6C-5E50-4928-A0A5-006D4FB88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0510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验证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65C7AC-0AEE-43CC-BB66-094668200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48000"/>
            <a:ext cx="1314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指标 / 报告 / 降级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636AC8-B692-4048-85BA-B204C5830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10001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E3526D-3524-484D-BA30-FC30E6B3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云端：全局态势、LLM工具调用、评估与报告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AA1911-5B03-4EC1-95B1-90FE26881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196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BDEFF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DEFF0"/>
                </a:solidFill>
                <a:latin typeface="Arial"/>
                <a:ea typeface="Arial"/>
                <a:cs typeface="Arial"/>
              </a:rPr>
              <a:t>边缘：每路口5秒决策、信号安全约束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3DC8C5-C2FD-4DBE-B646-98D093AA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196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车端：注册车队动态路径建议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8274852-2C35-4627-B03C-6D794FCFE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D9534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9534F"/>
                </a:solidFill>
                <a:latin typeface="Arial"/>
                <a:ea typeface="Arial"/>
                <a:cs typeface="Arial"/>
              </a:rPr>
              <a:t>故障保护：MAPPO → SCOOT → Fixed-Time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4D813E9-8DFA-4A8B-993B-FC1ED497D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7084"/>
                </a:solidFill>
                <a:latin typeface="Arial"/>
                <a:ea typeface="Arial"/>
                <a:cs typeface="Arial"/>
              </a:rPr>
              <a:t>灵动交通可视化平台 · XH-202613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C1624E8-D91E-47D3-B87D-141B3BA27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B5E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C364C94-1D3C-40B6-B689-1CB793F00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BE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036EB66-766F-4DE0-B198-922E54145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143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9D9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B9D9FF"/>
                </a:solidFill>
                <a:latin typeface="Arial"/>
                <a:ea typeface="Arial"/>
                <a:cs typeface="Arial"/>
              </a:rPr>
              <a:t>灵动交通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0975C4E-B119-46DC-BF5D-475D41EFB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14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SUN YAT-SEN UNIVERSITY  ·  数智交通团队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8987EA5-0F00-4CAE-ADB3-7BF61E2B8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04850"/>
            <a:ext cx="1066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2C2526C-69E8-4B42-9C2C-455512D8C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819150"/>
            <a:ext cx="2457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51126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6F2D5B4-14C8-4655-B186-46B290B55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7907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24D1330-2E2D-4E36-BF61-99B8D243D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BF9C290-6C58-44AE-96AC-950DFF832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28675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  总体方案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15DE877-5A6F-41BA-AA5F-18AEEBC34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866775"/>
            <a:ext cx="752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车路云架构与控制闭环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4989127-237D-40A2-A4B9-BE32A010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285875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0000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84C36F2-298F-41FD-A5F8-207B39C62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095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F8A242E-F98E-4AAC-8F7E-6DDCC3F91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00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9464300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D0CADA7-5473-464B-AC2C-F84398035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8ACBC8-A7F0-4457-BFE0-4B9952285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04 / SIMULATION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F77E9C-4D3A-424A-9360-C1668DCC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20路口仿真环境：从资料到可运行场景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29A8A1-B8FD-4322-B9D1-6A9ACA079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C708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F332D8-A6A6-4F5D-A51C-BB2E9375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重点不只是“有20个路口”，而是能解释场景如何构建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EF8F59-07CF-4CE3-930E-2D6AC342E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3048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ABC511-E1F6-4A89-9396-3412D5141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4790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AB9378-F3D9-4464-94CD-21BAD316D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764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7EB016-A4FE-4392-9F19-E3D1D885E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266950"/>
            <a:ext cx="2152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地图/规划资料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0C7B7E-400F-4748-96E8-A62462CF2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076450"/>
            <a:ext cx="3048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FC5D3F-6AFD-4D5B-94D7-3DC4DF090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4790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6B2FD0-7A83-421F-BE31-7D56922DE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764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E6E59D-7021-4949-823B-401520CDD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266950"/>
            <a:ext cx="2152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路网转换与清洗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B31294-82C1-4F9C-94E4-D17DFAA95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076450"/>
            <a:ext cx="3048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E5D654-1D41-404B-87E2-C88C99ED3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4790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1F0DC5-AA08-4078-9B84-E3919C068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764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5E7112-2CCC-408D-8BB1-2195F5388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66950"/>
            <a:ext cx="2152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车道/相位配置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082CDE-EEC9-4BA4-A9DC-D98A35526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3048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619EDC-595A-4146-AE89-78C517B05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5280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43D376-829E-4549-8AFC-674FD6BD9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4245D1-66B2-4C08-9C24-1E4CF3351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71850"/>
            <a:ext cx="2152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需求生成与校准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E16BA9-B131-4C3E-9BB7-D95CE2534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181350"/>
            <a:ext cx="3048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F9B560-9594-4E0D-9DEA-14B4C05A2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5280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64B0D0-CCAD-4A0C-BD0A-2D65BDD39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813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278B84-FDF0-452B-856A-A049115D5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371850"/>
            <a:ext cx="2152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扰动注入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70D01E-2CA1-4FDB-81FA-EB81F2FBE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181350"/>
            <a:ext cx="3048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368CE6-662C-422F-9181-FC28FE817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5280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43CC32-5691-4269-B8DC-6F8740224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813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C98110-FB68-4615-BFDC-D0D0266DD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371850"/>
            <a:ext cx="2152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SUMO校验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E78947-DBD0-4E99-AB1A-4E7ECAB4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0096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D99A1F-D36B-4A05-B61B-55EE78FC4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863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20个信号路口  ·  80条有向边  ·  80条容量校准  ·  warmup 90s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F65A64-E97E-4BDA-8EE3-42BCF061C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482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C7084"/>
                </a:solidFill>
                <a:latin typeface="Arial"/>
                <a:ea typeface="Arial"/>
                <a:cs typeface="Arial"/>
              </a:rPr>
              <a:t>数据边界：实际空间结构 / 校准数据 / 合成车流分开标注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B8A2C2-E9BD-41A9-B9BF-A65D7A7AB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8191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9534F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01AEDF1-A218-441B-945D-B27140F0A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66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事故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9996020-DD87-4388-A19C-EEC66473A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810250"/>
            <a:ext cx="11239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28E2B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A229AC2-F6B5-40FE-A9C2-A1636A7B7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829300"/>
            <a:ext cx="971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施工占道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FE2BF78-9079-4DC9-BAE8-44FEDC236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810250"/>
            <a:ext cx="11239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E0591D6-71D7-4DBE-B56B-49D79B8C3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829300"/>
            <a:ext cx="971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大型活动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61DCB4E-48AC-499C-9DB3-20F11C42A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810250"/>
            <a:ext cx="11239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A4134AC-E2B5-4659-9A50-B88E21B93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5829300"/>
            <a:ext cx="971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热点区域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3C17B53-0CDC-4130-BE1A-53E33ED12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7084"/>
                </a:solidFill>
                <a:latin typeface="Arial"/>
                <a:ea typeface="Arial"/>
                <a:cs typeface="Arial"/>
              </a:rPr>
              <a:t>灵动交通可视化平台 · XH-202613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67C9A42-7720-40F0-8495-A7A25ED6A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B5E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7729C3C-853C-481F-B385-DB0CABC49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BE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E71BBA7-B96A-4637-9361-EBEA061C3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143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9D9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B9D9FF"/>
                </a:solidFill>
                <a:latin typeface="Arial"/>
                <a:ea typeface="Arial"/>
                <a:cs typeface="Arial"/>
              </a:rPr>
              <a:t>灵动交通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263C404-2369-4117-A435-43909D112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14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SUN YAT-SEN UNIVERSITY  ·  数智交通团队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A400E0C-90C4-4368-B52D-6140AA17A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04850"/>
            <a:ext cx="1066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B588C0D-6D2D-4F90-B719-42527D590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819150"/>
            <a:ext cx="2457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51126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21CE35A-7094-4C6F-B592-CECEE9861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7907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0C41B32-EA3E-452C-BF07-036A8199F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BF2BC19-C284-4D42-8B61-BBE250A4F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28675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  仿真环境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4CB0141-891F-4FD0-9484-219F4C22D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866775"/>
            <a:ext cx="752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20路口仿真环境：从资料到可运行场景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8831608-BF32-4824-939B-49D0D7E9F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285875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0000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54CA147-C5C9-4681-90C8-96433A913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095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66882DD-0ED8-480E-8C16-4C061021B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00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4256179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63F514-92C9-4136-9A53-FF65C1108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1D757F-44BF-4E44-BFB3-32544B68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05 / AI CORE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2B7BD5-F69B-4266-BF5E-385687ABB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STGCN与MAPPO：预测负责看远，控制负责行动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F4FE04-3BD0-4497-8B5D-975CA7595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C7084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DDC341-2965-4C33-B54A-0C17232A9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7625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7EB3AB-FFE0-4A4D-BFC1-7FD601532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762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4CB238-F460-437B-B1EB-194426FE2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81200"/>
            <a:ext cx="441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STGCN / 预测模块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123784-0DDE-43D9-A874-2B1675158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33625"/>
            <a:ext cx="44196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输入：每条边的历史流量窗口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输出：下一时步边流量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用途：为区域和路口控制提供短时需求信息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兜底：EWMA平滑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C3AFEC-2603-45E8-BDAB-DFC917C3C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809750"/>
            <a:ext cx="47625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0DC68B-10A3-4FE3-90FD-B6BB02D2F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809750"/>
            <a:ext cx="4762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B7B36B-4E4C-4249-9A58-27CEF6C15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981200"/>
            <a:ext cx="441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MAPPO / 控制模块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FEF051-3445-4754-8314-2B4B3FA05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333625"/>
            <a:ext cx="44196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输入：路口状态、排队、速度、邻居协调度等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动作：KEEP / ADVANCE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频率：每5秒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安全：真实黄灯、红灯和清空流程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A33598-57C8-4C9E-B85D-75EFB11E9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2095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E09B2A-0D0D-42FF-BD59-90CD0A12D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8384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预测结果进入观测与策略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7EECC0-3370-4D77-BB11-1D4E6DAC6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28E2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28E2B"/>
                </a:solidFill>
                <a:latin typeface="Arial"/>
                <a:ea typeface="Arial"/>
                <a:cs typeface="Arial"/>
              </a:rPr>
              <a:t>答辩证据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185723-ED4D-4D54-96B8-A55EFFDA4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输入字段 · lookback窗口 · 预测指标 · 预测结果进入Cloud/Edge的日志 · 关闭预测模块后的消融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92C3D5-53C0-431F-B24C-90B60D977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D9534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9534F"/>
                </a:solidFill>
                <a:latin typeface="Arial"/>
                <a:ea typeface="Arial"/>
                <a:cs typeface="Arial"/>
              </a:rPr>
              <a:t>若消融和预测指标尚未完成，正文只表述为“预测模块接入架构”，不要把预测增益写成已验证结论。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D01618-BF99-4672-AE9A-4D49308DA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7084"/>
                </a:solidFill>
                <a:latin typeface="Arial"/>
                <a:ea typeface="Arial"/>
                <a:cs typeface="Arial"/>
              </a:rPr>
              <a:t>灵动交通可视化平台 · XH-202613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8EB32F-631F-4C33-A4B7-E630D1B30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B5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A748FE-C02A-4820-99D5-5C025FE45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BE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C95671-08A8-43A0-8C93-219FA4D5F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143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9D9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B9D9FF"/>
                </a:solidFill>
                <a:latin typeface="Arial"/>
                <a:ea typeface="Arial"/>
                <a:cs typeface="Arial"/>
              </a:rPr>
              <a:t>灵动交通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7969A5-4443-4F40-944A-522DA1633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14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SUN YAT-SEN UNIVERSITY  ·  数智交通团队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FEF2F7-C50C-4C3E-B1D9-C3E5FB3CB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04850"/>
            <a:ext cx="1066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063714-FA40-413D-B9B9-473559916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819150"/>
            <a:ext cx="2457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51126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6B3020-0398-40CB-944E-B5803FEE6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7907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E9A189-22A1-40ED-9FBD-E28099257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5A1277-ABA7-4CE8-A20C-746D3399F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28675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3  AI核心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980B74-43C0-486D-B79A-EE12CA337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866775"/>
            <a:ext cx="752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STGCN与MAPPO：预测负责看远，控制负责行动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37EEF0-1521-49CD-8DD5-0FE7AB5B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285875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0000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8660B7-0B82-4459-8F0D-5D5A965C5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095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FEA0FD0-37E6-4D34-B3EB-59C0C9678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00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052953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F7CAB4-195D-4D1A-97D5-0BCABD4EC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B53B8D-06FA-4F09-AAF9-7F33AD026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06 / MODEL LIFECYCLE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A78840-2DB3-4CE9-B730-CA33F108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数据处理、训练与模型选择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C649D8-CC4C-4943-9865-137AF455D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C7084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B9B7D5-B097-4582-9BD6-4C70D5961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190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D8A067-D007-49BD-9B1E-1654A3B5E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190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A477E2-5BFD-4859-9F44-8C26925B2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数据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16E207-CF5B-44B2-A728-35CE0DF8F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1809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交通状态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路网与流量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特征/标签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train / val / test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4E2977-192C-4BFB-AAF2-9DC751EE0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8956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31CE77-7198-4638-B769-C1A492AB4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95500"/>
            <a:ext cx="2190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F22162-1C73-42EC-AE8A-03EAE12AB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95500"/>
            <a:ext cx="2190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2EA179-D642-4DF3-945B-3F514FC7A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362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训练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70E4A4-CA8E-4F52-B597-5BAC2D4B1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800350"/>
            <a:ext cx="1809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MAPPO CTDE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8轮×4000步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PPO + GAE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固定随机种子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9AC081-4939-4AF7-A00D-8885D00F0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8956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15CFA2-879B-4068-BD79-435FA9455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095500"/>
            <a:ext cx="2190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0E20B9-821E-48B7-8AB6-977E5086E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095500"/>
            <a:ext cx="2190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D8156F-69CB-4ACE-A685-91A7D05DF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362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选择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99B6DF-E709-4D74-A775-321FB9B17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00350"/>
            <a:ext cx="1809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跨路网泛化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未参与训练的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9/25路口grid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13路口spider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0DF345-BA44-400B-AE96-A2250CED8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8956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C93773-F7B7-4870-9D5A-D5BF05192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95500"/>
            <a:ext cx="2190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B56FD4-83C3-4420-A4E6-8E2A54CD4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95500"/>
            <a:ext cx="2190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CC7408-8049-4239-B363-8910C69BC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62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证据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5293F7-0877-4E3B-8431-7686F4431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00350"/>
            <a:ext cx="1809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脚本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配置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训练曲线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最终权重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8C85C4-B3C2-40BC-A8FC-820FE0BC0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D9534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9534F"/>
                </a:solidFill>
                <a:latin typeface="Arial"/>
                <a:ea typeface="Arial"/>
                <a:cs typeface="Arial"/>
              </a:rPr>
              <a:t>最终接口必须统一：以最终权重和推理代码为准，消除18维与31维观测口径冲突。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5488D7-F228-44BB-A9CE-9330055EB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09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F108CF-F1C6-4F29-BDBA-46224320D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43550"/>
            <a:ext cx="9601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现场可打开：训练配置 · seed · loss曲线 · 权重文件 · 模型选择理由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04234C-1C5C-4F5B-8035-96A9770C5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7084"/>
                </a:solidFill>
                <a:latin typeface="Arial"/>
                <a:ea typeface="Arial"/>
                <a:cs typeface="Arial"/>
              </a:rPr>
              <a:t>灵动交通可视化平台 · XH-202613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9AE42E-B3B4-495F-90F1-54D73744A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B5E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89C1CD-01A8-4049-8B06-D9073A3AB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BE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6A8E91F-7FCE-4544-B0BA-CE4666066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143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9D9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B9D9FF"/>
                </a:solidFill>
                <a:latin typeface="Arial"/>
                <a:ea typeface="Arial"/>
                <a:cs typeface="Arial"/>
              </a:rPr>
              <a:t>灵动交通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816808-D2BF-487C-B746-290E67019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14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SUN YAT-SEN UNIVERSITY  ·  数智交通团队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E52D6F-F15D-4226-BE34-FBEFD0C1A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04850"/>
            <a:ext cx="1066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CA4B331-2E4B-4E62-8195-B1EBEBE86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819150"/>
            <a:ext cx="2457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51126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5FF0EC7-D109-462F-9702-0A3F05792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7907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21A85F5-4733-42CE-A572-8391BE67F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6678A1F-4118-4CAC-B70C-D4A24D718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28675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3  AI核心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47E0A0D-089B-4C5B-B80E-382447DA3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866775"/>
            <a:ext cx="752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数据处理、训练与模型选择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D3A0D53-5BC2-413C-8F60-E9353EDA0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285875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0000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06D6A43-1C05-43B1-AF5C-590E93DF7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095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5039B50-BBBA-4ADA-B62C-A34CF5D3D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00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365152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541A84-13E5-4CF7-AC88-B1E9EE82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D8A80D-AFF5-409E-BBD0-B748A178D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07 / DEPLOYMENT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09CF24-14D7-4543-999B-D7495C133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模型转换与CPU部署形态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7493F7-6738-4C5D-8AA6-CC06A8DA8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C7084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5ACC0E-BB65-44B9-A4D0-C200D8154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轻量化证据成立，但必须说清默认运行与备选部署的边界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5AD7DE-909C-4903-A3BE-A10929BE1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09800"/>
            <a:ext cx="3810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220AE2-DC5B-42EC-A83A-3B3BA30E9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09800"/>
            <a:ext cx="3810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F078E6-FA47-46B3-B993-02C6F729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81250"/>
            <a:ext cx="3467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一致性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E1A632-6EB9-4C9C-9177-DC15A88D0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733675"/>
            <a:ext cx="3467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ONNX FP32动作一致率100%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ONNX INT8动作一致率99.4%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6DA839-5FEF-49F2-8C51-5C4C8FC4C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24250"/>
            <a:ext cx="3810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C18CE3-ED82-4D95-95E1-994F35D36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24250"/>
            <a:ext cx="3810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393FEF-B79E-4ED4-81E1-CAA99F153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95700"/>
            <a:ext cx="3467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边界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EE48F0-0563-4D7C-8973-1D06250BE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48125"/>
            <a:ext cx="3467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平台当前默认加载PyTorch .pt权重。ONNX FP32/INT8是已转换、已验证的CPU部署形态，不等同于当前在线控制全部采用INT8。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EDBF85-E5A7-4405-9F5C-C8A5044E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D9534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534F"/>
                </a:solidFill>
                <a:latin typeface="Arial"/>
                <a:ea typeface="Arial"/>
                <a:cs typeface="Arial"/>
              </a:rPr>
              <a:t>延迟口径必须分开：FP32单次延迟与INT8批量64延迟不绘制为同条件速度对比。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FD63E4-988F-4689-9081-41DE4F898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7084"/>
                </a:solidFill>
                <a:latin typeface="Arial"/>
                <a:ea typeface="Arial"/>
                <a:cs typeface="Arial"/>
              </a:rPr>
              <a:t>灵动交通可视化平台 · XH-202613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B4A774-6D3A-4009-99AD-85D9285D3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B5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ADA464-84BB-401F-98DE-0B5C48618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B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2514DA-EFBC-4D4F-8B84-7D20903C4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143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9D9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B9D9FF"/>
                </a:solidFill>
                <a:latin typeface="Arial"/>
                <a:ea typeface="Arial"/>
                <a:cs typeface="Arial"/>
              </a:rPr>
              <a:t>灵动交通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149A1B-9329-4F9E-9EB9-04833C910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14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SUN YAT-SEN UNIVERSITY  ·  数智交通团队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457EAF-85C8-4178-8FB9-F5DB01F19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04850"/>
            <a:ext cx="1066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ED520D-97B9-4474-9107-72690AA5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819150"/>
            <a:ext cx="2457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51126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1D060D-0C0C-4990-8AA4-9CB3F52B4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7907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677AAD-5B33-4489-9402-C7929B041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BB2E44-1B26-41F2-A96E-E21AAFEEB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28675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3  AI核心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5F4B83-9CB4-4569-A711-0215E7DB6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866775"/>
            <a:ext cx="752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模型转换与CPU部署形态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8B7163-39A5-4622-9E48-249ED694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285875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0000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2F83DA-68E5-45AA-B8EB-7D5ADEBA8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095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0CE0D7-EA89-4330-9F25-20B2FF04D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0000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169FB0-3228-4B8C-95C3-72DABA739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533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A9B8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222DFF-E22C-4573-B486-5BA2A34E2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825" y="2471050"/>
            <a:ext cx="276225" cy="219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BE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9C7C3CF-B832-4C69-8852-4A6D999A3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625" y="22615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5555"/>
                </a:solidFill>
                <a:latin typeface="Arial"/>
                <a:ea typeface="Arial"/>
                <a:cs typeface="Arial"/>
              </a:rPr>
              <a:t>84.7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7175249-C419-4784-9996-A1F04A4A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43450"/>
            <a:ext cx="177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PyTorch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5A945E4-172F-4BB6-8D9C-B08777336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528094"/>
            <a:ext cx="276225" cy="2139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BE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AEDBE5A-C63D-449A-BEF9-7942E3C7B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318544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5555"/>
                </a:solidFill>
                <a:latin typeface="Arial"/>
                <a:ea typeface="Arial"/>
                <a:cs typeface="Arial"/>
              </a:rPr>
              <a:t>82.5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2647F59-8EAB-49F1-A106-EC17FECFE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4750" y="4743450"/>
            <a:ext cx="177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ONNX FP32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25D8DEC-758A-44C4-A8A8-5A7CF62F4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9825" y="4021614"/>
            <a:ext cx="276225" cy="6456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BE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23EC8BB-6A37-4B40-A0A0-61F124C9C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625" y="3812064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5555"/>
                </a:solidFill>
                <a:latin typeface="Arial"/>
                <a:ea typeface="Arial"/>
                <a:cs typeface="Arial"/>
              </a:rPr>
              <a:t>24.9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3368E41-40E1-4DF7-83E4-1DC330EFE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750" y="4743450"/>
            <a:ext cx="177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ONNX INT8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DB72BB9-30A1-4338-B7CB-2CB433732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292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BE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DAB287D-7201-4ADB-95FA-80B89F1E7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91100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模型体积 KB</a:t>
            </a:r>
          </a:p>
        </p:txBody>
      </p:sp>
    </p:spTree>
    <p:extLst>
      <p:ext uri="{BB962C8B-B14F-4D97-AF65-F5344CB8AC3E}">
        <p14:creationId xmlns:p14="http://schemas.microsoft.com/office/powerpoint/2010/main" val="101458878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B3A173-2AF3-40B9-89AD-DC68C0501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64A8B7-9887-4E7B-9819-C3F22BEBC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08 / SAFETY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8AA400-6AE4-44A1-976C-213ADA96C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安全控制与异常降级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6CCEFD-8312-46A8-9ED5-70E4DE862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C7084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270114-7710-45F6-AFD0-75A327EE3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模型出错时，系统仍然保持可控、可解释、可恢复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103E11-9826-4D42-A547-3872D5091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295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F5907D-F21C-4CFB-9923-F1770B5A2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11430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9534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8CF0CF-50A0-4737-AACB-D537C0B8B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990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权重缺失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14B094-9972-44A6-B10B-6778C9183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381250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无法加载MAPPO权重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4CEF38-B2F0-4142-A1F6-0A1BEFB36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3622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D4B9FF-90AD-497D-B1DC-FFA42258C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295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49E3F3-0EEB-429C-8D1F-505301CD2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11430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9534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BF9CC5-CD1E-44C6-B6A3-F288C50AD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52800"/>
            <a:ext cx="990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推理超时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C54B8E-CF56-472B-A963-35EC961E0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352800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超过控制周期预算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13A22E-DDF8-4450-9CEA-262289A1B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3337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D88065-AC18-4F58-A0C3-378857347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295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78F68C-661E-4DEB-8E80-A4F11A772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05300"/>
            <a:ext cx="11430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28E2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0929E3-687A-4C4C-88F2-B1C7C213F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24350"/>
            <a:ext cx="990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非法动作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D2AA46-5275-4C99-9D57-1BAB7897C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324350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越过相位安全约束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16C7BD-4E9F-4766-90B3-517F29DF0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3053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B7BEBB-8DDF-4A07-9B95-C6F441CB5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6350"/>
            <a:ext cx="295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B93B58-AB85-4989-8B17-3C849E02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76850"/>
            <a:ext cx="11430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28E2B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C6FBAA-D0E4-4BC2-B6ED-513C8A967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95900"/>
            <a:ext cx="990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通信异常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58D15B-ED00-40AC-AA1B-53458EAFF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295900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云边消息中断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105086-B31B-458C-9E5D-1A5FCAE6E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2768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2601E5-4820-4D83-913D-546E81C9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71700"/>
            <a:ext cx="5334000" cy="3600450"/>
          </a:xfrm>
          <a:prstGeom xmlns:a="http://schemas.openxmlformats.org/drawingml/2006/main" prst="roundRect">
            <a:avLst>
              <a:gd name="adj" fmla="val 2116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E2B60D-C2F6-4D5A-8233-AAC640B95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4574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BDEFF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DEFF0"/>
                </a:solidFill>
                <a:latin typeface="Arial"/>
                <a:ea typeface="Arial"/>
                <a:cs typeface="Arial"/>
              </a:rPr>
              <a:t>三级降级链路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9262A5-56F7-4AF3-9079-A94EB0371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1623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  MAPPO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C492E7-264B-4357-93BF-CAD65E055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9814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BDEFF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DEFF0"/>
                </a:solidFill>
                <a:latin typeface="Arial"/>
                <a:ea typeface="Arial"/>
                <a:cs typeface="Arial"/>
              </a:rPr>
              <a:t>2  SCOOT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977008-0935-40F2-97C4-A7209A3E9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8006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  Fixed-Time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0BD3C3-914C-413F-89EF-D49C6FBF0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95650"/>
            <a:ext cx="180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BDEFF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DEFF0"/>
                </a:solidFill>
                <a:latin typeface="Arial"/>
                <a:ea typeface="Arial"/>
                <a:cs typeface="Arial"/>
              </a:rPr>
              <a:t>每一级都有日志、状态码和恢复条件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9906AF-A554-4E4B-9224-7CCE36345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7084"/>
                </a:solidFill>
                <a:latin typeface="Arial"/>
                <a:ea typeface="Arial"/>
                <a:cs typeface="Arial"/>
              </a:rPr>
              <a:t>灵动交通可视化平台 · XH-202613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8A25B0B-F97A-44EE-B830-F8BFB484C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B5E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2FD90ED-1ACB-4B6A-838A-861DA5F4D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BE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1B7289F-6B27-4FFD-ACEC-7C0B7D5AC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143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9D9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B9D9FF"/>
                </a:solidFill>
                <a:latin typeface="Arial"/>
                <a:ea typeface="Arial"/>
                <a:cs typeface="Arial"/>
              </a:rPr>
              <a:t>灵动交通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37E3640-E8B0-4435-8460-1B4162259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14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SUN YAT-SEN UNIVERSITY  ·  数智交通团队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FE28075-AD7A-43D6-994C-552CC6B3D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04850"/>
            <a:ext cx="1066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7A2ACB7-74BA-4C8F-9EC4-A20133A0F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819150"/>
            <a:ext cx="2457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51126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F28CB36-49D7-43A8-B44C-94FF827C4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7907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ADDE50A-34EA-4B7E-8409-27A0FC3EC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8FC3102-7B1C-4C45-8848-989B14D37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28675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3  安全工程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697E010-7D2A-4384-A328-AA7C31425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866775"/>
            <a:ext cx="752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安全控制与异常降级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2969594-C6E8-4CA0-A3F7-CCB4FBE2B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285875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0000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F9C48A0-271C-433B-9FC1-B10B64B30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095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BA517F4-6AEC-4413-B540-A074CB066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00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66361388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06951F2-828E-4C2E-8994-C3E79E48E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9746FE-4214-426F-8B5D-9DBFC4212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09 /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567D70-74CA-433A-87AD-FD512F90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系统实现与现场运行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6E5151-12C9-4BC7-B8EA-8AE899069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C708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08FA14-D61D-45E1-9D60-1DF8219D9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143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F054E0-58CF-43FA-99A6-D0FBC064F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1EE908-6D21-497F-9585-D9458107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8120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前端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31C1F4-BFEE-4FCE-A9B0-232E1C603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33625"/>
            <a:ext cx="28003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Vue3 + Vite + Canvas + ECharts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路网、车辆、信号、事件和指标实时可视化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B9713F-3EC6-48AE-B6AA-CAA093D44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09750"/>
            <a:ext cx="3143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96B65A-800D-49B6-898A-489BE0C35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0975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D0781F-B403-4CB0-BE70-AF20F89BC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98120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后端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24DC01-788D-4211-A829-776BAC4CC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33625"/>
            <a:ext cx="28003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FastAPI + WebSocket + TraCI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REST / WS接口，仿真控制和报告生成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E98F95-9A41-4293-9930-4D4C2D229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809750"/>
            <a:ext cx="3143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CCD47C-3894-4FB8-AAA5-08436CDE7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80975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6C1918-D77D-4C68-906F-F93C87365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98120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运行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22C08D-933B-421A-81AF-21E5F93F7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333625"/>
            <a:ext cx="28003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SUMO + PyTorch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Docker Compose / Windows一键启动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支持连续运行与资源释放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28C534-F90B-43F3-8FA1-23190AF8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2381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A42FDE-7174-4519-B035-9DA089B10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221677-0941-4752-8D4B-7A652D411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005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B9901D-C4AB-4370-8BD6-B6BF42748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91000"/>
            <a:ext cx="148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双击 start.bat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6BDB88-9CCE-42F1-BD7D-B69C21D89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000500"/>
            <a:ext cx="2381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1A595D-C697-4080-8499-EF5A3C0A4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17195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E5C3F7-6C93-4321-BEE2-9AE326B97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2005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327634-68F3-4702-B01D-FC158B306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191000"/>
            <a:ext cx="148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启动后端与前端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D54129-2F24-4411-B9AE-0F6516552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000500"/>
            <a:ext cx="2381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CF60B5-3AB5-4714-8FA5-C659BB225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7195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28E2B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E9BC2E-A74C-4C15-AEA7-9825B83D5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005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C656FD-173C-403D-86BE-783A6CF3E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191000"/>
            <a:ext cx="148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导入20路口场景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D92E13-782E-4A84-8543-73F1B34A4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000500"/>
            <a:ext cx="2381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32E162-1D60-47A2-9882-0A7EF1037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17195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2E8B57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7D6D38-09AA-466D-9238-32DB32425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2005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AFDEBD-3A36-49A6-BCC7-6A6CF1040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191000"/>
            <a:ext cx="148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运行、对比、导出报告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1AD5DC-FBA4-4FAE-9EAB-96035487A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现场证据：启动时间、连续运行、实时界面、报告导出、停止后释放SUMO/TraCI/端口。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98F9A05-5AB8-48F1-82F6-1D87D0084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7084"/>
                </a:solidFill>
                <a:latin typeface="Arial"/>
                <a:ea typeface="Arial"/>
                <a:cs typeface="Arial"/>
              </a:rPr>
              <a:t>灵动交通可视化平台 · XH-202613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27E1BE0-FCFC-433A-87B5-C72D22C5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B5E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B496423-DC34-45BB-AF9D-D1B1A2F3D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BE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4207154-39C9-4450-82D4-66A7D46C7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143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9D9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B9D9FF"/>
                </a:solidFill>
                <a:latin typeface="Arial"/>
                <a:ea typeface="Arial"/>
                <a:cs typeface="Arial"/>
              </a:rPr>
              <a:t>灵动交通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B4DD448-3EA7-47A8-8ABC-101766B2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14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SUN YAT-SEN UNIVERSITY  ·  数智交通团队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67FE55A-947D-4F5B-93DB-13B302236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04850"/>
            <a:ext cx="1066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C4A3B45-7344-4DE4-836A-EF21F1800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819150"/>
            <a:ext cx="2457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51126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6212741-A07C-4A2A-9A43-32B1C2409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7907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940B00D-7FEC-448D-BFE1-E5503BACC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3162BDA-3B5D-41AF-893F-74CE1D98C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28675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4  系统实现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C50FC5F-5DAC-4CEF-8E7D-534F69312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866775"/>
            <a:ext cx="752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系统实现与现场运行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7E3D6D4-DE93-42D5-ACFD-015DD65C8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285875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0000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89C6B61-669B-45E5-A04B-9C16B49D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095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7AD75CE-8E49-4C46-90F1-FBBD16107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00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0032465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32A8C4-9BFC-4483-9F6A-DABC528A2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7DCA3B-CA26-4178-98B7-51C47E16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10 /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4AB31B-94B8-40FC-8E3C-108F70A26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实验设计与复现条件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4BB8FB-B5D0-4C11-BDC1-BA6DE120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C7084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FD2E35-4C3F-46A1-8947-4C7DC0427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先固定实验条件，再比较控制策略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7EAA53-1642-4B75-8F9F-6584FAD00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4857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15D1F9-F823-4CBA-8EC6-57C476843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代码与模型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62A5B7-787F-4BD3-AAE6-7239C6362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1907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Git commit · 权重版本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D1FBA5-E5B8-4C7D-8DB5-B6405D6EE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4857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1D24FC-DC18-4C79-B2EC-8D26A9295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场景与投放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57756F-8732-4BCD-A071-4D48FA6F9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7813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同路网 · 同车辆投放 · 场景版本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886717-A288-4C21-8139-ADDD7446F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4857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22F586-21E5-4300-8AFE-8C5DAE738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718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随机与时间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A7AB05-3562-4F07-8DD8-C239FAE50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3718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固定seed · warmup 90s · 仿真时长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6094B5-25C6-4A97-9765-C35E81B42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4857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F3AA55-84D9-42A0-9AFC-6D08D8AF4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624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控制与采样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713F49-64C0-41AE-873C-C4EF6081F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9624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控制周期 · 采样窗口 · 统计口径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7ABF5F-7EB0-462B-BAE3-FEF63B78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4857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0AE7E4-B4E2-4BA6-A2D2-BE5B9A5ED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529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指标与数据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EFD591-4878-4D50-A90F-46B87B8C7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5529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到达/完成量 · 旅行时间 · 等待 · P95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A41FF6-00CD-4B81-8DA7-18B0CD3D0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4095750" cy="2819400"/>
          </a:xfrm>
          <a:prstGeom xmlns:a="http://schemas.openxmlformats.org/drawingml/2006/main" prst="roundRect">
            <a:avLst>
              <a:gd name="adj" fmla="val 270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3F4B50-1FDC-4E2A-8BCF-4707C3082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3812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DEFF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DEFF0"/>
                </a:solidFill>
                <a:latin typeface="Arial"/>
                <a:ea typeface="Arial"/>
                <a:cs typeface="Arial"/>
              </a:rPr>
              <a:t>Baseline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5DCD11-2686-4C39-87DB-7D699446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895600"/>
            <a:ext cx="2000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Fixed-Time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SCOOT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MAPPO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1AD03B-F6E3-4BF2-8876-A26BD38C5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3243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BDEFF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EFF0"/>
                </a:solidFill>
                <a:latin typeface="Arial"/>
                <a:ea typeface="Arial"/>
                <a:cs typeface="Arial"/>
              </a:rPr>
              <a:t>同一路网 / 同投放 / 固定seed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C51ADE-0F39-49B9-8ED4-598AB2B4D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D9534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534F"/>
                </a:solidFill>
                <a:latin typeface="Arial"/>
                <a:ea typeface="Arial"/>
                <a:cs typeface="Arial"/>
              </a:rPr>
              <a:t>补充多seed；若尚未完成，明确说明当前限制。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E24B23-665F-421C-BFFF-B17B605E5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7084"/>
                </a:solidFill>
                <a:latin typeface="Arial"/>
                <a:ea typeface="Arial"/>
                <a:cs typeface="Arial"/>
              </a:rPr>
              <a:t>灵动交通可视化平台 · XH-202613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6BA9ED-D9B4-4B69-B0BF-3D1140D17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B5E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1E27CE-6C17-4441-AFDB-9A2112DEB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BE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2C514D-29E9-4748-B7CD-6849F0913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143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9D9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B9D9FF"/>
                </a:solidFill>
                <a:latin typeface="Arial"/>
                <a:ea typeface="Arial"/>
                <a:cs typeface="Arial"/>
              </a:rPr>
              <a:t>灵动交通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4810DD-2628-4095-9CCB-0E16761F9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14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SUN YAT-SEN UNIVERSITY  ·  数智交通团队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4383DD1-DB56-49E8-A4B2-5B35EC330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04850"/>
            <a:ext cx="1066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B79BA22-EA4E-431C-A948-222AF531D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819150"/>
            <a:ext cx="2457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51126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9C64A6A-2C80-4C4E-9C5F-11E82EC88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7907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ECD27E9-7AC4-4DDB-85D3-915C20C10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6263BF1-9E14-44C1-82E2-0187D9543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28675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5  实验验证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65A1DEB-9C4C-4907-9B91-9BD64A835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866775"/>
            <a:ext cx="752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实验设计与复现条件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AE85091-EC14-4149-B5A8-77D9AA0DD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285875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0000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7DBF2E8-9DA2-4F1F-8A21-1B16E23BB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095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E333D0F-A15F-4BC2-8903-CB5DFB2B2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00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99883247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CB9B81-D047-4ABD-9F16-D97E2E024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B95E98-368E-434F-9CB6-6E3E8F42C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11 /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235769-D04D-49A1-A930-804AD031F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标准车流横向对比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DDE7BD-C294-43E4-857B-33AC49183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C7084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A33CC2-CD0F-46D0-8EF2-8860A2DDF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904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不再用“在网车辆”直接等同吞吐，改用可解释指标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DD129B-C466-411E-9A61-1CF7625D4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71700"/>
            <a:ext cx="40005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D8BD7E-CE3E-402D-9F13-5B3262104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71700"/>
            <a:ext cx="4000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FB647B-1F91-44CA-BB2F-209CA4925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43150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结论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D78AE6-73D3-4DA6-B0DF-1D1B866D4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695575"/>
            <a:ext cx="365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固定配时在低负荷下等待较低；SCOOT与MAPPO需要结合场景和多指标判断；单一“在网车辆”不能作为吞吐结论。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085D19-86D7-4185-A656-79C392020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33800"/>
            <a:ext cx="40005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8D6DEA-4263-4E47-9AC7-98B4A8621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33800"/>
            <a:ext cx="4000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6366E8-004D-46DD-9978-F4C257552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905250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下一步补强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7FFBE4-A8AB-4300-BB9A-86D648354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257675"/>
            <a:ext cx="365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主图优先增加完成车辆数、到达车辆数、完成率或单位时间通过量，并同时报告平均旅行时间与P95等待。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4E8243-F868-46ED-AC00-2A68ED290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C7084"/>
                </a:solidFill>
                <a:latin typeface="Arial"/>
                <a:ea typeface="Arial"/>
                <a:cs typeface="Arial"/>
              </a:rPr>
              <a:t>当前已核对数据来自 routes_clean700；最终版本按实验原始数据复算。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AEB76D-4CF1-4FDD-A009-50AA6A9F7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7084"/>
                </a:solidFill>
                <a:latin typeface="Arial"/>
                <a:ea typeface="Arial"/>
                <a:cs typeface="Arial"/>
              </a:rPr>
              <a:t>灵动交通可视化平台 · XH-202613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E5F0CD-13BA-4AFD-86E0-8012E282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B5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7039E4-0BDB-4348-821E-D5C4E70E9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B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929932-079C-4821-9BBA-5971F84F6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143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9D9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B9D9FF"/>
                </a:solidFill>
                <a:latin typeface="Arial"/>
                <a:ea typeface="Arial"/>
                <a:cs typeface="Arial"/>
              </a:rPr>
              <a:t>灵动交通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439041-D913-4BD0-BECC-146A1B38A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14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SUN YAT-SEN UNIVERSITY  ·  数智交通团队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FE8CB5-C260-49DC-AE34-8F4BF40BC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04850"/>
            <a:ext cx="1066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2F6D5C-B808-4241-B276-FE829CC0A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819150"/>
            <a:ext cx="2457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51126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8F8E3B-2D9A-4229-82EE-7F15798AD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7907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F4AAE1-9BD2-4A82-8B9D-30A1B6F42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73D72B-AC38-44B6-B65E-0F65EE6CC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28675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5  实验验证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E56A59-56D9-4D68-8FEB-EE75329EE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866775"/>
            <a:ext cx="752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标准车流横向对比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B1978E-F1CA-4249-A89A-706351C12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285875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0000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10C18F-6579-4E39-8446-8CF792F37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095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106547-FB57-42EC-8D93-5217482F2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0000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2A3F730-BEF3-4587-8A63-ADBD5A6C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523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A9B8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76DFA8F-2CE0-4D53-95C8-F4387AE73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875" y="3769702"/>
            <a:ext cx="276225" cy="8975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0000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6A3E213-7C20-44B0-87C4-0589F1CE0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675" y="3560152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5555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823F166-98CB-4265-AE08-F0E2FEC1D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2725" y="4557031"/>
            <a:ext cx="276225" cy="1102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BE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54D648C-8A69-48FD-8481-471B3BE66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525" y="4347481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5555"/>
                </a:solidFill>
                <a:latin typeface="Arial"/>
                <a:ea typeface="Arial"/>
                <a:cs typeface="Arial"/>
              </a:rPr>
              <a:t>3.07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E2D9590-5198-4B2D-9B32-CBC59393E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174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Fixed-Time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B214669-8D7F-409C-921D-E8726CA28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513135"/>
            <a:ext cx="276225" cy="21541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0000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647D8C8-5A80-49A6-844D-8E1364106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30358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5555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3DDBD90-9D24-4B0C-82CF-B3397CC04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4605858"/>
            <a:ext cx="276225" cy="613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BE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AF8D9A5-94DD-40CC-B3C2-1E0B5BDFC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396308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5555"/>
                </a:solidFill>
                <a:latin typeface="Arial"/>
                <a:ea typeface="Arial"/>
                <a:cs typeface="Arial"/>
              </a:rPr>
              <a:t>1.71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B49D53B-DF0B-476C-9B47-3306AC323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4743450"/>
            <a:ext cx="174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SCOOT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3FD89B3-1CF0-415A-BCA3-1960EA5AA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1375" y="3051663"/>
            <a:ext cx="276225" cy="16155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0000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682BC09-497B-4F0E-947F-C1A9C2FD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5175" y="2842113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5555"/>
                </a:solidFill>
                <a:latin typeface="Arial"/>
                <a:ea typeface="Arial"/>
                <a:cs typeface="Arial"/>
              </a:rPr>
              <a:t>45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FED7079-23F5-4BD4-B1B3-29C78C300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5225" y="4603704"/>
            <a:ext cx="276225" cy="635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BE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7918C34-E84E-4491-845B-AD7B0685A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9025" y="4394154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5555"/>
                </a:solidFill>
                <a:latin typeface="Arial"/>
                <a:ea typeface="Arial"/>
                <a:cs typeface="Arial"/>
              </a:rPr>
              <a:t>1.77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3B92459-1E38-407E-A443-91A14E6FA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2100" y="4743450"/>
            <a:ext cx="174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MAPPO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11143A1-9BCF-4BE3-A8B1-289744434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292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0000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BBFB045-8C51-46F7-A363-E50BE059D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91100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等待 s ↓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7AA9251-8671-4B4E-9A06-ABC235083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0292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BE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9C4E79A-6BE4-4144-82FF-1F9196142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991100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速度 m/s ↑</a:t>
            </a:r>
          </a:p>
        </p:txBody>
      </p:sp>
    </p:spTree>
    <p:extLst>
      <p:ext uri="{BB962C8B-B14F-4D97-AF65-F5344CB8AC3E}">
        <p14:creationId xmlns:p14="http://schemas.microsoft.com/office/powerpoint/2010/main" val="164578620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F6C8B4-E718-43F7-B6CA-C040745B3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FA1156-CBC4-4307-B951-3A9037ECA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12 /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17A078-93A5-4BFF-8514-B757D3545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热点场景与算法边界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915EB1-0B29-4E0B-9291-6186767C5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C7084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B2F52A-40D7-4D04-B027-CD61D6E34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收益集中在临界负荷和空间不均场景，超饱和区受容量锁死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23B75C-CEE0-4425-9C3C-0D85CE85C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1625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84"/>
                </a:solidFill>
                <a:latin typeface="Arial"/>
                <a:ea typeface="Arial"/>
                <a:cs typeface="Arial"/>
              </a:rPr>
              <a:t>车辆投放量（约）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0C2B0F-6F45-476F-B308-889A10F0B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90750"/>
            <a:ext cx="40005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578799-FE1C-4F5D-9192-946BB81B2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90750"/>
            <a:ext cx="4000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914F76-B85B-45DA-9076-6146942B3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62200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临界负荷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F4B585-60AC-4295-8B2C-3F2672F0B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714625"/>
            <a:ext cx="3657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约314辆投放时，到达车辆数8→13，提升62.5%。这是480s实验窗口内的仿真结果。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3695A3-04DE-4A7B-8640-D23D8A551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38550"/>
            <a:ext cx="40005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7583AD-688E-44B1-A9D6-67D90EB0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38550"/>
            <a:ext cx="4000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CF1557-B14C-40FA-9F70-D32FB1A7F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10000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热点区域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DC8560-8EE7-45C1-AFDC-0E9A90EF5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162425"/>
            <a:ext cx="3657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中心35%边为热点，后期平均速度2.4–2.6→3.6–4.1 m/s，提升约50%以上，需注明统计窗口。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550601-93F2-4E88-A740-1D3F030A0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86350"/>
            <a:ext cx="40005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33DEBA-76B4-4E21-A02D-D332A9DC7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86350"/>
            <a:ext cx="4000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34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2DE16F-CBEE-43A0-A312-25EC310AB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257800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边界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DCB1F7-234C-4953-A261-E47EAF8F8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610225"/>
            <a:ext cx="3657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超过网络容量后，任何信号策略都难以继续提升吞吐；不能将仿真收益外推为真实道路普遍收益。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161615-C160-4540-8834-EC03C0201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7084"/>
                </a:solidFill>
                <a:latin typeface="Arial"/>
                <a:ea typeface="Arial"/>
                <a:cs typeface="Arial"/>
              </a:rPr>
              <a:t>灵动交通可视化平台 · XH-202613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07DC41-01F8-4E7D-8691-85330528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B5E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F10E0E-9FAB-41C3-9385-BF6713559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BE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8C77FE-BC7B-4964-BC52-80EA9014B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143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9D9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B9D9FF"/>
                </a:solidFill>
                <a:latin typeface="Arial"/>
                <a:ea typeface="Arial"/>
                <a:cs typeface="Arial"/>
              </a:rPr>
              <a:t>灵动交通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C7639C-4724-480A-84B5-53C10C14B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14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SUN YAT-SEN UNIVERSITY  ·  数智交通团队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93000E-CEEF-43E7-A909-B20F11572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04850"/>
            <a:ext cx="1066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D252E6-471E-4EAC-9EFB-6791C31EB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819150"/>
            <a:ext cx="2457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51126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5B303C-7761-42AA-BE26-E9400273B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7907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ECC261-767D-44F4-8179-3FF7B03FB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183C4F-94AD-4C6E-B1CD-28AE078FB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28675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5  实验验证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81D4B0E-20BB-4AE5-ABA9-0C61AFA47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866775"/>
            <a:ext cx="752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热点场景与算法边界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B3EB297-8B0D-4C43-A2D3-F75AD5DE9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285875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0000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027597D-2A67-4404-91A3-D3C9F7AF1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095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19C5B8E-C819-454D-B1A8-205A36FB0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0000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D0B33BD-49E1-4FCF-8666-CADFB5466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542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A9B8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A2A237F-D213-42E7-8424-FA83A38FB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413" y="4455102"/>
            <a:ext cx="254000" cy="2121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BE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EE1B37F-4F3D-4D3F-A274-154720C68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13" y="4245552"/>
            <a:ext cx="4159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555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9AFA630-88DC-48ED-B609-30D77AA9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8" y="4242955"/>
            <a:ext cx="254000" cy="4242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0000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E83D73A-F6D2-4FDF-9A10-8050D5F05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8" y="4033405"/>
            <a:ext cx="4159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555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41B2BA3-C31A-47B2-BC43-EF1F2BF18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904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117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4ED9540-5146-4605-9770-3E8787F1A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5288" y="4349028"/>
            <a:ext cx="254000" cy="3182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BE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45E8E29-5DA9-41B0-B8EA-570E1D1BC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9088" y="4139478"/>
            <a:ext cx="4159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555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EEDA218-7B6F-4D86-AB85-D05A5AFA3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6913" y="3924733"/>
            <a:ext cx="254000" cy="7425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0000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8238C44-844C-4D68-92B1-37556A869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0713" y="3715183"/>
            <a:ext cx="4159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5555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9E8B561-D405-4DE6-B82B-65565A386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743450"/>
            <a:ext cx="904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198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BD3E7C5-6AF5-439B-87A3-BEC691DFC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0163" y="3818659"/>
            <a:ext cx="254000" cy="8485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BE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3763416-05FB-40BA-A578-1C68D3305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963" y="3609109"/>
            <a:ext cx="4159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5555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64759A2-D038-4177-A072-4BCCA6924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1788" y="3288290"/>
            <a:ext cx="254000" cy="137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0000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BEBE93C-AB86-43DA-9B85-2860C1197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5588" y="3078740"/>
            <a:ext cx="4159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5555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7101D89-24DB-44D5-8156-D5310DE37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743450"/>
            <a:ext cx="904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314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EAEE32F-8B5F-464D-9535-1C1533B74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38" y="3712585"/>
            <a:ext cx="254000" cy="9546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BE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CD839D9-59DF-49DE-AB5F-517F0F573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8838" y="3503035"/>
            <a:ext cx="4159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5555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DACE2A5-8547-4CA0-9D2E-939E2D323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6663" y="3288290"/>
            <a:ext cx="254000" cy="137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0000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129D2B7-EE73-49AD-894D-A1654D7AB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0463" y="3078740"/>
            <a:ext cx="4159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5555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AD2C662-E9EE-4D55-9041-11619225B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4743450"/>
            <a:ext cx="904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402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FE09ED8-C9D4-4B15-A81D-9873EA4D0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9913" y="2651847"/>
            <a:ext cx="254000" cy="20154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BE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36DADA9-5454-4CE0-AC90-4D0737F5A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3713" y="2442297"/>
            <a:ext cx="4159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5555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9D80A31-4BF9-452C-B3ED-491A4B38F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538" y="3500438"/>
            <a:ext cx="254000" cy="1166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0000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5100D8B-4D41-4B85-8C41-555251A54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5338" y="3290888"/>
            <a:ext cx="4159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5555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7DBD1E0-49C9-4EF5-8910-94E8B90D3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43450"/>
            <a:ext cx="904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524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60298C9-D35D-4F55-BFF8-BF032D0C5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788" y="2545773"/>
            <a:ext cx="254000" cy="212147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BE"/>
          </a:solidFill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2D0F57F-8FDB-4689-9F69-9568FA0C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588" y="2336223"/>
            <a:ext cx="4159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5555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DF43CFC-F47E-46B9-B3E2-6B9FCA76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6413" y="3394364"/>
            <a:ext cx="254000" cy="12728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0000"/>
          </a:solidFill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83B2AE7-D685-4571-8B43-430DF0DF4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213" y="3184814"/>
            <a:ext cx="4159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5555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16B246F-D1E4-4FB1-AC36-07A41EFD3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4743450"/>
            <a:ext cx="904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774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5ADD611-7A44-4689-BCDE-4B6472541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292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BE"/>
          </a:solidFill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7644554-2652-4D33-B0FB-854CC8C59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91100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Fixed-Time到达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6DDB5F1-8A5D-486C-8D51-2818FBE64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0292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0000"/>
          </a:solidFill>
          <a:ln xmlns:a="http://schemas.openxmlformats.org/drawingml/2006/main" w="0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58A06F3-596C-4A3F-B6D5-2A60525D9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991100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SCOOT到达</a:t>
            </a:r>
          </a:p>
        </p:txBody>
      </p:sp>
    </p:spTree>
    <p:extLst>
      <p:ext uri="{BB962C8B-B14F-4D97-AF65-F5344CB8AC3E}">
        <p14:creationId xmlns:p14="http://schemas.microsoft.com/office/powerpoint/2010/main" val="1048145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190284-4FC8-4133-8B2C-136E347A7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EB7EBD-FF96-465A-84EA-D4972D2A6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13 / VALUE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FB8229-ED51-4381-935D-5DC9AAFF4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三项可验证创新与推广价值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D30600-CA38-48F9-B2B4-CC9BE22E4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C7084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0C5685-4E21-4A18-B042-C12E1831D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3143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9388B8-E291-4D55-807A-8FC4340E7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76110E-1392-44B3-914F-51A601EE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01  分层协同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C901CA-21EA-4D2F-934E-E4E3888AA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71725"/>
            <a:ext cx="28003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LLM承担区域级态势与工具调度；MAPPO/SCOOT承担路口级实时控制。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D77C57-EB42-4A38-A618-798C46626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47850"/>
            <a:ext cx="3143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41E081-485A-4BF6-83F9-A0B256CB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4785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9CEE0F-EB3D-4F30-AA6B-A87B3B544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1930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02  轻量部署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EE5962-830B-40F3-A1BD-2E066EE95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71725"/>
            <a:ext cx="28003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agnostic观测、ONNX FP32/INT8转换和一致性验证，支持跨路网CPU部署形态。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5E6662-F84A-4239-AF68-67E6F7799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847850"/>
            <a:ext cx="3143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9013B0-1793-48F6-A34D-E90F212AA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84785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7AC9A8-4C14-40F0-905B-90FE979F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01930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03  标准化闭环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139A4C-C9C2-4C5E-B228-EE2FF068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371725"/>
            <a:ext cx="28003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插件接口、OpenAPI、基准测试、自动报告，把算法结果变成可复现的工程证据。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C9FEF5-73B3-4382-98D2-E21904564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1155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7C20AA-1690-41D3-84C8-2FBC910F4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DEFF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DEFF0"/>
                </a:solidFill>
                <a:latin typeface="Arial"/>
                <a:ea typeface="Arial"/>
                <a:cs typeface="Arial"/>
              </a:rPr>
              <a:t>推广价值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A9EE9A-471F-4C99-804D-136851852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5910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可替换算法 · 可复现场景 · 可审计指标 · 可扩展接口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9DF49A-7274-448B-9555-9780CF94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7084"/>
                </a:solidFill>
                <a:latin typeface="Arial"/>
                <a:ea typeface="Arial"/>
                <a:cs typeface="Arial"/>
              </a:rPr>
              <a:t>创新点均以文件、日志、指标或可运行系统为证据，不以功能清单替代验证。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8F0061-C37F-4FBC-AB00-4339FF2ED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7084"/>
                </a:solidFill>
                <a:latin typeface="Arial"/>
                <a:ea typeface="Arial"/>
                <a:cs typeface="Arial"/>
              </a:rPr>
              <a:t>灵动交通可视化平台 · XH-202613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57D07D-E25E-462F-AB18-87BCCEE78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B5E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984B83-25EE-4125-A5F2-03DA96936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BE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6DA070-217F-4D41-BFB3-1DB39ADFF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143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9D9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B9D9FF"/>
                </a:solidFill>
                <a:latin typeface="Arial"/>
                <a:ea typeface="Arial"/>
                <a:cs typeface="Arial"/>
              </a:rPr>
              <a:t>灵动交通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4A9381-DB89-4B87-BA78-7550DCB6B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14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SUN YAT-SEN UNIVERSITY  ·  数智交通团队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0BF95D-FADE-4579-ADF4-6DC748EBF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04850"/>
            <a:ext cx="1066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7B8E2C-83F4-4A64-B0E4-B4DE16371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819150"/>
            <a:ext cx="2457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51126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B932D8-DD58-4632-89A5-19AA503D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7907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2DE5798-E54C-4B0F-BC18-104DEF82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8DC49B-536D-4E52-95C3-5F35FAE93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28675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6  价值总结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D12FCCE-FB03-4E21-B52F-836FA88AC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866775"/>
            <a:ext cx="752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三项可验证创新与推广价值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176FF9E-1C86-4B2C-A0C0-6F6573858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285875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0000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DC7F66C-C663-445F-BBD6-C11A123BF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095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0CB5B4E-B5FD-46C6-8353-52A5D13B5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00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71707304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63F4DE-6AB4-4416-8F05-8109A5A97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1CE356-CBEE-4399-8158-278241443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BDEFF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DEFF0"/>
                </a:solidFill>
                <a:latin typeface="Arial"/>
                <a:ea typeface="Arial"/>
                <a:cs typeface="Arial"/>
              </a:rPr>
              <a:t>14 / CLOSE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03D3CA-802F-4151-95AE-9D44200BE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从仿真场景到轻量化部署，形成完整技术链路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29A941-9076-43DB-9173-EA0BA6EE2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BDEFF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DEFF0"/>
                </a:solidFill>
                <a:latin typeface="Arial"/>
                <a:ea typeface="Arial"/>
                <a:cs typeface="Arial"/>
              </a:rPr>
              <a:t>项目完成了20路口仿真、AI预测与控制、ONNX/int8验证、异常降级和多指标评估。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F45415-D9B9-4FE6-BB61-F43AA9222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2190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9B3533-A967-4DE2-9C9F-684D592B6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9C1E36-6C20-4801-BAB4-AD9D4F70B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05100"/>
            <a:ext cx="185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4D5295-3C87-44BD-A285-0A2CB737D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09925"/>
            <a:ext cx="1857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7084"/>
                </a:solidFill>
                <a:latin typeface="Arial"/>
                <a:ea typeface="Arial"/>
                <a:cs typeface="Arial"/>
              </a:rPr>
              <a:t>信号路口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4C3EAC-50D7-457A-A904-E448F4959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571750"/>
            <a:ext cx="2476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776FA5-1A32-4147-8FCE-2FABFC82F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57175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DC148F-33D0-4E5D-B382-4082E8520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705100"/>
            <a:ext cx="2143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62.5%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831B96-6C61-4CE3-9712-71E8E57D8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209925"/>
            <a:ext cx="2143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7084"/>
                </a:solidFill>
                <a:latin typeface="Arial"/>
                <a:ea typeface="Arial"/>
                <a:cs typeface="Arial"/>
              </a:rPr>
              <a:t>临界负荷到达量提升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02D8A9-D6EB-4744-B8BE-66FC62098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571750"/>
            <a:ext cx="23812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731F59-AE59-4BD2-A15F-30DB8BDC3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57175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A18D67-600D-461C-8119-22B519D28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05100"/>
            <a:ext cx="2047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99.4%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81C275-222F-47AA-9814-4AF9C4F5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209925"/>
            <a:ext cx="2047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7084"/>
                </a:solidFill>
                <a:latin typeface="Arial"/>
                <a:ea typeface="Arial"/>
                <a:cs typeface="Arial"/>
              </a:rPr>
              <a:t>ONNX INT8一致率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241CD0-DA19-4142-B921-EA627938B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2476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6B3B14-E596-4488-952B-62069FD04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4CF66A-A500-4B5B-AF12-B1D8D4A54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705100"/>
            <a:ext cx="2143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50%+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8EBD41-1749-4816-A559-A497A9D7F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209925"/>
            <a:ext cx="2143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7084"/>
                </a:solidFill>
                <a:latin typeface="Arial"/>
                <a:ea typeface="Arial"/>
                <a:cs typeface="Arial"/>
              </a:rPr>
              <a:t>热点窗口速度提升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F4B30B-324F-4795-8292-C3CEA8685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0096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23B58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4CD631-E5C9-47BB-B864-E9A87F995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863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BDEFF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DEFF0"/>
                </a:solidFill>
                <a:latin typeface="Arial"/>
                <a:ea typeface="Arial"/>
                <a:cs typeface="Arial"/>
              </a:rPr>
              <a:t>团队分工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1419B0-40BF-4663-8245-AD4BB61CB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6863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场景与仿真  ·  算法与模型  ·  平台开发  ·  实验评估  ·  演示与交付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48F586-A8D9-48D7-AC58-A56063C57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谢谢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A4C50D-A82C-4516-A48C-9A614B546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9055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BDEFF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DEFF0"/>
                </a:solidFill>
                <a:latin typeface="Arial"/>
                <a:ea typeface="Arial"/>
                <a:cs typeface="Arial"/>
              </a:rPr>
              <a:t>欢迎提问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614DCA-2D52-4F13-AECF-FDCB4C041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B5E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E329F8-6479-43B3-A34B-58285E896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BE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485148-1D63-413F-8904-072F17FE1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143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9D9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B9D9FF"/>
                </a:solidFill>
                <a:latin typeface="Arial"/>
                <a:ea typeface="Arial"/>
                <a:cs typeface="Arial"/>
              </a:rPr>
              <a:t>灵动交通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B600ED-C613-47F9-BBCF-60C32E313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14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SUN YAT-SEN UNIVERSITY  ·  数智交通团队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B7BAF7-9314-46B2-BF28-A090D439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095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E8AD18-8053-42DF-908B-5F97F9D1E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00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0844814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2026-09-10T08:29:43.8770000Z</dcterms:created>
  <dcterms:modified xsi:type="dcterms:W3CDTF">2026-09-10T08:29:43.8770000Z</dcterms:modified>
</coreProperties>
</file>